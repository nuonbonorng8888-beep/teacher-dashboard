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3474720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acher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1148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A3D"/>
                </a:solidFill>
                <a:latin typeface="Khmer OS Muol Light"/>
              </a:defRPr>
            </a:pPr>
            <a:r>
              <a:t>លោកគ្រូ នួន បូណង</a:t>
            </a:r>
          </a:p>
          <a:p>
            <a:pPr algn="ctr"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គ្រូបង្រៀនគណិតវិទ្យា ថ្នាក់ទី ១២</a:t>
            </a:r>
            <a:br/>
            <a:r>
              <a:t>វិទ្យាល័យព្រះយុគន្ធរ</a:t>
            </a:r>
            <a:br/>
            <a:r>
              <a:t>សាលារៀនជំនាន់ថ្មី (NGS)</a:t>
            </a:r>
          </a:p>
        </p:txBody>
      </p:sp>
      <p:pic>
        <p:nvPicPr>
          <p:cNvPr id="6" name="Picture 5" descr="yukunthor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2960"/>
            <a:ext cx="1090379" cy="1097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0" y="82296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Khmer OS Muol Light"/>
              </a:defRPr>
            </a:pPr>
            <a:r>
              <a:t>ព្រះរាជាណាចក្រកម្ពុជា • ជាតិ សាសនា ព្រះមហាក្សត្រ</a:t>
            </a:r>
            <a:br/>
            <a:r>
              <a:t>ក្រសួងអប់រំ យុវជន និងកីឡា</a:t>
            </a:r>
          </a:p>
          <a:p>
            <a:pPr>
              <a:defRPr sz="1300">
                <a:solidFill>
                  <a:srgbClr val="D97706"/>
                </a:solidFill>
                <a:latin typeface="Khmer OS Muol Light"/>
              </a:defRPr>
            </a:pPr>
            <a:r>
              <a:t>វិទ្យាល័យព្រះយុគន្ធរ • សាលារៀនជំនាន់ថ្មី (NGS)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194560"/>
            <a:ext cx="6858000" cy="2926080"/>
          </a:xfrm>
          <a:prstGeom prst="roundRect">
            <a:avLst/>
          </a:prstGeom>
          <a:solidFill>
            <a:srgbClr val="14375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377440"/>
            <a:ext cx="6309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3C5FD"/>
                </a:solidFill>
                <a:latin typeface="Khmer OS Muol Light"/>
              </a:defRPr>
            </a:pPr>
            <a:r>
              <a:t>ជំពូកទី ១ ៖ ចំនួនកុំផ្លិច</a:t>
            </a:r>
          </a:p>
          <a:p>
            <a:pPr>
              <a:defRPr sz="2400" b="1">
                <a:solidFill>
                  <a:srgbClr val="FFFFFF"/>
                </a:solidFill>
                <a:latin typeface="Khmer OS Muol Light"/>
              </a:defRPr>
            </a:pPr>
            <a:r>
              <a:t>មេរៀនទី ១ ៖ ចំនួនកុំផ្លិចទម្រង់ពីជគណិត</a:t>
            </a:r>
          </a:p>
          <a:p>
            <a:pPr>
              <a:defRPr sz="1400">
                <a:solidFill>
                  <a:srgbClr val="CBD5E1"/>
                </a:solidFill>
                <a:latin typeface="Khmer OS Siemreap"/>
              </a:defRPr>
            </a:pPr>
            <a:r>
              <a:t>និយមន័យ • ឯកតានិមិត្ត i • ប្រមាណវិធីគ្រឹះ • ចំនួនកុំផ្លិចឆ្លាស់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30352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Khmer OS Siemreap"/>
              </a:defRPr>
            </a:pPr>
            <a:r>
              <a:t>✨ កិច្ចតែងការ &amp; ស្លាយបង្រៀនស្ដង់ដារ NGS • ឆ្នាំសិក្សា ២០២៦-២០២៧ • រៀបរៀងដោយលោកគ្រូ នួន បូណង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១ ៖ ចំនួនកុំផ្លិចទម្រង់ពីជគណិត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[គោលបំណង]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វត្ថុបំណងនៃមេរៀន (Lesson Objectives)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Khmer OS Siemreap"/>
              </a:defRPr>
            </a:pPr>
            <a:r>
              <a:t>បន្ទាប់ពីសិក្សាមេរៀននេះចប់ សិស្សានុសិស្សនឹងទទួលបានសមត្ថភាពសំខាន់ៗ ៣ យ៉ាង៖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3383280" cy="40233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3383280" cy="640080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Khmer OS Muol Light"/>
              </a:defRPr>
            </a:pPr>
            <a:r>
              <a:t>១. ចំណេះដឹង (Knowledge)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កំណត់និយមន័យឯកតានិមិត្ត i (i² = -1)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ស្គាល់ទម្រង់ពីជគណិត z = a + bi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ស្គាល់ផ្នែកពិត Re(z)=a, ផ្នែកនិមិត្ត Im(z)=b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ស្គាល់ចំនួនកុំផ្លិចឆ្លាស់ z̄ = a - bi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240280"/>
            <a:ext cx="3383280" cy="40233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2240280"/>
            <a:ext cx="3383280" cy="64008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2860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Khmer OS Muol Light"/>
              </a:defRPr>
            </a:pPr>
            <a:r>
              <a:t>២. បំណិន (Skills)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71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គណនាស្វ័យគុណនៃ i (iⁿ) តាមលំនាំសំណល់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ធ្វើប្រមាណវិធីបូក ដក គុណ ចែក ចំនួនកុំផ្លិច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ដោះស្រាយសមីការដឺក្រេទីពីរដែលមានឌីសគ្រីមីណង់អវិជ្ជមាន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កំណត់ចំនួនកុំផ្លិចស្មើគ្នាពីរ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240280"/>
            <a:ext cx="3383280" cy="40233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2240280"/>
            <a:ext cx="3383280" cy="640080"/>
          </a:xfrm>
          <a:prstGeom prst="round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2860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Khmer OS Muol Light"/>
              </a:defRPr>
            </a:pPr>
            <a:r>
              <a:t>៣. ឥរិយាបថ (Attitude)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971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បណ្តុះស្មារតីស្រាវជ្រាវ និងការគិតពិចារណា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យល់ដឹងពីការវិវឌ្ឍនៃសំណុំចំនួនពី ℝ ទៅ ℂ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សហការស្វាហាប់ក្នុងការពិភាក្សាជាក្រុម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១ ៖ ចំនួនកុំផ្លិចទម្រង់ពីជគណិត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[មូលដ្ឋានគ្រឹះ]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រំឭកមេរៀនចាស់ &amp; គំនិតគ្រឹះ (Prerequisite Knowledge)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3383279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3383279" cy="59436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3383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សំណុំចំនួន (Number Sets)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3017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ℕ ⊂ ℤ ⊂ ℚ ⊂ ℝ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សមីការ x² - 4 = 0 មានឫស x = ±2 ∈ ℝ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សមីការ x² + 1 = 0 គ្មានឫសក្នុង ℝ!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ការពង្រីកសំណុំចំនួនបង្កើតបានជា 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94560"/>
            <a:ext cx="3383279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2194560"/>
            <a:ext cx="3383279" cy="59436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240280"/>
            <a:ext cx="3383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សមភាព និងកត្តាគ្រឹះ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880360"/>
            <a:ext cx="3017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(A + B)² = A² + 2AB + B²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(A - B)² = A² - 2AB + B²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(A + B)(A - B) = A² - B²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a/b = (a·c)/(b·c) (c ≠ 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2194560"/>
            <a:ext cx="3383279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0" y="2194560"/>
            <a:ext cx="3383279" cy="59436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240280"/>
            <a:ext cx="3383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ការដោះស្រាយសមីការដឺក្រេទី 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880360"/>
            <a:ext cx="3017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ax² + bx + c = 0 (a ≠ 0)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ឌីសគ្រីមីណង់ Δ = b² - 4ac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បើ Δ &gt; 0 : មានឫសពិតពីរផ្សេងគ្នា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បើ Δ = 0 : មានឫសឌុប x = -b/(2a)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បើ Δ &lt; 0 : គ្មានឫសពិត តែមានឫសក្នុង ℂ!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១ ៖ ចំនួនកុំផ្លិចទម្រង់ពីជគណិត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[និយមន័យ &amp; ទម្រង់]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ឯកតានិមិត្ត i និងទម្រង់ពីជគណិត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62179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852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១. ឯកតានិមិត្ត (Imaginary Unit)៖ គឺចំនួន i ដែល i² = -1 (ឬ i = √-1)។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២. លំនាំស្វ័យគុណនៃ i៖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i¹ = i , i² = -1 , i³ = -i , i⁴ = 1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ជាទូទៅ i⁴ᵏ⁺ʳ = iʳ ដែល r ∈ {0, 1, 2, 3}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៣. ទម្រង់ពីជគណិត (Algebraic Form)៖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z = a + bi (a, b ∈ ℝ)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a ហៅថា ផ្នែកពិត (Real Part), តាង Re(z) = a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b ហៅថា ផ្នែកនិមិត្ត (Imaginary Part), តាង Im(z) = b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បើ b = 0 នោះ z = a ជាចំនួនពិតសុទ្ធ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បើ a = 0, b ≠ 0 នោះ z = bi ជាចំនួននិមិត្តសុទ្ធ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103120"/>
            <a:ext cx="4206240" cy="429768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0" y="2103120"/>
            <a:ext cx="420624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14884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📌 រូបមន្តគន្លឹះ និងចំណាំសំខាន់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834640"/>
            <a:ext cx="3840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i² = -1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i⁴ᵏ⁺ʳ = iʳ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z = a + bi  (a, b ∈ ℝ)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a + bi = c + di ⇔ a=c និង b=d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១ ៖ ចំនួនកុំផ្លិចទម្រង់ពីជគណិត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[លំហាត់គំរូ]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ឧទាហរណ៍ទី ១ ៖ គណនាស្វ័យគុណ និងប្រមាណវិធីបូក-គុណ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0058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F5174"/>
                </a:solidFill>
                <a:latin typeface="Khmer OS Muol Light"/>
              </a:rPr>
              <a:t>លំហាត់៖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គណនាតម្លៃនៃកន្សោម៖ ក. A = i²⁰²⁶   ខ. B = (3 + 4i) + (2 - 7i)   គ. C = (2 - 3i)(4 + 5i)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73152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6949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E7D4F"/>
                </a:solidFill>
                <a:latin typeface="Khmer OS Muol Light"/>
              </a:defRPr>
            </a:pPr>
            <a:r>
              <a:t>ដំណោះស្រាយលម្អិត៖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ក. គណនា A = i²⁰²⁶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យក ២០២៦ ចែកនឹង ៤ ៖ ២០២៦ = ៤ × ៥០៦ + ២ (សំណល់ ២)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នាំឱ្យ A = i⁴ˣ⁵⁰⁶⁺² = (i⁴)⁵⁰⁶ · i² = (1)⁵⁰⁶ · (-1) = -1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ខ. គណនា B = (3 + 4i) + (2 - 7i)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B = (3 + 2) + (4 - 7)i = 5 - 3i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គ. គណនា C = (2 - 3i)(4 + 5i)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C = 2(4) + 2(5i) - 3i(4) - 3i(5i) = 8 + 10i - 12i - 15i²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ដោយ i² = -1 នាំឱ្យ -15i² = +15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C = (8 + 15) + (10 - 12)i = 23 - 2i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154680"/>
            <a:ext cx="3200400" cy="329184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24612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D97706"/>
                </a:solidFill>
                <a:latin typeface="Khmer OS Muol Light"/>
              </a:defRPr>
            </a:pPr>
            <a:r>
              <a:t>💡 គន្លឹះដោះស្រាយ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ស្វ័យគុណនៃ i គឺអាស្រ័យតែលើសំណល់ចែកនឹង ៤ ប៉ុណ្ណោះ!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ពេលគុណកុំផ្លិច ត្រូវចាំជានិច្ចថា i² ត្រូវជំនួសដោយ -1 (ប្តូរសញ្ញា)។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១ ៖ ចំនួនកុំផ្លិចទម្រង់ពីជគណិត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[ប្រមាណវិធីគ្រឹះ]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ប្រមាណវិធីលើចំនួនកុំផ្លិច និងចំនួនកុំផ្លិចឆ្លាស់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62179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852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១. ប្រមាណវិធីបូក និងដក៖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(a + bi) ± (c + di) = (a ± c) + (b ± d)i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២. ប្រមាណវិធីគុណ៖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(a + bi)(c + di) = (ac - bd) + (ad + bc)i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៣. ចំនួនកុំផ្លិចឆ្លាស់ (Conjugate)៖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ចំនួនកុំផ្លិចឆ្លាស់នៃ z = a + bi គឺ z̄ = a - bi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លក្ខណៈសំខាន់៖ z · z̄ = (a + bi)(a - bi) = a² + b² ≥ 0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៤. ប្រមាណវិធីចែក៖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គុណភាគយក និងភាគបែងនឹងកុំផ្លិចឆ្លាស់នៃភាគបែង៖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(a + bi)/(c + di) = [(a + bi)(c - di)] / (c² + d²)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103120"/>
            <a:ext cx="4206240" cy="429768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0" y="2103120"/>
            <a:ext cx="420624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14884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📌 រូបមន្តគន្លឹះ និងចំណាំសំខាន់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834640"/>
            <a:ext cx="3840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(a+bi) + (c+di) = (a+c) + (b+d)i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(a+bi)(c+di) = (ac-bd) + (ad+bc)i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z̄ = a - bi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z · z̄ = a² + b²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z + z̄ = 2a , z - z̄ = 2bi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១ ៖ ចំនួនកុំផ្លិចទម្រង់ពីជគណិត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[លំហាត់គំរូ]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ឧទាហរណ៍ទី ២ ៖ ប្រមាណវិធីចែក និងសមីការដឺក្រេទី 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0058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F5174"/>
                </a:solidFill>
                <a:latin typeface="Khmer OS Muol Light"/>
              </a:rPr>
              <a:t>លំហាត់៖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ក. សរសេរកន្សោម Z = (3 + 2i)/(1 - 2i) ជាទម្រង់ពីជគណិត a + bi
ខ. ដោះស្រាយសមីការ z² - 4z + 13 = 0 ក្នុងសំណុំ 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73152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6949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E7D4F"/>
                </a:solidFill>
                <a:latin typeface="Khmer OS Muol Light"/>
              </a:defRPr>
            </a:pPr>
            <a:r>
              <a:t>ដំណោះស្រាយលម្អិត៖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ក. គណនា Z = (3 + 2i)/(1 - 2i)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គុណភាគយក និងភាគបែងនឹងកុំផ្លិចឆ្លាស់នៃ (1 - 2i) គឺ (1 + 2i)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Z = [(3 + 2i)(1 + 2i)] / [(1 - 2i)(1 + 2i)]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ភាគបែង = 1² + 2² = 1 + 4 = 5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ភាគយក = 3 + 6i + 2i + 4i² = 3 + 8i - 4 = -1 + 8i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នាំឱ្យ Z = (-1 + 8i)/5 = -1/5 + (8/5)i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ខ. ដោះស្រាយសមីការ z² - 4z + 13 = 0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Δ' = b'² - ac = (-2)² - 1(13) = 4 - 13 = -9 &lt; 0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ដោយ -9 = 9i² = (3i)² នាំឱ្យ √Δ' = 3i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ឫសសមីការគឺ z = (-b' ± √Δ')/a = [2 ± 3i]/1 = 2 ± 3i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ដូចនេះ សំណុំចម្លើយ S = {2 - 3i, 2 + 3i}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154680"/>
            <a:ext cx="3200400" cy="329184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24612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D97706"/>
                </a:solidFill>
                <a:latin typeface="Khmer OS Muol Light"/>
              </a:defRPr>
            </a:pPr>
            <a:r>
              <a:t>💡 គន្លឹះដោះស្រាយ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ភាគបែងនៃប្រមាណវិធីចែក (c - di)(c + di) = c² + d² ជានិច្ច!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បើ Δ &lt; 0 នោះ √Δ = i√|Δ| ងាយស្រួល និងរហ័ស។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១ ៖ ចំនួនកុំផ្លិចទម្រង់ពីជគណិត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[ពង្រឹងការយល់ដឹង]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សំណួរពហុជ្រើសរើសទី 1 (MCQ 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C3AED"/>
                </a:solidFill>
                <a:latin typeface="Khmer OS Muol Light"/>
              </a:rPr>
              <a:t>❓ សំណួរទី 1 ៖ </a:t>
            </a:r>
            <a:r>
              <a:rPr sz="1300" b="1">
                <a:solidFill>
                  <a:srgbClr val="0F2A3D"/>
                </a:solidFill>
                <a:latin typeface="Khmer OS Siemreap"/>
              </a:rPr>
              <a:t>តើតម្លៃនៃកន្សោម i²⁰²⁶ + i²⁰²⁴ ស្មើនឹងប៉ុន្មាន?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212080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7D4F"/>
                </a:solidFill>
                <a:latin typeface="Khmer OS Muol Light"/>
              </a:rPr>
              <a:t>(ក)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0</a:t>
            </a:r>
          </a:p>
          <a:p>
            <a:pPr>
              <a:defRPr sz="1000" b="1">
                <a:solidFill>
                  <a:srgbClr val="2E7D4F"/>
                </a:solidFill>
                <a:latin typeface="Khmer OS Siemreap"/>
              </a:defRPr>
            </a:pPr>
            <a:r>
              <a:t>✓ ចម្លើយត្រឹមត្រូវ! (i²⁰²⁶ = i² = -1 និង i²⁰²⁴ = i⁰ = 1 នាំឱ្យ (-1) + 1 = 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3756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(ខ)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(គ)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-2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(ឃ)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2i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💡 សិស្សលើកដៃឆ្លើយ ឬបោះឆ្នោតតាមទូរស័ព្ទ / ក្តារឆ្នួន រួចគ្រូបកស្រាយមូលហេតុលម្អិត។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១ ៖ ចំនួនកុំផ្លិចទម្រង់ពីជគណិត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[ពង្រឹងការយល់ដឹង]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សំណួរពហុជ្រើសរើសទី 2 (MCQ 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C3AED"/>
                </a:solidFill>
                <a:latin typeface="Khmer OS Muol Light"/>
              </a:rPr>
              <a:t>❓ សំណួរទី 2 ៖ </a:t>
            </a:r>
            <a:r>
              <a:rPr sz="1300" b="1">
                <a:solidFill>
                  <a:srgbClr val="0F2A3D"/>
                </a:solidFill>
                <a:latin typeface="Khmer OS Siemreap"/>
              </a:rPr>
              <a:t>ចំនួនកុំផ្លិចឆ្លាស់នៃ z = (2 - 3i)² គឺ៖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212080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7D4F"/>
                </a:solidFill>
                <a:latin typeface="Khmer OS Muol Light"/>
              </a:rPr>
              <a:t>(ក)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-5 + 12i</a:t>
            </a:r>
          </a:p>
          <a:p>
            <a:pPr>
              <a:defRPr sz="1000" b="1">
                <a:solidFill>
                  <a:srgbClr val="2E7D4F"/>
                </a:solidFill>
                <a:latin typeface="Khmer OS Siemreap"/>
              </a:defRPr>
            </a:pPr>
            <a:r>
              <a:t>✓ ចម្លើយត្រឹមត្រូវ! (z = 4 - 12i + 9i² = -5 - 12i នាំឱ្យ z̄ = -5 + 12i)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3756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(ខ)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-5 - 12i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(គ)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5 + 12i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(ឃ)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13 - 12i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💡 សិស្សលើកដៃឆ្លើយ ឬបោះឆ្នោតតាមទូរស័ព្ទ / ក្តារឆ្នួន រួចគ្រូបកស្រាយមូលហេតុលម្អិត។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១ ៖ ចំនួនកុំផ្លិចទម្រង់ពីជគណិត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[ពង្រឹងការយល់ដឹង]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សំណួរពហុជ្រើសរើសទី 3 (MCQ 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C3AED"/>
                </a:solidFill>
                <a:latin typeface="Khmer OS Muol Light"/>
              </a:rPr>
              <a:t>❓ សំណួរទី 3 ៖ </a:t>
            </a:r>
            <a:r>
              <a:rPr sz="1300" b="1">
                <a:solidFill>
                  <a:srgbClr val="0F2A3D"/>
                </a:solidFill>
                <a:latin typeface="Khmer OS Siemreap"/>
              </a:rPr>
              <a:t>រកគូរនៃចំនួនពិត (x, y) ដែលផ្ទៀងផ្ទាត់ (2x - 1) + (3y + 2)i = 5 - 4i 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212080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7D4F"/>
                </a:solidFill>
                <a:latin typeface="Khmer OS Muol Light"/>
              </a:rPr>
              <a:t>(ក)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(3, -2)</a:t>
            </a:r>
          </a:p>
          <a:p>
            <a:pPr>
              <a:defRPr sz="1000" b="1">
                <a:solidFill>
                  <a:srgbClr val="2E7D4F"/>
                </a:solidFill>
                <a:latin typeface="Khmer OS Siemreap"/>
              </a:defRPr>
            </a:pPr>
            <a:r>
              <a:t>✓ ចម្លើយត្រឹមត្រូវ! (2x - 1 = 5 ⇒ 2x = 6 ⇒ x = 3 ; 3y + 2 = -4 ⇒ 3y = -6 ⇒ y = -2)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3756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(ខ)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(2, -2)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(គ)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(3, 2)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(ឃ)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(2, 2)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💡 សិស្សលើកដៃឆ្លើយ ឬបោះឆ្នោតតាមទូរស័ព្ទ / ក្តារឆ្នួន រួចគ្រូបកស្រាយមូលហេតុលម្អិត។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១ ៖ ចំនួនកុំផ្លិចទម្រង់ពីជគណិត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[អនុវត្តជាក់ស្តែង]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សន្លឹកកិច្ចការសិស្ស &amp; ការពិភាក្សាជាក្រុម (Student Worksheet)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64008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Khmer OS Siemreap"/>
              </a:defRPr>
            </a:pPr>
            <a:r>
              <a:t>⏱️ រយៈពេលពិភាក្សា៖ ១០ នាទី • ពិន្ទុអតិបរមា៖ ១០ ពិន្ទុ • សមាជិកក្នុងក្រុមសហការដោះស្រាយ និងឡើងធ្វើបទបង្ហាញ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338328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338328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👥 ក្រុមទី ១ (កម្រិតមូលដ្ឋាន)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1. គណនា A = (4 - 5i) - (2 - 8i)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2. សរសេរ B = (1 + 2i)³ ជាទម្រង់ a + bi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3. រកចំនួនកុំផ្លិចឆ្លាស់នៃ C = 7/(3 - 4i)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788920"/>
            <a:ext cx="338328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2788920"/>
            <a:ext cx="3383280" cy="594360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83464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👥 ក្រុមទី ២ (កម្រិតមធ្យម)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474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1. ដោះស្រាយសមីការ z² + 2z + 5 = 0 ក្នុង ℂ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2. រកចំនួនកុំផ្លិច z ដែល 2z + 3z̄ = 10 - 2i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3. គណនា D = i + i² + i³ + ... + i¹⁰⁰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788920"/>
            <a:ext cx="338328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2788920"/>
            <a:ext cx="3383280" cy="594360"/>
          </a:xfrm>
          <a:prstGeom prst="round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83464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👥 ក្រុមទី ៣ (កម្រិតខ្ពស់)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474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1. ស្រាយបញ្ជាក់ថា z + z̄ ជាចំនួនពិត និង z - z̄ ជាចំនួននិមិត្តសុទ្ធ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2. ដោះស្រាយប្រព័ន្ធសមីការ { z₁ + z₂ = 4 , z₁ · z₂ = 8 }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3. គណនាតម្លៃនៃ E = [(1 + i)/(1 - i)]²⁰²⁶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១ ៖ ចំនួនកុំផ្លិចទម្រង់ពីជគណិត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[សង្ខេបមេរៀន]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សេចក្តីសង្ខេប &amp; តារាងរូបមន្តគន្លឹះ (Summary Cheat Sheet)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011680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4114800"/>
                <a:gridCol w="2468880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ល.រ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ទម្រង់ / ចំណងជើង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រូបមន្តគន្លឹះ / លក្ខណៈ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ចំណាំ / អត្ថន័យ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ឯកតានិមិត្ត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i² = -1 , i⁴ᵏ⁺ʳ = iʳ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កម្លាំងគ្រឹះក្នុងសំណុំ 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ទម្រង់ពីជគណិត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z = a + bi (a, b ∈ 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Re(z)=a , Im(z)=b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សមភាពពីរ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a + bi = c + di ⇔ a=c , b=d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ផ្នែកពិតស្មើពិត និមិត្តស្មើនិមិត្ត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កុំផ្លិចឆ្លាស់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z̄ = a - bi , z·z̄ = a² + b²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ផលគុណចេញជាចំនួនពិត ≥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ប្រមាណវិធីចែក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z₁/z₂ = (z₁ · z̄₂)/(|z₂|²)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គុណភាគបែងនឹងឆ្លាស់របស់វា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១ ៖ ចំនួនកុំផ្លិចទម្រង់ពីជគណិត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[កិច្ចការបន្ត]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កិច្ចការផ្ទះ &amp; សូមអរគុណ! (Homework &amp; Closing)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5486400" cy="42976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97706"/>
                </a:solidFill>
                <a:latin typeface="Khmer OS Muol Light"/>
              </a:defRPr>
            </a:pPr>
            <a:r>
              <a:t>📚 កិច្ចការផ្ទះត្រូវអនុវត្ត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• ធ្វើលំហាត់ក្នុងសៀវភៅពុម្ពគណិតវិទ្យា ថ្នាក់ទី ១២ ទំព័រទី ១៤២ លំហាត់លេខ ១, ២, ៣ និង ៤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• ស្រាវជ្រាវបន្ថែម៖ របៀបតាងចំនួនកុំផ្លិចក្នុងប្លង់កូអរដោនេ (Argand Diagram)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• បញ្ចូលកិច្ចការតាមរយៈ Google Classroom ឬ NGS LMS មុនថ្ងៃបង្រៀនបន្ទាប់</a:t>
            </a:r>
          </a:p>
          <a:p>
            <a:pPr>
              <a:spcBef>
                <a:spcPts val="800"/>
              </a:spcBef>
              <a:defRPr sz="1200" b="1">
                <a:solidFill>
                  <a:srgbClr val="C0272D"/>
                </a:solidFill>
                <a:latin typeface="Khmer OS Siemreap"/>
              </a:defRPr>
            </a:pPr>
            <a:r>
              <a:t>⏰ កាលបរិច្ឆេទប្រគល់៖ ម៉ោងសិក្សាបន្ទាប់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103120"/>
            <a:ext cx="4846320" cy="4297680"/>
          </a:xfrm>
          <a:prstGeom prst="roundRect">
            <a:avLst/>
          </a:prstGeom>
          <a:solidFill>
            <a:srgbClr val="0F2A3D"/>
          </a:solidFill>
          <a:ln w="2540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eacher-profi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377440"/>
            <a:ext cx="1645920" cy="1645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6560" y="420624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Khmer OS Muol Light"/>
              </a:defRPr>
            </a:pPr>
            <a:r>
              <a:t>សូមអរគុណសម្រាប់ការយកចិត្តទុកដាក់!</a:t>
            </a:r>
          </a:p>
          <a:p>
            <a:pPr algn="ctr"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លោកគ្រូ នួន បូណង • វិទ្យាល័យព្រះយុគន្ធរ NGS</a:t>
            </a:r>
            <a:br/>
            <a:r>
              <a:t>មុខវិជ្ជា៖ គណិតវិទ្យា ថ្នាក់ទី ១២</a:t>
            </a:r>
            <a:br/>
            <a:r>
              <a:t>Telegram Channel: @MathNGS_Yukunthor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