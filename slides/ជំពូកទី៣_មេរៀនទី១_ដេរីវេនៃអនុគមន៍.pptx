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474720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ch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A3D"/>
                </a:solidFill>
                <a:latin typeface="Khmer OS Muol Light"/>
              </a:defRPr>
            </a:pPr>
            <a:r>
              <a:t>លោកគ្រូ នួន បូណង</a:t>
            </a:r>
          </a:p>
          <a:p>
            <a:pPr algn="ctr"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គ្រូបង្រៀនគណិតវិទ្យា ថ្នាក់ទី ១២</a:t>
            </a:r>
            <a:br/>
            <a:r>
              <a:t>វិទ្យាល័យព្រះយុគន្ធរ</a:t>
            </a:r>
            <a:br/>
            <a:r>
              <a:t>សាលារៀនជំនាន់ថ្មី (NGS)</a:t>
            </a:r>
          </a:p>
        </p:txBody>
      </p:sp>
      <p:pic>
        <p:nvPicPr>
          <p:cNvPr id="6" name="Picture 5" descr="yukuntho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1090379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8229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Khmer OS Muol Light"/>
              </a:defRPr>
            </a:pPr>
            <a:r>
              <a:t>ព្រះរាជាណាចក្រកម្ពុជា • ជាតិ សាសនា ព្រះមហាក្សត្រ</a:t>
            </a:r>
            <a:br/>
            <a:r>
              <a:t>ក្រសួងអប់រំ យុវជន និងកីឡា</a:t>
            </a:r>
          </a:p>
          <a:p>
            <a:pPr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វិទ្យាល័យព្រះយុគន្ធរ • សាលារៀនជំនាន់ថ្មី (NGS)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6858000" cy="2926080"/>
          </a:xfrm>
          <a:prstGeom prst="roundRect">
            <a:avLst/>
          </a:prstGeom>
          <a:solidFill>
            <a:srgbClr val="14375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6309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3C5FD"/>
                </a:solidFill>
                <a:latin typeface="Khmer OS Muol Light"/>
              </a:defRPr>
            </a:pPr>
            <a:r>
              <a:t>ជំពូកទី ៣ ៖ ដេរីវេនៃអនុគមន៍</a:t>
            </a:r>
          </a:p>
          <a:p>
            <a:pPr>
              <a:defRPr sz="2400" b="1">
                <a:solidFill>
                  <a:srgbClr val="FFFFFF"/>
                </a:solidFill>
                <a:latin typeface="Khmer OS Muol Light"/>
              </a:defRPr>
            </a:pPr>
            <a:r>
              <a:t>មេរៀនទី ១ ៖ ដេរីវេនៃអនុគមន៍</a:t>
            </a:r>
          </a:p>
          <a:p>
            <a:pPr>
              <a:defRPr sz="1400">
                <a:solidFill>
                  <a:srgbClr val="CBD5E1"/>
                </a:solidFill>
                <a:latin typeface="Khmer OS Siemreap"/>
              </a:defRPr>
            </a:pPr>
            <a:r>
              <a:t>និយមន័យដេរីវេ • រូបមន្តគ្រឹះ • ប្រមាណវិធីដេរីវេ • អនុគមន៍បណ្តាក់ (Chain Rule)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035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Khmer OS Siemreap"/>
              </a:defRPr>
            </a:pPr>
            <a:r>
              <a:t>✨ កិច្ចតែងការ &amp; ស្លាយបង្រៀនស្ដង់ដារ NGS • ឆ្នាំសិក្សា ២០២៦-២០២៧ • រៀបរៀងដោយលោកគ្រូ នួន បូណង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[គោលបំណង]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វត្ថុបំណងនៃមេរៀន (Lesson Objectives)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Khmer OS Siemreap"/>
              </a:defRPr>
            </a:pPr>
            <a:r>
              <a:t>បន្ទាប់ពីសិក្សាមេរៀននេះចប់ សិស្សានុសិស្សនឹងទទួលបានសមត្ថភាពសំខាន់ៗ ៣ យ៉ាង៖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3383280" cy="64008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១. ចំណេះដឹង (Knowledge)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កំណត់និយមន័យដេរីវេតាមលីមីត f'(x₀) = lim_{Δx→0} Δy/Δx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ចងចាំតារាងរូបមន្តដេរីវេនៃអនុគមន៍ស្វ័យគុណ ពហុធា សនិទាន និងត្រីកោណមាត្រ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យល់ច្បាស់រូបមន្តដេរីវេនៃអនុគមន៍បណ្តាក់ (f(u))' = u' · f'(u)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យល់ដឹងពីអត្ថន័យធរណីមាត្រនៃដេរីវេ (មេគុណប្រាប់ទិសនៃបន្ទាត់ប៉ះ)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240280"/>
            <a:ext cx="33832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២. បំណិន (Skills)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គណនាដេរីវេនៃអនុគមន៍ពហុធា សនិទាន និងរ៉ាឌីកាល់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អនុវត្តច្បាប់ផលគុណ (uv)' និងផលចែក (u/v)' យ៉ាងត្រឹមត្រូវ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គណនាដេរីវេនៃអនុគមន៍បណ្តាក់ (uⁿ)', (√u)', (sin u)', (cos u)'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គណនាដេរីវេត្រង់ចំណុច និងដេរីវេលំដាប់ខ្ពស់ f''(x)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240280"/>
            <a:ext cx="3383280" cy="64008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៣. ឥរិយាបថ (Attitude)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យល់ដឹងពីសារៈសំខាន់នៃដេរីវេក្នុងការវាស់អត្រាបម្រែបម្រួលក្នុងរូបវិទ្យា និងវិស្វកម្ម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មានភាពផ្ចិតផ្ចង់ក្នុងការគណនាសញ្ញា និងការសម្រួលកន្សោម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[មូលដ្ឋានគ្រឹះ]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រំឭកមេរៀនចាស់ &amp; គំនិតគ្រឹះ (Prerequisite Knowledge)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លីមីតផលធៀបបម្រែបម្រួល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កំណើនអថេរ៖ Δx = x - x₀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កំណើនអនុគមន៍៖ Δy = f(x) - f(x₀)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ផលធៀប៖ Δy/Δx = [f(x₀ + h) - f(x₀)] / h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ដេរីវេគឺជាលីមីតនៃផលធៀបនេះពេល h →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មេគុណប្រាប់ទិសនៃបន្ទាត់ (Slope)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បន្ទាត់កាត់ខ្សែកោងពីរចំណុច M₀, M មានមេគុណ k = Δy/Δx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ពេល M ខិតជិត M₀ បន្ទាត់ខ្វែងក្លាយជាបន្ទាត់ប៉ះ (Tangent Line)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មេគុណប្រាប់ទិសនៃបន្ទាត់ប៉ះគឺ m = f'(x₀)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ស្វ័យគុណ និងទម្រង់ស្វ័យគុណសនិទាន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√x = x^(1/2)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1/x = x^(-1)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1/xⁿ = x^(-n)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ⁿ√xᵐ = x^(m/n)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[និយមន័យ &amp; រូបមន្ត]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និយមន័យដេរីវេ និងរូបមន្តគ្រឹះ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និយមន័យដេរីវេត្រង់ចំណុច x₀ 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f'(x₀) = lim_{h→0} [f(x₀ + h) - f(x₀)] / h = lim_{x→x₀} [f(x) - f(x₀)] / (x - x₀)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រូបមន្តដេរីវេគ្រឹះ (ចំពោះ x)៖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(c)' = 0 (c ជាចំនួនថេរ)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(x)' = 1 , (xⁿ)' = n xⁿ⁻¹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(√x)' = 1 / (2√x)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(1/x)' = -1 / x²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ប្រមាណវិធីដេរីវេ៖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(u ± v)' = u' ± v'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(k · u)' = k · u' (k ជាថេរ)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(u · v)' = u'v + uv'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(u / v)' = (u'v - uv') / v²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f'(x₀) = lim_{h→0} [f(x₀+h) - f(x₀)]/h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(xⁿ)' = n xⁿ⁻¹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(u · v)' = u'v + uv'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(u / v)' = (u'v - uv') / v²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(√x)' = 1 / (2√x)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១ ៖ គណនាដេរីវេអនុគមន៍ពហុធា និងផលគុណ-ផលចែក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គណនាដេរីវេនៃអនុគមន៍ខាងក្រោម៖
ក. f(x) = 4x⁵ - 3x² + 7x - 9
ខ. g(x) = (2x + 1)(x² - 3)
គ. h(x) = (3x - 2)/(x + 1)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ក. គណនា f'(x)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f'(x) = 4(5x⁴) - 3(2x) + 7(1) - 0 = 20x⁴ - 6x + 7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ខ. គណនា g'(x) តាមរូបមន្ត (uv)' = u'v + uv'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តាង u = 2x + 1 ⇒ u' = 2 ; v = x² - 3 ⇒ v' = 2x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g'(x) = 2(x² - 3) + (2x + 1)(2x) = 2x² - 6 + 4x² + 2x = 6x² + 2x - 6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គ. គណនា h'(x) តាមរូបមន្ត (u/v)' = (u'v - uv')/v²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តាង u = 3x - 2 ⇒ u' = 3 ; v = x + 1 ⇒ v' = 1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h'(x) = [3(x + 1) - (3x - 2)(1)] / (x + 1)²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= [3x + 3 - 3x + 2] / (x + 1)² = 5 / (x + 1)²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ចំពោះ (u/v)' សូមប្រយ័ត្នសញ្ញាដកនៅចន្លោះ ត្រូវដាក់វង់ក្រចកការពារ!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កុំទាន់ពន្លាតភាគបែង (x + 1)² ទុកវាជាការ៉េដើម្បីងាយស្រួលសិក្សាសញ្ញា។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[អនុគមន៍បណ្តាក់]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ដេរីវេនៃអនុគមន៍បណ្តាក់ និងត្រីកោណមាត្រ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អនុគមន៍បណ្តាក់ (Chain Rule)៖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បើ y = f(u) និង u = u(x) នោះ y'_x = u'_x · f'_u(u)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(uⁿ)' = n uⁿ⁻¹ · u'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(√u)' = u' / (2√u)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(1/u)' = -u' / u²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ដេរីវេនៃអនុគមន៍ត្រីកោណមាត្រ៖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(sin x)' = cos x      ⇒  (sin u)' = u' · cos u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(cos x)' = -sin x     ⇒  (cos u)' = -u' · sin u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(tan x)' = 1 + tan²x = 1/cos²x  ⇒  (tan u)' = u' / cos²u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ដេរីវេលំដាប់ខ្ពស់៖ f''(x) = (f'(x))' , f'''(x) = (f''(x))'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(uⁿ)' = n uⁿ⁻¹ · u'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(√u)' = u' / (2√u)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(sin u)' = u' cos u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(cos u)' = -u' sin u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(tan u)' = u' / cos²u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២ ៖ អនុគមន៍បណ្តាក់ និងត្រីកោណមាត្រ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គណនាដេរីវេនៃអនុគមន៍ខាងក្រោម៖
ក. f(x) = (2x² - 3x + 1)⁴
ខ. g(x) = √(x² + 5)
គ. h(x) = sin(3x²)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ក. គណនា f'(x) តាម (uⁿ)' = n uⁿ⁻¹ u'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តាង u = 2x² - 3x + 1 ⇒ u' = 4x - 3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f'(x) = 4(2x² - 3x + 1)³ · (4x - 3) = 4(4x - 3)(2x² - 3x + 1)³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ខ. គណនា g'(x) តាម (√u)' = u' / (2√u)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តាង u = x² + 5 ⇒ u' = 2x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g'(x) = (2x) / [2√(x² + 5)] = x / √(x² + 5)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គ. គណនា h'(x) តាម (sin u)' = u' cos u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តាង u = 3x² ⇒ u' = 6x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h'(x) = (6x) · cos(3x²)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ពេលប្រើ Chain Rule ត្រូវចាំគុណនឹង u' (ដេរីវេនៃកន្សោមខាងក្នុង) ជានិច្ច!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កុំច្រឡំ sin(3x²) ជាមួយ (sin 3x)² ព្រោះ u ខុសគ្នា។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1 (MCQ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1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ដេរីវេនៃ f(x) = x³ - 6x² + 9x គឺ៖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3x² - 12x + 9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(f'(x) = 3x² - 6(2x) + 9 = 3x² - 12x + 9)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3x² - 6x + 9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x² - 12x + 9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3x² - 12x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2 (MCQ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2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ដេរីវេនៃ f(x) = cos(4x) គឺ៖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-4 sin(4x)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((cos u)' = -u' sin u នាំឱ្យ f'(x) = -(4) sin(4x) = -4 sin(4x))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4 sin(4x)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-sin(4x)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-4 cos(4x)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3 (MCQ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3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បើ f(x) = x⁴ នោះដេរីវេទីពីរ f''(x) ស្មើនឹង៖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12x²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(f'(x) = 4x³ ⇒ f''(x) = 4(3x²) = 12x²)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4x³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24x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12x³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[អនុវត្តជាក់ស្តែង]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សន្លឹកកិច្ចការសិស្ស &amp; ការពិភាក្សាជាក្រុម (Student Worksheet)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Khmer OS Siemreap"/>
              </a:defRPr>
            </a:pPr>
            <a:r>
              <a:t>⏱️ រយៈពេលពិភាក្សា៖ ១០ នាទី • ពិន្ទុអតិបរមា៖ ១០ ពិន្ទុ • សមាជិកក្នុងក្រុមសហការដោះស្រាយ និងឡើងធ្វើបទបង្ហាញ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338328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១ (រូបមន្តគ្រឹះ)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គណនាដេរីវេនៃ f(x) = 5x⁴ - (2/3)x³ + √x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គណនាដេរីវេនៃ g(x) = (x² + 1)(3x - 2)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គណនាតម្លៃ f'(1) បើ f(x) = x³ - 4x + 5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788920"/>
            <a:ext cx="3383280" cy="59436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២ (អនុគមន៍សនិទាន និងឫស)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គណនាដេរីវេនៃ y = (2x - 1)/(x + 3)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គណនាដេរីវេនៃ y = √(3x² - 4x + 1)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រកចំណុចដែលដេរីវេនៃ f(x) = x³ - 3x ស្មើនឹង 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788920"/>
            <a:ext cx="3383280" cy="59436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៣ (អនុគមន៍បណ្តាក់ និងត្រីកោណមាត្រ)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គណនាដេរីវេនៃ f(x) = sin³(2x)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គណនាដេរីវេនៃ g(x) = x · cos x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គណនាដេរីវេទីពីរ f''(x) នៃ f(x) = 1/(x - 1)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[សង្ខេបមេរៀន]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សេចក្តីសង្ខេប &amp; តារាងរូបមន្តគន្លឹះ (Summary Cheat Sheet)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4114800"/>
                <a:gridCol w="24688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ល.រ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ទម្រង់ / ចំណងជើង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រូបមន្តគន្លឹះ / លក្ខណៈ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ចំណាំ / អត្ថន័យ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ដេរីវេស្វ័យគុណ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(xⁿ)' = n xⁿ⁻¹ , (uⁿ)' = n uⁿ⁻¹ u'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រូបមន្តប្រើញឹកញាប់បំផុត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ផលគុណ &amp; ផលចែក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(uv)' = u'v + uv' , (u/v)' = (u'v-uv')/v²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ប្រយ័ត្នសញ្ញាដកក្នុងផលចែក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ដេរីវេឫស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(√x)' = 1/(2√x) , (√u)' = u'/(2√u)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u ត្រូវតែវិជ្ជមានដាច់ខាត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ត្រីកោណមាត្រ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(sin u)' = u' cos u , (cos u)' = -u' sin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កុំភ្លេចគុណ u'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ដេរីវេទីពីរ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f''(x) = (f'(x))'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ប្រើសម្រាប់រកភាពប៉ោងផត និងរបត់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១ ៖ ដេរីវេនៃអនុគមន៍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[កិច្ចការបន្ត]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កិច្ចការផ្ទះ &amp; សូមអរគុណ! (Homework &amp; Closing)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486400" cy="4297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97706"/>
                </a:solidFill>
                <a:latin typeface="Khmer OS Muol Light"/>
              </a:defRPr>
            </a:pPr>
            <a:r>
              <a:t>📚 កិច្ចការផ្ទះត្រូវអនុវត្ត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ធ្វើលំហាត់ក្នុងសៀវភៅពុម្ពគណិតវិទ្យា ថ្នាក់ទី ១២ ទំព័រទី ៤៨ លំហាត់លេខ ១, ២, ៣ និង ៤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គណនាដេរីវេនៃអនុគមន៍ចំនួន ៦ ក្នុងសន្លឹកកិច្ចការបន្ថែម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អានមុនមេរៀនទី ២ ៖ អនុវត្តន៍ដេរីវេ (សមីការបន្ទាត់ប៉ះ និងអថេរភាព)</a:t>
            </a:r>
          </a:p>
          <a:p>
            <a:pPr>
              <a:spcBef>
                <a:spcPts val="800"/>
              </a:spcBef>
              <a:defRPr sz="1200" b="1">
                <a:solidFill>
                  <a:srgbClr val="C0272D"/>
                </a:solidFill>
                <a:latin typeface="Khmer OS Siemreap"/>
              </a:defRPr>
            </a:pPr>
            <a:r>
              <a:t>⏰ កាលបរិច្ឆេទប្រគល់៖ ម៉ោងសិក្សាបន្ទាប់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4846320" cy="4297680"/>
          </a:xfrm>
          <a:prstGeom prst="roundRect">
            <a:avLst/>
          </a:prstGeom>
          <a:solidFill>
            <a:srgbClr val="0F2A3D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cher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37744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42062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Khmer OS Muol Light"/>
              </a:defRPr>
            </a:pPr>
            <a:r>
              <a:t>សូមអរគុណសម្រាប់ការយកចិត្តទុកដាក់!</a:t>
            </a:r>
          </a:p>
          <a:p>
            <a:pPr algn="ctr"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លោកគ្រូ នួន បូណង • វិទ្យាល័យព្រះយុគន្ធរ NGS</a:t>
            </a:r>
            <a:br/>
            <a:r>
              <a:t>មុខវិជ្ជា៖ គណិតវិទ្យា ថ្នាក់ទី ១២</a:t>
            </a:r>
            <a:br/>
            <a:r>
              <a:t>Telegram Channel: @MathNGS_Yukunthor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