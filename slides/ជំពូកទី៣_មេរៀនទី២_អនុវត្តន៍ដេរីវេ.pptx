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474720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che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A3D"/>
                </a:solidFill>
                <a:latin typeface="Khmer OS Muol Light"/>
              </a:defRPr>
            </a:pPr>
            <a:r>
              <a:t>លោកគ្រូ នួន បូណង</a:t>
            </a:r>
          </a:p>
          <a:p>
            <a:pPr algn="ctr"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គ្រូបង្រៀនគណិតវិទ្យា ថ្នាក់ទី ១២</a:t>
            </a:r>
            <a:br/>
            <a:r>
              <a:t>វិទ្យាល័យព្រះយុគន្ធរ</a:t>
            </a:r>
            <a:br/>
            <a:r>
              <a:t>សាលារៀនជំនាន់ថ្មី (NGS)</a:t>
            </a:r>
          </a:p>
        </p:txBody>
      </p:sp>
      <p:pic>
        <p:nvPicPr>
          <p:cNvPr id="6" name="Picture 5" descr="yukuntho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1090379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8229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Khmer OS Muol Light"/>
              </a:defRPr>
            </a:pPr>
            <a:r>
              <a:t>ព្រះរាជាណាចក្រកម្ពុជា • ជាតិ សាសនា ព្រះមហាក្សត្រ</a:t>
            </a:r>
            <a:br/>
            <a:r>
              <a:t>ក្រសួងអប់រំ យុវជន និងកីឡា</a:t>
            </a:r>
          </a:p>
          <a:p>
            <a:pPr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វិទ្យាល័យព្រះយុគន្ធរ • សាលារៀនជំនាន់ថ្មី (NGS)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94560"/>
            <a:ext cx="6858000" cy="2926080"/>
          </a:xfrm>
          <a:prstGeom prst="roundRect">
            <a:avLst/>
          </a:prstGeom>
          <a:solidFill>
            <a:srgbClr val="14375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6309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3C5FD"/>
                </a:solidFill>
                <a:latin typeface="Khmer OS Muol Light"/>
              </a:defRPr>
            </a:pPr>
            <a:r>
              <a:t>ជំពូកទី ៣ ៖ ដេរីវេនៃអនុគមន៍</a:t>
            </a:r>
          </a:p>
          <a:p>
            <a:pPr>
              <a:defRPr sz="2400" b="1">
                <a:solidFill>
                  <a:srgbClr val="FFFFFF"/>
                </a:solidFill>
                <a:latin typeface="Khmer OS Muol Light"/>
              </a:defRPr>
            </a:pPr>
            <a:r>
              <a:t>មេរៀនទី ២ ៖ អនុវត្តន៍ដេរីវេ</a:t>
            </a:r>
          </a:p>
          <a:p>
            <a:pPr>
              <a:defRPr sz="1400">
                <a:solidFill>
                  <a:srgbClr val="CBD5E1"/>
                </a:solidFill>
                <a:latin typeface="Khmer OS Siemreap"/>
              </a:defRPr>
            </a:pPr>
            <a:r>
              <a:t>សមីការបន្ទាត់ប៉ះ • អថេរភាព (កើន/ចុះ) • បរមាធៀប • ចំណុចរបត់ • ចំណោទបរមា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035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Khmer OS Siemreap"/>
              </a:defRPr>
            </a:pPr>
            <a:r>
              <a:t>✨ កិច្ចតែងការ &amp; ស្លាយបង្រៀនស្ដង់ដារ NGS • ឆ្នាំសិក្សា ២០២៦-២០២៧ • រៀបរៀងដោយលោកគ្រូ នួន បូណង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[គោលបំណង]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វត្ថុបំណងនៃមេរៀន (Lesson Objectives)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Khmer OS Siemreap"/>
              </a:defRPr>
            </a:pPr>
            <a:r>
              <a:t>បន្ទាប់ពីសិក្សាមេរៀននេះចប់ សិស្សានុសិស្សនឹងទទួលបានសមត្ថភាពសំខាន់ៗ ៣ យ៉ាង៖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3383280" cy="64008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១. ចំណេះដឹង (Knowledge)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ចងចាំសមីការបន្ទាត់ប៉ះនឹងក្រាប (T) : y - y₀ = f'(x₀)(x - x₀)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យល់ច្បាស់ពីលក្ខខណ្ឌអថេរភាព៖ f'(x) &gt; 0 (កើន), f'(x) &lt; 0 (ចុះ)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ស្គាល់លក្ខខណ្ឌបរមាធៀប (អតិបរមា / អប្បបរមា) តាមតារាងសញ្ញា f'(x) ឬ f''(x)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ស្គាល់ចំណុចរបត់ (Inflection Point) ដែល f''(x) = 0 និងប្តូរសញ្ញា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240280"/>
            <a:ext cx="33832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២. បំណិន (Skills)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សរសេរសមីការបន្ទាត់ប៉ះនឹងក្រាបត្រង់ចំណុចដែលស្គាល់អាប់ស៊ីស ឬមេគុណប្រាប់ទិស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សង់តារាងអថេរភាពនៃអនុគមន៍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រកតម្លៃអតិបរមា និងអប្បបរមាធៀបនៃអនុគមន៍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ដោះស្រាយចំណោទអនុវត្តន៍ជាក់ស្តែង (Optimization Problems)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240280"/>
            <a:ext cx="3383280" cy="64008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៣. ឥរិយាបថ (Attitude)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យល់ដឹងពីអត្ថប្រយោជន៍ដ៏ធំធេងនៃគណិតវិទ្យាក្នុងការបង្កើនផលចំណេញ និងកាត់បន្ថយការចំណាយ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មានភាពច្នៃប្រឌិតក្នុងការបំប្លែងចំណោទភាសាទៅជាសមីការគណិតវិទ្យា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[មូលដ្ឋានគ្រឹះ]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រំឭកមេរៀនចាស់ &amp; គំនិតគ្រឹះ (Prerequisite Knowledge)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សមីការបន្ទាត់ត្រង់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បន្ទាត់កាត់តាមចំណុច M₀(x₀, y₀) មានមេគុណប្រាប់ទិស m ៖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  y - y₀ = m(x - x₀)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បន្ទាត់ប៉ះនឹងក្រាប y = f(x) ត្រង់ x₀ មានមេគុណ m = f'(x₀)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បន្ទាត់ពីរកែងគ្នា ៖ m₁ · m₂ = -1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បន្ទាត់ពីរស្របគ្នា ៖ m₁ = m₂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សញ្ញានៃត្រីធាដឺក្រេទី 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P(x) = ax² + bx + c (a ≠ 0)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បើ Δ &lt; 0 ៖ P(x) មានសញ្ញាដូច a ជានិច្ច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បើ Δ = 0 ៖ P(x) មានសញ្ញាដូច a (លើកលែង x = -b/2a)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បើ Δ &gt; 0 ៖ ក្នុងចន្លោះឫសសញ្ញាផ្ទុយ a , ក្រៅចន្លោះឫសសញ្ញាដូច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អត្រាបម្រែបម្រួល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កាលណា f'(x) &gt; 0 អនុគមន៍កើន (ឡើងលើពីឆ្វេងទៅស្តាំ)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កាលណា f'(x) &lt; 0 អនុគមន៍ចុះ (ចុះក្រោមពីឆ្វេងទៅស្តាំ)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កាលណា f'(x) = 0 ខ្សែកោងមានបន្ទាត់ប៉ះផ្ដេក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[បន្ទាត់ប៉ះ &amp; អថេរភាព]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សមីការបន្ទាត់ប៉ះ និងទិសដៅអថេរភាព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សមីការបន្ទាត់ប៉ះ (Tangent Line Equation)៖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សមីការបន្ទាត់ប៉ះ (T) ទៅនឹងក្រាប (C) : y = f(x) ត្រង់ចំណុច M₀(x₀, y₀) ដែល y₀ = f(x₀) គឺ៖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(T) : y - f(x₀) = f'(x₀)(x - x₀)   ឬ   y = f'(x₀)(x - x₀) + f(x₀)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ទិសដៅអថេរភាព (Monotonicity)៖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ឱ្យ f ជាអនុគមន៍មានដេរីវេលើចន្លោះ I 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បើ f'(x) &gt; 0 ចំពោះគ្រប់ x ∈ I នោះ f ជាអនុគមន៍កើនដាច់ខាតលើ 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បើ f'(x) &lt; 0 ចំពោះគ្រប់ x ∈ I នោះ f ជាអនុគមន៍ចុះដាច់ខាតលើ I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បើ f'(x) = 0 ចំពោះគ្រប់ x ∈ I នោះ f ជាអនុគមន៍ថេរលើ 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(T) : y = f'(x₀)(x - x₀) + f(x₀)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f'(x) &gt; 0 ⇒ f កើន  ↗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f'(x) &lt; 0 ⇒ f ចុះ  ↘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f'(x) = 0 ⇒ បន្ទាត់ប៉ះផ្ដេក (Horizontal Tangent)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១ ៖ សមីការបន្ទាត់ប៉ះ និងតារាងអថេរភាព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គេឱ្យអនុគមន៍ f(x) = x³ - 3x² + 2 មានក្រាប (C) ។
ក. សរសេរសមីការបន្ទាត់ប៉ះ (T) ទៅនឹងក្រាប (C) ត្រង់ចំណុចដែលមានអាប់ស៊ីស x₀ = 2
ខ. សិក្សាអថេរភាព និងរកតម្លៃបរមាធៀបនៃអនុគមន៍ 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ក. សរសេរសមីការបន្ទាត់ប៉ះ (T) ត្រង់ x₀ = 2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គណនា y₀ = f(2) = 2³ - 3(2²) + 2 = 8 - 12 + 2 = -2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គណនា f'(x) = 3x² - 6x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គណនាមេគុណប្រាប់ទិស f'(2) = 3(2²) - 6(2) = 12 - 12 = 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សមីការបន្ទាត់ប៉ះ (T) ៖ y - (-2) = 0(x - 2) ⇒ y = -2 (បន្ទាត់ប៉ះផ្ដេក)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ខ. សិក្សាអថេរភាព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f'(x) = 0 ⇔ 3x(x - 2) = 0 ⇒ x = 0 ឬ x = 2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លើ (-∞, 0) ∪ (2, +∞) : f'(x) &gt; 0 ⇒ f កើន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លើ (0, 2) : f'(x) &lt; 0 ⇒ f ចុះ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តម្លៃអតិបរមាធៀបត្រង់ x = 0 គឺ f(0) = 2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តម្លៃអប្បបរមាធៀបត្រង់ x = 2 គឺ f(2) = -2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កាលណា f'(x₀) = 0 បន្ទាត់ប៉ះជាបន្ទាត់ផ្ដេក y = y₀ ជានិច្ច!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តារាងអថេរភាពត្រូវបង្ហាញសញ្ញា f'(x) និងព្រួញឡើងចុះនៃ f(x) ឱ្យច្បាស់។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[បរមា &amp; របត់]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បរមាធៀប ចំណុចរបត់ និងចំណោទបរមា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បរមាធៀប (Local Extrema)៖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បើ f'(x₀) = 0 ហើយ f'(x) ប្តូរសញ្ញាពី (+) ទៅ (-) ត្រង់ x₀ នោះ f មាន អតិបរមាធៀប ត្រង់ x₀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បើ f'(x₀) = 0 ហើយ f'(x) ប្តូរសញ្ញាពី (-) ទៅ (+) ត្រង់ x₀ នោះ f មាន អប្បបរមាធៀប ត្រង់ x₀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តាមដេរីវេទីពីរ៖ f'(x₀) = 0 និង f''(x₀) &lt; 0 ⇒ អតិបរមា ; f''(x₀) &gt; 0 ⇒ អប្បបរមា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ចំណុចរបត់ (Inflection Point)៖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ចំណុច I(x₀, f(x₀)) ជាចំណុចរបត់ លុះត្រាតែ f''(x₀) = 0 ហើយ f''(x) ប្តូរសញ្ញាកាត់ x₀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៣. ចំណោទបរមា (Optimization)៖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សរសេរអនុគមន៍នៃអថេរមួយ f(x) រួចរក f'(x) = 0 ដើម្បីរកចំណុចដែលផ្តល់ផលចំណេញអតិបរមា ឬចំណាយអប្បបរមា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f'(x₀) = 0 និង f''(x₀) &lt; 0 ⇒ អតិបរមា (Max)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f'(x₀) = 0 និង f''(x₀) &gt; 0 ⇒ អប្បបរមា (Min)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f''(x₀) = 0 និងប្តូរសញ្ញា ⇒ ចំណុចរបត់ (Inflection)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បរមាជាក់ស្តែង ៖ dV/dx = 0 ឬ dS/dx =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២ ៖ ចំណោទបរមាជាក់ស្តែង (Optimization)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គេចង់ធ្វើប្រអប់ចំហខាងលើមួយចេញពីបន្ទះដែកការ៉េប្រវែងជ្រុង 12 cm ដោយកាត់ជ្រុងទាំង ៤ ចេញជាការ៉េតូចៗជ្រុង x cm រួចបត់ឡើងលើ។ រក x ដើម្បីឱ្យមាឌប្រអប់មានតម្លៃធំបំផុត។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១ ៖ បង្កើតអនុគមន៍មាឌ V(x)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បន្ទាប់ពីកាត់ការ៉េជ្រុង x នៅជ្រុងទាំង ៤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បាតប្រអប់ជាការ៉េមានជ្រុងប្រវែង (12 - 2x) cm (លក្ខខណ្ឌ 0 &lt; x &lt; 6)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កម្ពស់ប្រអប់គឺ x cm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មាឌប្រអប់ V(x) = (12 - 2x)² · x = (144 - 48x + 4x²)x = 4x³ - 48x² + 144x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២ ៖ គណនាដេរីវេ V'(x)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V'(x) = 12x² - 96x + 144 = 12(x² - 8x + 12) = 12(x - 2)(x - 6)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៣ ៖ រកចំណុចបរមា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V'(x) = 0 ⇔ x = 2 ឬ x = 6 (មិនយក ព្រោះ 0 &lt; x &lt; 6)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V''(x) = 24x - 96 ⇒ V''(2) = 24(2) - 96 = -48 &lt; 0 (អតិបរមា!)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មាឌអតិបរមា V(2) = (12 - 4)² · 2 = 8² · 2 = 64 · 2 = 128 cm³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សេចក្តីសន្និដ្ឋាន៖ ត្រូវកាត់ការ៉េជ្រុង x = 2 cm ដើម្បីទទួលបានមាឌធំបំផុត 128 cm³!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តែងតែកំណត់លក្ខខណ្ឌអថេរ x ជាមុនសិន (ដែនកំណត់នៃចំណោទជាក់ស្តែង)!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ប្រើដេរីវេទីពីរ V''(x) &lt; 0 ដើម្បីបញ្ជាក់ថាលទ្ធផលពិតជាអតិបរមាពិតប្រាកដ។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1 (MCQ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1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មេគុណប្រាប់ទិសនៃបន្ទាត់ប៉ះនឹងក្រាប y = x² - 4x + 3 ត្រង់ x = 3 គឺ៖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2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(y' = 2x - 4 ⇒ y'(3) = 2(3) - 4 = 6 - 4 =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2 (MCQ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2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អនុគមន៍ f(x) = -x³ + 3x² កើនលើចន្លោះណា?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(0, 2)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(f'(x) = -3x² + 6x = -3x(x - 2) &gt; 0 ⇔ x ∈ (0, 2))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(-∞, 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(2, +∞)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កើនលើ 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3 (MCQ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3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ចំណុចរបត់នៃក្រាប y = x³ - 3x² + 1 គឺ៖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(1, -1)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(y' = 3x² - 6x ⇒ y'' = 6x - 6 = 0 ⇒ x = 1 , y(1) = 1 - 3 + 1 = -1)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(0, 1)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(2, -3)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(1, 0)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[អនុវត្តជាក់ស្តែង]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សន្លឹកកិច្ចការសិស្ស &amp; ការពិភាក្សាជាក្រុម (Student Worksheet)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Khmer OS Siemreap"/>
              </a:defRPr>
            </a:pPr>
            <a:r>
              <a:t>⏱️ រយៈពេលពិភាក្សា៖ ១០ នាទី • ពិន្ទុអតិបរមា៖ ១០ ពិន្ទុ • សមាជិកក្នុងក្រុមសហការដោះស្រាយ និងឡើងធ្វើបទបង្ហាញ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338328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១ (បន្ទាត់ប៉ះ)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សរសេរសមីការបន្ទាត់ប៉ះនឹងក្រាប y = 2x³ - x + 1 ត្រង់ចំណុច A(1, 2)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រកចំណុចលើក្រាប y = x² - 3x ដែលបន្ទាត់ប៉ះស្របនឹងបន្ទាត់ y = x + 5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សរសេរសមីការបន្ទាត់កែងនឹងបន្ទាត់ប៉ះត្រង់ចំណុចនោះ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788920"/>
            <a:ext cx="3383280" cy="59436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២ (អថេរភាព និងបរមា)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សង់តារាងអថេរភាពនៃ f(x) = (x² - 4)/(x - 1)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រកតម្លៃអតិបរមា និងអប្បបរមាធៀប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កំណត់ចំណុចរបត់នៃក្រាប f(x) បើមាន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788920"/>
            <a:ext cx="3383280" cy="59436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៣ (ចំណោទបរមាជាក់ស្តែង)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កសិករម្នាក់មានរបងប្រវែង 100 m ចង់ព័ទ្ធដីចតុកោណកែងជាប់មាត់ស្ទឹង (មិនបាច់របងមាត់ស្ទឹង)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តាង x ជាទទឹង និង y ជាបណ្តោយ រកផ្ទៃក្រឡា S(x)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រកវិមាត្រ x និង y ដើម្បីឱ្យផ្ទៃដីព័ទ្ធបានធំបំផុត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[សង្ខេបមេរៀន]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សេចក្តីសង្ខេប &amp; តារាងរូបមន្តគន្លឹះ (Summary Cheat Sheet)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4114800"/>
                <a:gridCol w="246888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ល.រ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ទម្រង់ / ចំណងជើង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រូបមន្តគន្លឹះ / លក្ខណៈ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ចំណាំ / អត្ថន័យ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សមីការបន្ទាត់ប៉ះ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y = f'(x₀)(x - x₀) + f(x₀)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m = f'(x₀) ជាមេគុណប្រាប់ទិស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អថេរភាព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f' &gt; 0 (កើន) , f' &lt; 0 (ចុះ)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ផ្អែកលើសញ្ញានៃដេរីវេទីមួយ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បរមាធៀប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f'(x₀) = 0 និង f''(x₀) ≶ 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f'' &lt; 0 (Max) , f'' &gt; 0 (Min)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ចំណុចរបត់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f''(x₀) = 0 និងប្តូរសញ្ញា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ប្តូរពីប៉ោងទៅផត ឬផតទៅប៉ោង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ចំណោទបរមា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បង្កើត f(x) រួចដោះស្រាយ f'(x) = 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អនុវត្តន៍លើសេដ្ឋកិច្ច និងបច្ចេកទេស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៣ ៖ ដេរីវេនៃអនុគមន៍ — មេរៀនទី ២ ៖ អនុវត្តន៍ដេរីវេ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[កិច្ចការបន្ត]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កិច្ចការផ្ទះ &amp; សូមអរគុណ! (Homework &amp; Closing)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486400" cy="4297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97706"/>
                </a:solidFill>
                <a:latin typeface="Khmer OS Muol Light"/>
              </a:defRPr>
            </a:pPr>
            <a:r>
              <a:t>📚 កិច្ចការផ្ទះត្រូវអនុវត្ត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ធ្វើលំហាត់ក្នុងសៀវភៅពុម្ពគណិតវិទ្យា ថ្នាក់ទី ១២ ទំព័រទី ៦០ លំហាត់លេខ ១ ដល់ ៨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ដោះស្រាយចំណោទបរមាចំនួន ២ បន្ថែមក្នុងសន្លឹកកិច្ចការឌីជីថល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រៀបចំសៀវភៅកំណត់ត្រារូបមន្តដេរីវេ និងលីមីតសម្រាប់ត្រៀមប្រឡងឆមាសទី ១</a:t>
            </a:r>
          </a:p>
          <a:p>
            <a:pPr>
              <a:spcBef>
                <a:spcPts val="800"/>
              </a:spcBef>
              <a:defRPr sz="1200" b="1">
                <a:solidFill>
                  <a:srgbClr val="C0272D"/>
                </a:solidFill>
                <a:latin typeface="Khmer OS Siemreap"/>
              </a:defRPr>
            </a:pPr>
            <a:r>
              <a:t>⏰ កាលបរិច្ឆេទប្រគល់៖ ម៉ោងសិក្សាបន្ទាប់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4846320" cy="4297680"/>
          </a:xfrm>
          <a:prstGeom prst="roundRect">
            <a:avLst/>
          </a:prstGeom>
          <a:solidFill>
            <a:srgbClr val="0F2A3D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acher-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37744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420624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Khmer OS Muol Light"/>
              </a:defRPr>
            </a:pPr>
            <a:r>
              <a:t>សូមអរគុណសម្រាប់ការយកចិត្តទុកដាក់!</a:t>
            </a:r>
          </a:p>
          <a:p>
            <a:pPr algn="ctr"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លោកគ្រូ នួន បូណង • វិទ្យាល័យព្រះយុគន្ធរ NGS</a:t>
            </a:r>
            <a:br/>
            <a:r>
              <a:t>មុខវិជ្ជា៖ គណិតវិទ្យា ថ្នាក់ទី ១២</a:t>
            </a:r>
            <a:br/>
            <a:r>
              <a:t>Telegram Channel: @MathNGS_Yukunthor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