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  <p:sldMasterId id="2147483660" r:id="rId2"/>
  </p:sldMasterIdLst>
  <p:notesMasterIdLst>
    <p:notesMasterId r:id="rId29"/>
  </p:notesMasterIdLst>
  <p:sldIdLst>
    <p:sldId id="300" r:id="rId3"/>
    <p:sldId id="301" r:id="rId4"/>
    <p:sldId id="302" r:id="rId5"/>
    <p:sldId id="303" r:id="rId6"/>
    <p:sldId id="304" r:id="rId7"/>
    <p:sldId id="305" r:id="rId8"/>
    <p:sldId id="306" r:id="rId9"/>
    <p:sldId id="325" r:id="rId10"/>
    <p:sldId id="307" r:id="rId11"/>
    <p:sldId id="308" r:id="rId12"/>
    <p:sldId id="309" r:id="rId13"/>
    <p:sldId id="310" r:id="rId14"/>
    <p:sldId id="311" r:id="rId15"/>
    <p:sldId id="312" r:id="rId16"/>
    <p:sldId id="313" r:id="rId17"/>
    <p:sldId id="314" r:id="rId18"/>
    <p:sldId id="315" r:id="rId19"/>
    <p:sldId id="316" r:id="rId20"/>
    <p:sldId id="317" r:id="rId21"/>
    <p:sldId id="318" r:id="rId22"/>
    <p:sldId id="319" r:id="rId23"/>
    <p:sldId id="320" r:id="rId24"/>
    <p:sldId id="321" r:id="rId25"/>
    <p:sldId id="322" r:id="rId26"/>
    <p:sldId id="323" r:id="rId27"/>
    <p:sldId id="324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5174"/>
    <a:srgbClr val="931E21"/>
    <a:srgbClr val="CC3300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6" y="32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BE0F09-F4C1-42CE-AE72-87F4D555EFFB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0D0ED-2412-4C0B-8322-2156AD5707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10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8EB2C-7843-436B-937B-4EA26E564919}" type="datetime1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4FD7C-40C4-4FC4-9999-49BA4CE88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79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D502F-E904-47B6-ADDB-46D722EC2B1D}" type="datetime1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4FD7C-40C4-4FC4-9999-49BA4CE88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861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B6DF1-483F-4D07-A1B9-130FF4129FD1}" type="datetime1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4FD7C-40C4-4FC4-9999-49BA4CE884B1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2178"/>
          </a:xfrm>
          <a:prstGeom prst="rect">
            <a:avLst/>
          </a:prstGeom>
        </p:spPr>
      </p:pic>
      <p:pic>
        <p:nvPicPr>
          <p:cNvPr id="6" name="Graphic 10" descr="Books on Shelf">
            <a:extLst>
              <a:ext uri="{FF2B5EF4-FFF2-40B4-BE49-F238E27FC236}">
                <a16:creationId xmlns:a16="http://schemas.microsoft.com/office/drawing/2014/main" id="{18A239E6-97C0-4A74-8E7A-C9FD39A8C92C}"/>
              </a:ext>
            </a:extLst>
          </p:cNvPr>
          <p:cNvPicPr>
            <a:picLocks noChangeAspect="1"/>
          </p:cNvPicPr>
          <p:nvPr userDrawn="1"/>
        </p:nvPicPr>
        <p:blipFill>
          <a:blip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8687" y="107766"/>
            <a:ext cx="1093385" cy="109338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3660" y="120234"/>
            <a:ext cx="1076739" cy="1076739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9A95D57-AB2C-4C3E-9C97-3875158561FB}"/>
              </a:ext>
            </a:extLst>
          </p:cNvPr>
          <p:cNvSpPr txBox="1">
            <a:spLocks/>
          </p:cNvSpPr>
          <p:nvPr userDrawn="1"/>
        </p:nvSpPr>
        <p:spPr>
          <a:xfrm>
            <a:off x="1415139" y="223330"/>
            <a:ext cx="8436429" cy="1071615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endParaRPr lang="km-KH" spc="0" dirty="0">
              <a:solidFill>
                <a:schemeClr val="bg1"/>
              </a:solidFill>
              <a:latin typeface="Kh Ang Moul 1" panose="02000500000000000000" pitchFamily="2" charset="0"/>
              <a:cs typeface="Kh Ang Moul 1" panose="02000500000000000000" pitchFamily="2" charset="0"/>
            </a:endParaRP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415139" y="-4178"/>
            <a:ext cx="9379862" cy="1299124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3200" baseline="0">
                <a:solidFill>
                  <a:schemeClr val="bg1"/>
                </a:solidFill>
                <a:latin typeface="Kh Muol" panose="02000500000000020004" pitchFamily="2" charset="0"/>
                <a:cs typeface="Kh Muol" panose="02000500000000020004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7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15309" y="1557168"/>
            <a:ext cx="9392390" cy="625475"/>
          </a:xfrm>
        </p:spPr>
        <p:txBody>
          <a:bodyPr vert="horz" anchor="ctr">
            <a:normAutofit/>
          </a:bodyPr>
          <a:lstStyle>
            <a:lvl1pPr marL="457200" indent="-457200">
              <a:lnSpc>
                <a:spcPct val="150000"/>
              </a:lnSpc>
              <a:buFont typeface="Wingdings" panose="05000000000000000000" pitchFamily="2" charset="2"/>
              <a:buChar char="q"/>
              <a:defRPr sz="2400" baseline="0">
                <a:solidFill>
                  <a:srgbClr val="0F5174"/>
                </a:solidFill>
                <a:latin typeface="Kh Muol" panose="02000500000000020004" pitchFamily="2" charset="0"/>
                <a:cs typeface="Kh Muol" panose="02000500000000020004" pitchFamily="2" charset="0"/>
              </a:defRPr>
            </a:lvl1pPr>
            <a:lvl2pPr marL="685800" indent="-228600">
              <a:buFont typeface="Wingdings" panose="05000000000000000000" pitchFamily="2" charset="2"/>
              <a:buChar char="ü"/>
              <a:defRPr baseline="0">
                <a:latin typeface="AKbalthom KhmerBasic" panose="02000500000000000000" pitchFamily="2" charset="0"/>
                <a:cs typeface="AKbalthom KhmerBasic" panose="02000500000000000000" pitchFamily="2" charset="0"/>
              </a:defRPr>
            </a:lvl2pPr>
          </a:lstStyle>
          <a:p>
            <a:pPr lvl="0"/>
            <a:endParaRPr lang="en-US" dirty="0"/>
          </a:p>
        </p:txBody>
      </p:sp>
      <p:sp>
        <p:nvSpPr>
          <p:cNvPr id="18" name="Vertical Text Placeholder 2"/>
          <p:cNvSpPr>
            <a:spLocks noGrp="1"/>
          </p:cNvSpPr>
          <p:nvPr>
            <p:ph type="body" orient="vert" idx="13"/>
          </p:nvPr>
        </p:nvSpPr>
        <p:spPr>
          <a:xfrm>
            <a:off x="1973809" y="2204869"/>
            <a:ext cx="8833890" cy="4068761"/>
          </a:xfrm>
        </p:spPr>
        <p:txBody>
          <a:bodyPr vert="horz" anchor="t">
            <a:normAutofit/>
          </a:bodyPr>
          <a:lstStyle>
            <a:lvl1pPr marL="457200" indent="-457200">
              <a:lnSpc>
                <a:spcPct val="150000"/>
              </a:lnSpc>
              <a:buFont typeface="Wingdings" panose="05000000000000000000" pitchFamily="2" charset="2"/>
              <a:buChar char="ü"/>
              <a:defRPr sz="2000" b="0">
                <a:solidFill>
                  <a:schemeClr val="tx1">
                    <a:lumMod val="85000"/>
                    <a:lumOff val="15000"/>
                  </a:schemeClr>
                </a:solidFill>
                <a:latin typeface="Kh Battambang" panose="02000500000000020004" pitchFamily="2" charset="0"/>
                <a:cs typeface="Kh Battambang" panose="02000500000000020004" pitchFamily="2" charset="0"/>
              </a:defRPr>
            </a:lvl1pPr>
            <a:lvl2pPr marL="685800" indent="-228600">
              <a:buFont typeface="Wingdings" panose="05000000000000000000" pitchFamily="2" charset="2"/>
              <a:buChar char="ü"/>
              <a:defRPr baseline="0">
                <a:latin typeface="AKbalthom KhmerBasic" panose="02000500000000000000" pitchFamily="2" charset="0"/>
                <a:cs typeface="AKbalthom KhmerBasic" panose="02000500000000000000" pitchFamily="2" charset="0"/>
              </a:defRPr>
            </a:lvl2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405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2464B-FE92-4694-AA10-6EACA7511878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4FD7C-40C4-4FC4-9999-49BA4CE88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278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20C345-BEE4-488C-9845-890568B8DAF9}" type="datetime1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4FD7C-40C4-4FC4-9999-49BA4CE88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227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41CFC-A0B3-42D6-B4CC-6A79963FDBD4}" type="datetime1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4FD7C-40C4-4FC4-9999-49BA4CE88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004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C4D7C0-E80D-41B8-98AE-913521267C7E}" type="datetime1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24FD7C-40C4-4FC4-9999-49BA4CE88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251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1FC9E-32E8-2A4C-C0C5-1BC0EF885B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40AB68-FB09-966E-36C2-E112175249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606E7-3181-9830-3892-9D068ED74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92B0-5229-4121-82CF-1B48FB687DE1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AC689-24E4-C5BE-1930-3D9CC47B1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047361-1FE8-0BC6-2D5F-15F2C1693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568B2-5DCC-4766-AF8E-1490479A9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511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E34D1-4F93-0873-970F-D491F27D4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78E51-4A71-33B4-F962-AD2A10FAC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D39C7-8EDA-E7BC-49C1-30EC7A994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92B0-5229-4121-82CF-1B48FB687DE1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EBADC-6AB9-5F01-F15C-C1E566767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5AFCF-2573-00C4-294A-E9C33BC51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568B2-5DCC-4766-AF8E-1490479A9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250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6C84C-29B4-8B1D-B714-05378193E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41FE81-7285-87B7-E6F9-01BF58B01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7FDC81-4B0F-6877-D43F-57438CEE5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92B0-5229-4121-82CF-1B48FB687DE1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4C0E8-B16D-E3D3-D3CF-DCDF43B53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DF89E-6971-31AE-3193-77DC7B2A3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568B2-5DCC-4766-AF8E-1490479A9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201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FD766-EAC7-8F9A-5023-F5E62F98D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D58258-AA45-1F83-91EB-EC2AD8076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BABEA0-C299-FF14-53C2-3D76FFC89B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45B239-AB31-4772-BD35-9D1EDE58D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92B0-5229-4121-82CF-1B48FB687DE1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50D357-E648-9F7B-5AA1-5AE17B9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A5E073-944E-8BF0-5C8D-16113AE40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568B2-5DCC-4766-AF8E-1490479A9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6873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31965-A952-823D-C641-EEE5FF282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9A1F0-7BDB-AE09-F115-4A1E278077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249B67-9E40-69EC-6915-85B30084C0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9DD481-A867-F151-448F-C29499CDC1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6AD3E4-D13B-50A1-8A3E-25F3636E84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2D4D93-0E6C-F8DE-C754-0C484248E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92B0-5229-4121-82CF-1B48FB687DE1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730534-76C8-ACCD-5827-59381A92B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6FB457-DA4D-F9F6-E290-B9E36B10A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568B2-5DCC-4766-AF8E-1490479A9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405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8608F-A456-4379-FFD1-4AABD21E8A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B785D0-47CA-CF30-0134-CD3AD424E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92B0-5229-4121-82CF-1B48FB687DE1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BEEBDF-3BAC-79BC-8FD4-9864D674B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0C7766-32E0-F26D-0C71-C10704008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568B2-5DCC-4766-AF8E-1490479A9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7082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EC769C-5575-0B36-2F21-3D59CAB4A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92B0-5229-4121-82CF-1B48FB687DE1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766308-D4CF-4979-B377-9F9ED8FAD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19023-A548-4E82-568C-7E4925DE7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568B2-5DCC-4766-AF8E-1490479A9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8485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13AD4-58ED-3C07-FF4E-B81CE61C5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8C72D-D336-02D9-6CFB-0B4E62692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531602-1326-E3D5-5952-FDBB762D0B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F951C6-F196-AFF4-DAA0-3517968AF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92B0-5229-4121-82CF-1B48FB687DE1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4A8154-1339-74BC-F986-4B98EF147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E9A3DD-C911-8309-A28A-C01993300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568B2-5DCC-4766-AF8E-1490479A9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9134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7CA85-FC55-28C8-8C86-4BA15A14E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24AD3C-ADD9-5DDF-C2E0-E688BA5D3F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F7C5D5-1AA2-303C-988B-5A94851466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BA5A3A-A14B-4F1D-135B-4177D2AD1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92B0-5229-4121-82CF-1B48FB687DE1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541E48-4C42-017C-2030-28B3F87FD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3E3E8-24D3-134E-6CC4-EA4B1459E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568B2-5DCC-4766-AF8E-1490479A9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75073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35456-7018-D6E0-1708-013CF828D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2675D5-C66D-9618-403E-0C6D9870AB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56DBE6-8DD1-536E-549B-27EB10815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92B0-5229-4121-82CF-1B48FB687DE1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2B998-9FF7-FABC-1506-71526E2D0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DBE24-F093-9D06-BAE9-20832CBB0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568B2-5DCC-4766-AF8E-1490479A9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2177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F50B31-4628-610D-2119-67EFD4770C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443CF9-ADFA-2C02-AC45-201CFBE1F7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84287-739D-8A06-8963-F04B73D08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392B0-5229-4121-82CF-1B48FB687DE1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C9413-5A6F-4FFB-7FAF-710CB73BD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7102A-6CB1-2961-6828-C22145A53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4568B2-5DCC-4766-AF8E-1490479A9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1140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1927B-5794-4BA0-84A6-46B8538E9E64}" type="datetime1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24FD7C-40C4-4FC4-9999-49BA4CE884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618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06DA70-DCBC-402F-E04C-D7F0A22BD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AC1F7C-8A00-A1AA-CCD9-1B951479E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8AC26A-9116-3EC0-3291-AAEFAD5AF2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1392B0-5229-4121-82CF-1B48FB687DE1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997D5-8419-3431-6DE8-2AFFF0678D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E86F6-97C9-BB59-4EBF-7EAC0F7521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4568B2-5DCC-4766-AF8E-1490479A9C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640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65D17D-1E9C-E434-D3D4-6C10E19CB2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837758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F413E84-5B72-90B0-5B4C-FC800C0D6846}"/>
              </a:ext>
            </a:extLst>
          </p:cNvPr>
          <p:cNvSpPr/>
          <p:nvPr/>
        </p:nvSpPr>
        <p:spPr>
          <a:xfrm>
            <a:off x="0" y="0"/>
            <a:ext cx="2509000" cy="6858000"/>
          </a:xfrm>
          <a:prstGeom prst="rect">
            <a:avLst/>
          </a:prstGeom>
          <a:solidFill>
            <a:srgbClr val="0F517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990994" y="3367166"/>
            <a:ext cx="6502400" cy="1322603"/>
          </a:xfrm>
          <a:prstGeom prst="rect">
            <a:avLst/>
          </a:prstGeom>
          <a:solidFill>
            <a:schemeClr val="bg1"/>
          </a:solidFill>
          <a:ln w="19050">
            <a:solidFill>
              <a:srgbClr val="0F517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a:rPr>
              <a:t>              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9A95D57-AB2C-4C3E-9C97-3875158561FB}"/>
              </a:ext>
            </a:extLst>
          </p:cNvPr>
          <p:cNvSpPr txBox="1">
            <a:spLocks/>
          </p:cNvSpPr>
          <p:nvPr/>
        </p:nvSpPr>
        <p:spPr>
          <a:xfrm>
            <a:off x="3655194" y="952859"/>
            <a:ext cx="7174000" cy="1071615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</a:pPr>
            <a:r>
              <a:rPr lang="km-KH" sz="2800" spc="0" dirty="0">
                <a:solidFill>
                  <a:schemeClr val="tx1"/>
                </a:solidFill>
                <a:latin typeface="Kh Muol" panose="02000500000000020004" pitchFamily="2" charset="0"/>
                <a:cs typeface="Kh Muol" panose="02000500000000020004" pitchFamily="2" charset="0"/>
              </a:rPr>
              <a:t>ជំពូក១</a:t>
            </a:r>
            <a:r>
              <a:rPr lang="en-US" sz="2800" spc="0" dirty="0">
                <a:solidFill>
                  <a:schemeClr val="tx1"/>
                </a:solidFill>
                <a:latin typeface="Kh Muol" panose="02000500000000020004" pitchFamily="2" charset="0"/>
                <a:cs typeface="Kh Muol" panose="02000500000000020004" pitchFamily="2" charset="0"/>
              </a:rPr>
              <a:t> </a:t>
            </a:r>
            <a:r>
              <a:rPr lang="km-KH" sz="2800" spc="0" dirty="0">
                <a:solidFill>
                  <a:schemeClr val="tx1"/>
                </a:solidFill>
                <a:latin typeface="Kh Muol" panose="02000500000000020004" pitchFamily="2" charset="0"/>
                <a:cs typeface="Kh Muol" panose="02000500000000020004" pitchFamily="2" charset="0"/>
              </a:rPr>
              <a:t>៖ </a:t>
            </a:r>
            <a:r>
              <a:rPr lang="en-US" sz="2800" spc="0" dirty="0">
                <a:solidFill>
                  <a:schemeClr val="tx1"/>
                </a:solidFill>
                <a:latin typeface="Kh Muol" panose="02000500000000020004" pitchFamily="2" charset="0"/>
                <a:cs typeface="Kh Muol" panose="02000500000000020004" pitchFamily="2" charset="0"/>
              </a:rPr>
              <a:t> </a:t>
            </a:r>
            <a:r>
              <a:rPr lang="km-KH" sz="2800" spc="0" dirty="0">
                <a:solidFill>
                  <a:srgbClr val="0F5174"/>
                </a:solidFill>
                <a:latin typeface="Kh Muol" panose="02000500000000020004" pitchFamily="2" charset="0"/>
                <a:cs typeface="Kh Muol" panose="02000500000000020004" pitchFamily="2" charset="0"/>
              </a:rPr>
              <a:t>ស្វ៊ីតនិងអនុមានរួមគណិតវិទ្យា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9A95D57-AB2C-4C3E-9C97-3875158561FB}"/>
              </a:ext>
            </a:extLst>
          </p:cNvPr>
          <p:cNvSpPr txBox="1">
            <a:spLocks/>
          </p:cNvSpPr>
          <p:nvPr/>
        </p:nvSpPr>
        <p:spPr>
          <a:xfrm>
            <a:off x="3644466" y="2295552"/>
            <a:ext cx="7195457" cy="765026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m-KH" sz="2400" spc="0" dirty="0">
                <a:solidFill>
                  <a:schemeClr val="tx1"/>
                </a:solidFill>
                <a:latin typeface="Kh Muol" panose="02000500000000020004" pitchFamily="2" charset="0"/>
                <a:cs typeface="Kh Muol" panose="02000500000000020004" pitchFamily="2" charset="0"/>
              </a:rPr>
              <a:t>មេរៀនទី៥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9A95D57-AB2C-4C3E-9C97-3875158561FB}"/>
              </a:ext>
            </a:extLst>
          </p:cNvPr>
          <p:cNvSpPr txBox="1">
            <a:spLocks/>
          </p:cNvSpPr>
          <p:nvPr/>
        </p:nvSpPr>
        <p:spPr>
          <a:xfrm>
            <a:off x="4587894" y="3434951"/>
            <a:ext cx="5308601" cy="1134901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spc="-60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m-KH" sz="3200" spc="0" dirty="0">
                <a:ln w="12700">
                  <a:noFill/>
                </a:ln>
                <a:solidFill>
                  <a:srgbClr val="C00000"/>
                </a:solidFill>
                <a:latin typeface="!Khmer OS Siemreap" panose="02000500000000020004" pitchFamily="2" charset="0"/>
                <a:cs typeface="!Khmer OS Siemreap" panose="02000500000000020004" pitchFamily="2" charset="0"/>
              </a:rPr>
              <a:t>ទំនាក់ទំនងតួនៃស្វ៊ីត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E8F9890-DA1B-74BB-1A4D-CC1728753F1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725" y="1057027"/>
            <a:ext cx="2003551" cy="200355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5B8F710-0A94-4E4F-61FB-2646096158A5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349402" y="4569852"/>
            <a:ext cx="1810197" cy="168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433750"/>
      </p:ext>
    </p:extLst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m-KH" dirty="0"/>
              <a:t>វត្ថុបំណងនៃមេរៀន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548640" y="1463040"/>
            <a:ext cx="78638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2000" dirty="0">
                <a:solidFill>
                  <a:srgbClr val="5B6B7A"/>
                </a:solidFill>
                <a:latin typeface="Kh Battambang"/>
                <a:cs typeface="Kh Battambang"/>
              </a:rPr>
              <a:t>បន្ទាប់ពីសិក្សាមេរៀននេះចប់ សិស្សនឹងអាច៖</a:t>
            </a:r>
            <a:endParaRPr lang="en-US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Shape 4"/>
              <p:cNvSpPr/>
              <p:nvPr/>
            </p:nvSpPr>
            <p:spPr>
              <a:xfrm>
                <a:off x="548640" y="2148840"/>
                <a:ext cx="7863840" cy="1115568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1234440" tIns="91440" rIns="228600" bIns="91440" rtlCol="0" anchor="ctr">
                <a:noAutofit/>
              </a:bodyPr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1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កំណត់តួទី </a:t>
                </a:r>
                <a14:m>
                  <m:oMath xmlns:m="http://schemas.openxmlformats.org/officeDocument/2006/math">
                    <m:r>
                      <a:rPr lang="en-US" sz="21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m-KH" sz="21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នៃស្វ៊ីត ដោយប្រើស្វ៊ីតជំនួយ</a:t>
                </a:r>
                <a:endParaRPr lang="en-US" sz="2100" dirty="0"/>
              </a:p>
            </p:txBody>
          </p:sp>
        </mc:Choice>
        <mc:Fallback xmlns="">
          <p:sp>
            <p:nvSpPr>
              <p:cNvPr id="4" name="Shape 4"/>
              <p:cNvSpPr/>
              <p:nvPr/>
            </p:nvSpPr>
            <p:spPr>
              <a:xfrm>
                <a:off x="548640" y="2148840"/>
                <a:ext cx="7863840" cy="1115568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1234440" tIns="91440" rIns="228600" bIns="91440" rtlCol="0" anchor="ctr">
                <a:noAutofit/>
              </a:bodyPr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1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កំណត់តួទី </a:t>
                </a:r>
                <a:r>
                  <a:rPr lang="km-KH" sz="21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n</a:t>
                </a:r>
                <a:r>
                  <a:rPr lang="km-KH" sz="21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នៃស្វ៊ីត ដោយប្រើស្វ៊ីតជំនួយ</a:t>
                </a:r>
                <a:endParaRPr lang="en-US" sz="2100" dirty="0"/>
              </a:p>
            </p:txBody>
          </p:sp>
        </mc:Fallback>
      </mc:AlternateContent>
      <p:sp>
        <p:nvSpPr>
          <p:cNvPr id="5" name="Shape 5"/>
          <p:cNvSpPr/>
          <p:nvPr/>
        </p:nvSpPr>
        <p:spPr>
          <a:xfrm>
            <a:off x="822960" y="2386584"/>
            <a:ext cx="640080" cy="640080"/>
          </a:xfrm>
          <a:prstGeom prst="ellipse">
            <a:avLst/>
          </a:prstGeom>
          <a:solidFill>
            <a:srgbClr val="0F517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2400" b="1" dirty="0">
                <a:solidFill>
                  <a:srgbClr val="FFFFFF"/>
                </a:solidFill>
                <a:latin typeface="Kh Muol"/>
                <a:cs typeface="Kh Muol"/>
              </a:rPr>
              <a:t>១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hape 6"/>
              <p:cNvSpPr/>
              <p:nvPr/>
            </p:nvSpPr>
            <p:spPr>
              <a:xfrm>
                <a:off x="548640" y="3520440"/>
                <a:ext cx="7863840" cy="1115568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1234440" tIns="91440" rIns="228600" bIns="91440" rtlCol="0" anchor="ctr">
                <a:noAutofit/>
              </a:bodyPr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1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កំណត់តួទី </a:t>
                </a:r>
                <a14:m>
                  <m:oMath xmlns:m="http://schemas.openxmlformats.org/officeDocument/2006/math">
                    <m:r>
                      <a:rPr lang="en-US" sz="21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m-KH" sz="21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តាមទំនាក់ទំនងរវាង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1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m-KH" sz="21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និង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1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100" dirty="0"/>
              </a:p>
            </p:txBody>
          </p:sp>
        </mc:Choice>
        <mc:Fallback xmlns="">
          <p:sp>
            <p:nvSpPr>
              <p:cNvPr id="6" name="Shape 6"/>
              <p:cNvSpPr/>
              <p:nvPr/>
            </p:nvSpPr>
            <p:spPr>
              <a:xfrm>
                <a:off x="548640" y="3520440"/>
                <a:ext cx="7863840" cy="1115568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1234440" tIns="91440" rIns="228600" bIns="91440" rtlCol="0" anchor="ctr">
                <a:noAutofit/>
              </a:bodyPr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1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កំណត់តួទី </a:t>
                </a:r>
                <a:r>
                  <a:rPr lang="km-KH" sz="21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n</a:t>
                </a:r>
                <a:r>
                  <a:rPr lang="km-KH" sz="21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តាមទំនាក់ទំនងរវាង </a:t>
                </a:r>
                <a:r>
                  <a:rPr lang="km-KH" sz="21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aₙ</a:t>
                </a:r>
                <a:r>
                  <a:rPr lang="km-KH" sz="21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និង </a:t>
                </a:r>
                <a:r>
                  <a:rPr lang="km-KH" sz="21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Sₙ</a:t>
                </a:r>
                <a:endParaRPr lang="en-US" sz="2100" dirty="0"/>
              </a:p>
            </p:txBody>
          </p:sp>
        </mc:Fallback>
      </mc:AlternateContent>
      <p:sp>
        <p:nvSpPr>
          <p:cNvPr id="7" name="Shape 7"/>
          <p:cNvSpPr/>
          <p:nvPr/>
        </p:nvSpPr>
        <p:spPr>
          <a:xfrm>
            <a:off x="822960" y="3758184"/>
            <a:ext cx="640080" cy="640080"/>
          </a:xfrm>
          <a:prstGeom prst="ellipse">
            <a:avLst/>
          </a:prstGeom>
          <a:solidFill>
            <a:srgbClr val="C0272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2400" b="1" dirty="0">
                <a:solidFill>
                  <a:srgbClr val="FFFFFF"/>
                </a:solidFill>
                <a:latin typeface="Kh Muol"/>
                <a:cs typeface="Kh Muol"/>
              </a:rPr>
              <a:t>២</a:t>
            </a:r>
            <a:endParaRPr lang="en-US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Shape 8"/>
              <p:cNvSpPr/>
              <p:nvPr/>
            </p:nvSpPr>
            <p:spPr>
              <a:xfrm>
                <a:off x="548640" y="4892040"/>
                <a:ext cx="7863840" cy="1115568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1234440" tIns="91440" rIns="228600" bIns="91440" rtlCol="0" anchor="ctr">
                <a:noAutofit/>
              </a:bodyPr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1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កំណត់តួទូទៅនៃទំនាក់ទំនងកំណើនទម្រង់</a:t>
                </a:r>
                <a:endParaRPr lang="en-US" sz="2100" dirty="0">
                  <a:solidFill>
                    <a:srgbClr val="1F2937"/>
                  </a:solidFill>
                  <a:latin typeface="Kh Battambang"/>
                  <a:cs typeface="Kh Battambang"/>
                </a:endParaRPr>
              </a:p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1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1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1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en-US" sz="21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+���</m:t>
                    </m:r>
                    <m:sSub>
                      <m:sSubPr>
                        <m:ctrlPr>
                          <a:rPr lang="en-US" sz="21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1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1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1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+���</m:t>
                    </m:r>
                    <m:sSub>
                      <m:sSubPr>
                        <m:ctrlPr>
                          <a:rPr lang="en-US" sz="21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1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1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100" dirty="0"/>
              </a:p>
            </p:txBody>
          </p:sp>
        </mc:Choice>
        <mc:Fallback>
          <p:sp>
            <p:nvSpPr>
              <p:cNvPr id="8" name="Shap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4892040"/>
                <a:ext cx="7863840" cy="1115568"/>
              </a:xfrm>
              <a:prstGeom prst="roundRect">
                <a:avLst>
                  <a:gd name="adj" fmla="val 9000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rgbClr val="D5E1E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hape 9"/>
          <p:cNvSpPr/>
          <p:nvPr/>
        </p:nvSpPr>
        <p:spPr>
          <a:xfrm>
            <a:off x="822960" y="5129784"/>
            <a:ext cx="640080" cy="64008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2400" b="1" dirty="0">
                <a:solidFill>
                  <a:srgbClr val="FFFFFF"/>
                </a:solidFill>
                <a:latin typeface="Kh Muol"/>
                <a:cs typeface="Kh Muol"/>
              </a:rPr>
              <a:t>៣</a:t>
            </a:r>
            <a:endParaRPr lang="en-US" sz="2400" dirty="0"/>
          </a:p>
        </p:txBody>
      </p:sp>
      <p:pic>
        <p:nvPicPr>
          <p:cNvPr id="10" name="Picture 10" descr="គោលដៅ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2240280"/>
            <a:ext cx="2651760" cy="2651760"/>
          </a:xfrm>
          <a:prstGeom prst="rect">
            <a:avLst/>
          </a:prstGeom>
        </p:spPr>
      </p:pic>
      <p:sp>
        <p:nvSpPr>
          <p:cNvPr id="11" name="Shape 11"/>
          <p:cNvSpPr txBox="1"/>
          <p:nvPr/>
        </p:nvSpPr>
        <p:spPr>
          <a:xfrm>
            <a:off x="8549640" y="5029200"/>
            <a:ext cx="338328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600" dirty="0">
                <a:solidFill>
                  <a:srgbClr val="5B6B7A"/>
                </a:solidFill>
                <a:latin typeface="Kh Battambang"/>
                <a:cs typeface="Kh Battambang"/>
              </a:rPr>
              <a:t>គោលដៅ៖ បំប្លែងទំនាក់ទំនងស្មុគស្មាញ ទៅជាស្វ៊ីតដែលយើងស្គាល់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m-KH" dirty="0"/>
              <a:t>រំលឹកស្វ៊ីតនព្វន្ត និងធរណីមាត្រ</a:t>
            </a:r>
          </a:p>
        </p:txBody>
      </p:sp>
      <p:sp>
        <p:nvSpPr>
          <p:cNvPr id="3" name="Shape 3"/>
          <p:cNvSpPr/>
          <p:nvPr/>
        </p:nvSpPr>
        <p:spPr>
          <a:xfrm>
            <a:off x="548640" y="1463040"/>
            <a:ext cx="5394960" cy="3977640"/>
          </a:xfrm>
          <a:prstGeom prst="roundRect">
            <a:avLst>
              <a:gd name="adj" fmla="val 9000"/>
            </a:avLst>
          </a:prstGeom>
          <a:solidFill>
            <a:srgbClr val="EAF2F8"/>
          </a:solidFill>
          <a:ln w="12700">
            <a:solidFill>
              <a:srgbClr val="EAF2F8"/>
            </a:solidFill>
          </a:ln>
          <a:effectLst>
            <a:outerShdw blurRad="88900" dist="25400" dir="5400000" algn="t" rotWithShape="0">
              <a:srgbClr val="0F2A3D">
                <a:alpha val="20000"/>
              </a:srgbClr>
            </a:outerShdw>
          </a:effectLst>
        </p:spPr>
        <p:txBody>
          <a:bodyPr wrap="square" lIns="182880" tIns="109728" rIns="182880" bIns="109728" rtlCol="0" anchor="t">
            <a:noAutofit/>
          </a:bodyPr>
          <a:lstStyle/>
          <a:p>
            <a:endParaRPr lang="en-US"/>
          </a:p>
        </p:txBody>
      </p:sp>
      <p:sp>
        <p:nvSpPr>
          <p:cNvPr id="4" name="Shape 4"/>
          <p:cNvSpPr/>
          <p:nvPr/>
        </p:nvSpPr>
        <p:spPr>
          <a:xfrm>
            <a:off x="822960" y="1645920"/>
            <a:ext cx="2377440" cy="420624"/>
          </a:xfrm>
          <a:prstGeom prst="roundRect">
            <a:avLst>
              <a:gd name="adj" fmla="val 50000"/>
            </a:avLst>
          </a:prstGeom>
          <a:solidFill>
            <a:srgbClr val="0F5174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700" b="1" dirty="0">
                <a:solidFill>
                  <a:srgbClr val="FFFFFF"/>
                </a:solidFill>
                <a:latin typeface="Kh Battambang"/>
                <a:cs typeface="Kh Battambang"/>
              </a:rPr>
              <a:t>ស្វ៊ីតនព្វន្ត</a:t>
            </a:r>
            <a:endParaRPr lang="en-US" sz="1700" dirty="0"/>
          </a:p>
        </p:txBody>
      </p:sp>
      <p:sp>
        <p:nvSpPr>
          <p:cNvPr id="5" name="Shape 5"/>
          <p:cNvSpPr/>
          <p:nvPr/>
        </p:nvSpPr>
        <p:spPr>
          <a:xfrm>
            <a:off x="1051560" y="2788920"/>
            <a:ext cx="713232" cy="713232"/>
          </a:xfrm>
          <a:prstGeom prst="ellipse">
            <a:avLst/>
          </a:prstGeom>
          <a:solidFill>
            <a:srgbClr val="0F517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2000" b="1" dirty="0">
                <a:solidFill>
                  <a:srgbClr val="FFFFFF"/>
                </a:solidFill>
                <a:latin typeface="Kh Battambang"/>
                <a:cs typeface="Kh Battambang"/>
              </a:rPr>
              <a:t>2</a:t>
            </a:r>
            <a:endParaRPr lang="en-US" sz="2000" dirty="0"/>
          </a:p>
        </p:txBody>
      </p:sp>
      <p:sp>
        <p:nvSpPr>
          <p:cNvPr id="6" name="Shape 6"/>
          <p:cNvSpPr/>
          <p:nvPr/>
        </p:nvSpPr>
        <p:spPr>
          <a:xfrm>
            <a:off x="2286000" y="2788920"/>
            <a:ext cx="713232" cy="7132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2000" b="1" dirty="0">
                <a:solidFill>
                  <a:srgbClr val="0F5174"/>
                </a:solidFill>
                <a:latin typeface="Kh Battambang"/>
                <a:cs typeface="Kh Battambang"/>
              </a:rPr>
              <a:t>5</a:t>
            </a:r>
            <a:endParaRPr lang="en-US" sz="2000" dirty="0"/>
          </a:p>
        </p:txBody>
      </p:sp>
      <p:sp>
        <p:nvSpPr>
          <p:cNvPr id="7" name="Shape 7"/>
          <p:cNvSpPr/>
          <p:nvPr/>
        </p:nvSpPr>
        <p:spPr>
          <a:xfrm>
            <a:off x="3520440" y="2788920"/>
            <a:ext cx="713232" cy="7132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2000" b="1" dirty="0">
                <a:solidFill>
                  <a:srgbClr val="0F5174"/>
                </a:solidFill>
                <a:latin typeface="Kh Battambang"/>
                <a:cs typeface="Kh Battambang"/>
              </a:rPr>
              <a:t>8</a:t>
            </a:r>
            <a:endParaRPr lang="en-US" sz="2000" dirty="0"/>
          </a:p>
        </p:txBody>
      </p:sp>
      <p:sp>
        <p:nvSpPr>
          <p:cNvPr id="8" name="Shape 8"/>
          <p:cNvSpPr/>
          <p:nvPr/>
        </p:nvSpPr>
        <p:spPr>
          <a:xfrm>
            <a:off x="4754880" y="2788920"/>
            <a:ext cx="713232" cy="7132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2000" b="1" dirty="0">
                <a:solidFill>
                  <a:srgbClr val="0F5174"/>
                </a:solidFill>
                <a:latin typeface="Kh Battambang"/>
                <a:cs typeface="Kh Battambang"/>
              </a:rPr>
              <a:t>11</a:t>
            </a:r>
            <a:endParaRPr lang="en-US" sz="2000" dirty="0"/>
          </a:p>
        </p:txBody>
      </p:sp>
      <p:sp>
        <p:nvSpPr>
          <p:cNvPr id="9" name="Arc 9"/>
          <p:cNvSpPr/>
          <p:nvPr/>
        </p:nvSpPr>
        <p:spPr>
          <a:xfrm>
            <a:off x="1408176" y="2359152"/>
            <a:ext cx="1234440" cy="768096"/>
          </a:xfrm>
          <a:prstGeom prst="arc">
            <a:avLst>
              <a:gd name="adj1" fmla="val 10800000"/>
              <a:gd name="adj2" fmla="val 0"/>
            </a:avLst>
          </a:prstGeom>
          <a:noFill/>
          <a:ln w="25400">
            <a:solidFill>
              <a:srgbClr val="0F5174"/>
            </a:solidFill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10"/>
          <p:cNvSpPr txBox="1"/>
          <p:nvPr/>
        </p:nvSpPr>
        <p:spPr>
          <a:xfrm>
            <a:off x="1408176" y="2176272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600" b="1" dirty="0">
                <a:solidFill>
                  <a:srgbClr val="0F5174"/>
                </a:solidFill>
                <a:latin typeface="Kh Battambang"/>
                <a:cs typeface="Kh Battambang"/>
              </a:rPr>
              <a:t>+3</a:t>
            </a:r>
            <a:endParaRPr lang="en-US" sz="1600" dirty="0"/>
          </a:p>
        </p:txBody>
      </p:sp>
      <p:sp>
        <p:nvSpPr>
          <p:cNvPr id="11" name="Arc 11"/>
          <p:cNvSpPr/>
          <p:nvPr/>
        </p:nvSpPr>
        <p:spPr>
          <a:xfrm>
            <a:off x="2642616" y="2359152"/>
            <a:ext cx="1234440" cy="768096"/>
          </a:xfrm>
          <a:prstGeom prst="arc">
            <a:avLst>
              <a:gd name="adj1" fmla="val 10800000"/>
              <a:gd name="adj2" fmla="val 0"/>
            </a:avLst>
          </a:prstGeom>
          <a:noFill/>
          <a:ln w="25400">
            <a:solidFill>
              <a:srgbClr val="0F5174"/>
            </a:solidFill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2"/>
          <p:cNvSpPr txBox="1"/>
          <p:nvPr/>
        </p:nvSpPr>
        <p:spPr>
          <a:xfrm>
            <a:off x="2642616" y="2176272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600" b="1" dirty="0">
                <a:solidFill>
                  <a:srgbClr val="0F5174"/>
                </a:solidFill>
                <a:latin typeface="Kh Battambang"/>
                <a:cs typeface="Kh Battambang"/>
              </a:rPr>
              <a:t>+3</a:t>
            </a:r>
            <a:endParaRPr lang="en-US" sz="1600" dirty="0"/>
          </a:p>
        </p:txBody>
      </p:sp>
      <p:sp>
        <p:nvSpPr>
          <p:cNvPr id="13" name="Arc 13"/>
          <p:cNvSpPr/>
          <p:nvPr/>
        </p:nvSpPr>
        <p:spPr>
          <a:xfrm>
            <a:off x="3877056" y="2359152"/>
            <a:ext cx="1234440" cy="768096"/>
          </a:xfrm>
          <a:prstGeom prst="arc">
            <a:avLst>
              <a:gd name="adj1" fmla="val 10800000"/>
              <a:gd name="adj2" fmla="val 0"/>
            </a:avLst>
          </a:prstGeom>
          <a:noFill/>
          <a:ln w="25400">
            <a:solidFill>
              <a:srgbClr val="0F5174"/>
            </a:solidFill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4"/>
          <p:cNvSpPr txBox="1"/>
          <p:nvPr/>
        </p:nvSpPr>
        <p:spPr>
          <a:xfrm>
            <a:off x="3877056" y="2176272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600" b="1" dirty="0">
                <a:solidFill>
                  <a:srgbClr val="0F5174"/>
                </a:solidFill>
                <a:latin typeface="Kh Battambang"/>
                <a:cs typeface="Kh Battambang"/>
              </a:rPr>
              <a:t>+3</a:t>
            </a:r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Shape 15"/>
              <p:cNvSpPr txBox="1"/>
              <p:nvPr/>
            </p:nvSpPr>
            <p:spPr>
              <a:xfrm>
                <a:off x="868680" y="3703320"/>
                <a:ext cx="4846320" cy="1645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>
                <a:noAutofit/>
              </a:bodyPr>
              <a:lstStyle/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ទំនាក់ទំនង៖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+���</m:t>
                    </m:r>
                    <m:r>
                      <a:rPr lang="en-US" sz="1900" b="0" i="1" dirty="0" smtClean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en-US" sz="1900" dirty="0"/>
              </a:p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តួទូទៅ៖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1900" b="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900" b="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900" b="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sz="1900" b="0" i="1" dirty="0" smtClean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1900" b="0" i="1" dirty="0" smtClean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���</m:t>
                    </m:r>
                  </m:oMath>
                </a14:m>
                <a:endParaRPr lang="en-US" sz="1900" dirty="0"/>
              </a:p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ផលបូក៖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1900" i="1" dirty="0">
                                <a:solidFill>
                                  <a:srgbClr val="1F293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i="1" dirty="0">
                                <a:solidFill>
                                  <a:srgbClr val="1F293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900" i="1" dirty="0">
                                <a:solidFill>
                                  <a:srgbClr val="1F293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sz="1900" i="1" dirty="0">
                                <a:solidFill>
                                  <a:srgbClr val="1F293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i="1" dirty="0">
                                <a:solidFill>
                                  <a:srgbClr val="1F293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900" i="1" dirty="0">
                                <a:solidFill>
                                  <a:srgbClr val="1F293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1900" dirty="0"/>
              </a:p>
            </p:txBody>
          </p:sp>
        </mc:Choice>
        <mc:Fallback>
          <p:sp>
            <p:nvSpPr>
              <p:cNvPr id="15" name="Shape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680" y="3703320"/>
                <a:ext cx="4846320" cy="1645920"/>
              </a:xfrm>
              <a:prstGeom prst="rect">
                <a:avLst/>
              </a:prstGeom>
              <a:blipFill>
                <a:blip r:embed="rId2"/>
                <a:stretch>
                  <a:fillRect l="-3145" t="-11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Shape 16"/>
          <p:cNvSpPr/>
          <p:nvPr/>
        </p:nvSpPr>
        <p:spPr>
          <a:xfrm>
            <a:off x="6245352" y="1463040"/>
            <a:ext cx="5394960" cy="3977640"/>
          </a:xfrm>
          <a:prstGeom prst="roundRect">
            <a:avLst>
              <a:gd name="adj" fmla="val 9000"/>
            </a:avLst>
          </a:prstGeom>
          <a:solidFill>
            <a:srgbClr val="FCEDEE"/>
          </a:solidFill>
          <a:ln w="12700">
            <a:solidFill>
              <a:srgbClr val="FCEDEE"/>
            </a:solidFill>
          </a:ln>
          <a:effectLst>
            <a:outerShdw blurRad="88900" dist="25400" dir="5400000" algn="t" rotWithShape="0">
              <a:srgbClr val="0F2A3D">
                <a:alpha val="20000"/>
              </a:srgbClr>
            </a:outerShdw>
          </a:effectLst>
        </p:spPr>
        <p:txBody>
          <a:bodyPr wrap="square" lIns="182880" tIns="109728" rIns="182880" bIns="109728" rtlCol="0" anchor="t">
            <a:noAutofit/>
          </a:bodyPr>
          <a:lstStyle/>
          <a:p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6519672" y="1645920"/>
            <a:ext cx="2377440" cy="420624"/>
          </a:xfrm>
          <a:prstGeom prst="roundRect">
            <a:avLst>
              <a:gd name="adj" fmla="val 50000"/>
            </a:avLst>
          </a:prstGeom>
          <a:solidFill>
            <a:srgbClr val="C0272D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700" b="1" dirty="0">
                <a:solidFill>
                  <a:srgbClr val="FFFFFF"/>
                </a:solidFill>
                <a:latin typeface="Kh Battambang"/>
                <a:cs typeface="Kh Battambang"/>
              </a:rPr>
              <a:t>ស្វ៊ីតធរណីមាត្រ</a:t>
            </a:r>
            <a:endParaRPr lang="en-US" sz="1700" dirty="0"/>
          </a:p>
        </p:txBody>
      </p:sp>
      <p:sp>
        <p:nvSpPr>
          <p:cNvPr id="18" name="Shape 18"/>
          <p:cNvSpPr/>
          <p:nvPr/>
        </p:nvSpPr>
        <p:spPr>
          <a:xfrm>
            <a:off x="6748272" y="2788920"/>
            <a:ext cx="713232" cy="713232"/>
          </a:xfrm>
          <a:prstGeom prst="ellipse">
            <a:avLst/>
          </a:prstGeom>
          <a:solidFill>
            <a:srgbClr val="C0272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2000" b="1" dirty="0">
                <a:solidFill>
                  <a:srgbClr val="FFFFFF"/>
                </a:solidFill>
                <a:latin typeface="Kh Battambang"/>
                <a:cs typeface="Kh Battambang"/>
              </a:rPr>
              <a:t>3</a:t>
            </a:r>
            <a:endParaRPr lang="en-US" sz="2000" dirty="0"/>
          </a:p>
        </p:txBody>
      </p:sp>
      <p:sp>
        <p:nvSpPr>
          <p:cNvPr id="19" name="Shape 19"/>
          <p:cNvSpPr/>
          <p:nvPr/>
        </p:nvSpPr>
        <p:spPr>
          <a:xfrm>
            <a:off x="7982712" y="2788920"/>
            <a:ext cx="713232" cy="7132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2000" b="1" dirty="0">
                <a:solidFill>
                  <a:srgbClr val="C0272D"/>
                </a:solidFill>
                <a:latin typeface="Kh Battambang"/>
                <a:cs typeface="Kh Battambang"/>
              </a:rPr>
              <a:t>6</a:t>
            </a:r>
            <a:endParaRPr lang="en-US" sz="2000" dirty="0"/>
          </a:p>
        </p:txBody>
      </p:sp>
      <p:sp>
        <p:nvSpPr>
          <p:cNvPr id="20" name="Shape 20"/>
          <p:cNvSpPr/>
          <p:nvPr/>
        </p:nvSpPr>
        <p:spPr>
          <a:xfrm>
            <a:off x="9217152" y="2788920"/>
            <a:ext cx="713232" cy="7132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2000" b="1" dirty="0">
                <a:solidFill>
                  <a:srgbClr val="C0272D"/>
                </a:solidFill>
                <a:latin typeface="Kh Battambang"/>
                <a:cs typeface="Kh Battambang"/>
              </a:rPr>
              <a:t>12</a:t>
            </a:r>
            <a:endParaRPr lang="en-US" sz="2000" dirty="0"/>
          </a:p>
        </p:txBody>
      </p:sp>
      <p:sp>
        <p:nvSpPr>
          <p:cNvPr id="21" name="Shape 21"/>
          <p:cNvSpPr/>
          <p:nvPr/>
        </p:nvSpPr>
        <p:spPr>
          <a:xfrm>
            <a:off x="10451592" y="2788920"/>
            <a:ext cx="713232" cy="7132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2000" b="1" dirty="0">
                <a:solidFill>
                  <a:srgbClr val="C0272D"/>
                </a:solidFill>
                <a:latin typeface="Kh Battambang"/>
                <a:cs typeface="Kh Battambang"/>
              </a:rPr>
              <a:t>24</a:t>
            </a:r>
            <a:endParaRPr lang="en-US" sz="2000" dirty="0"/>
          </a:p>
        </p:txBody>
      </p:sp>
      <p:sp>
        <p:nvSpPr>
          <p:cNvPr id="22" name="Arc 22"/>
          <p:cNvSpPr/>
          <p:nvPr/>
        </p:nvSpPr>
        <p:spPr>
          <a:xfrm>
            <a:off x="7104888" y="2359152"/>
            <a:ext cx="1234440" cy="768096"/>
          </a:xfrm>
          <a:prstGeom prst="arc">
            <a:avLst>
              <a:gd name="adj1" fmla="val 10800000"/>
              <a:gd name="adj2" fmla="val 0"/>
            </a:avLst>
          </a:prstGeom>
          <a:noFill/>
          <a:ln w="25400">
            <a:solidFill>
              <a:srgbClr val="C0272D"/>
            </a:solidFill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3"/>
          <p:cNvSpPr txBox="1"/>
          <p:nvPr/>
        </p:nvSpPr>
        <p:spPr>
          <a:xfrm>
            <a:off x="7104888" y="2176272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600" b="1" dirty="0">
                <a:solidFill>
                  <a:srgbClr val="C0272D"/>
                </a:solidFill>
                <a:latin typeface="Kh Battambang"/>
                <a:cs typeface="Kh Battambang"/>
              </a:rPr>
              <a:t>×2</a:t>
            </a:r>
            <a:endParaRPr lang="en-US" sz="1600" dirty="0"/>
          </a:p>
        </p:txBody>
      </p:sp>
      <p:sp>
        <p:nvSpPr>
          <p:cNvPr id="24" name="Arc 24"/>
          <p:cNvSpPr/>
          <p:nvPr/>
        </p:nvSpPr>
        <p:spPr>
          <a:xfrm>
            <a:off x="8339328" y="2359152"/>
            <a:ext cx="1234440" cy="768096"/>
          </a:xfrm>
          <a:prstGeom prst="arc">
            <a:avLst>
              <a:gd name="adj1" fmla="val 10800000"/>
              <a:gd name="adj2" fmla="val 0"/>
            </a:avLst>
          </a:prstGeom>
          <a:noFill/>
          <a:ln w="25400">
            <a:solidFill>
              <a:srgbClr val="C0272D"/>
            </a:solidFill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5"/>
          <p:cNvSpPr txBox="1"/>
          <p:nvPr/>
        </p:nvSpPr>
        <p:spPr>
          <a:xfrm>
            <a:off x="8339328" y="2176272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600" b="1" dirty="0">
                <a:solidFill>
                  <a:srgbClr val="C0272D"/>
                </a:solidFill>
                <a:latin typeface="Kh Battambang"/>
                <a:cs typeface="Kh Battambang"/>
              </a:rPr>
              <a:t>×2</a:t>
            </a:r>
            <a:endParaRPr lang="en-US" sz="1600" dirty="0"/>
          </a:p>
        </p:txBody>
      </p:sp>
      <p:sp>
        <p:nvSpPr>
          <p:cNvPr id="26" name="Arc 26"/>
          <p:cNvSpPr/>
          <p:nvPr/>
        </p:nvSpPr>
        <p:spPr>
          <a:xfrm>
            <a:off x="9573768" y="2359152"/>
            <a:ext cx="1234440" cy="768096"/>
          </a:xfrm>
          <a:prstGeom prst="arc">
            <a:avLst>
              <a:gd name="adj1" fmla="val 10800000"/>
              <a:gd name="adj2" fmla="val 0"/>
            </a:avLst>
          </a:prstGeom>
          <a:noFill/>
          <a:ln w="25400">
            <a:solidFill>
              <a:srgbClr val="C0272D"/>
            </a:solidFill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7"/>
          <p:cNvSpPr txBox="1"/>
          <p:nvPr/>
        </p:nvSpPr>
        <p:spPr>
          <a:xfrm>
            <a:off x="9573768" y="2176272"/>
            <a:ext cx="123444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600" b="1" dirty="0">
                <a:solidFill>
                  <a:srgbClr val="C0272D"/>
                </a:solidFill>
                <a:latin typeface="Kh Battambang"/>
                <a:cs typeface="Kh Battambang"/>
              </a:rPr>
              <a:t>×2</a:t>
            </a:r>
            <a:endParaRPr lang="en-US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Shape 28"/>
              <p:cNvSpPr txBox="1"/>
              <p:nvPr/>
            </p:nvSpPr>
            <p:spPr>
              <a:xfrm>
                <a:off x="6565392" y="3703320"/>
                <a:ext cx="4846320" cy="1645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>
                <a:noAutofit/>
              </a:bodyPr>
              <a:lstStyle/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ទំនាក់ទំនង៖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·���</m:t>
                    </m:r>
                  </m:oMath>
                </a14:m>
                <a:r>
                  <a:rPr lang="en-US" sz="1900" dirty="0"/>
                  <a:t>q</a:t>
                </a:r>
              </a:p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តួទូទៅ៖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sz="1900" dirty="0"/>
              </a:p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200"/>
                  </a:spcAft>
                  <a:buNone/>
                </a:pP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ផលបូក៖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1900" i="1" dirty="0">
                                <a:solidFill>
                                  <a:srgbClr val="1F293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900" i="1" dirty="0">
                                <a:solidFill>
                                  <a:srgbClr val="1F293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1900" i="1" dirty="0">
                                <a:solidFill>
                                  <a:srgbClr val="1F293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1900" i="1" dirty="0">
                                <a:solidFill>
                                  <a:srgbClr val="1F293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900" i="1" dirty="0">
                                <a:solidFill>
                                  <a:srgbClr val="1F2937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sz="1900" i="1" dirty="0">
                                <a:solidFill>
                                  <a:srgbClr val="1F293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−1)</m:t>
                        </m:r>
                      </m:num>
                      <m:den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 (���≠1)</m:t>
                    </m:r>
                  </m:oMath>
                </a14:m>
                <a:endParaRPr lang="en-US" sz="1900" dirty="0"/>
              </a:p>
            </p:txBody>
          </p:sp>
        </mc:Choice>
        <mc:Fallback>
          <p:sp>
            <p:nvSpPr>
              <p:cNvPr id="28" name="Shape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5392" y="3703320"/>
                <a:ext cx="4846320" cy="1645920"/>
              </a:xfrm>
              <a:prstGeom prst="rect">
                <a:avLst/>
              </a:prstGeom>
              <a:blipFill>
                <a:blip r:embed="rId3"/>
                <a:stretch>
                  <a:fillRect l="-3019" t="-259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Shape 29"/>
          <p:cNvSpPr/>
          <p:nvPr/>
        </p:nvSpPr>
        <p:spPr>
          <a:xfrm>
            <a:off x="548640" y="5596128"/>
            <a:ext cx="11091672" cy="868680"/>
          </a:xfrm>
          <a:prstGeom prst="roundRect">
            <a:avLst>
              <a:gd name="adj" fmla="val 9000"/>
            </a:avLst>
          </a:prstGeom>
          <a:solidFill>
            <a:srgbClr val="FFF6DC"/>
          </a:solidFill>
          <a:ln w="12700">
            <a:solidFill>
              <a:srgbClr val="F1D58A"/>
            </a:solidFill>
          </a:ln>
          <a:effectLst>
            <a:outerShdw blurRad="88900" dist="25400" dir="5400000" algn="t" rotWithShape="0">
              <a:srgbClr val="0F2A3D">
                <a:alpha val="20000"/>
              </a:srgbClr>
            </a:outerShdw>
          </a:effectLst>
        </p:spPr>
        <p:txBody>
          <a:bodyPr wrap="square" lIns="868680" tIns="45720" rIns="182880" bIns="45720" rtlCol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900" b="1" dirty="0">
                <a:solidFill>
                  <a:srgbClr val="8A6200"/>
                </a:solidFill>
                <a:latin typeface="Kh Battambang"/>
                <a:cs typeface="Kh Battambang"/>
              </a:rPr>
              <a:t>គន្លឹះ៖ </a:t>
            </a:r>
            <a:r>
              <a:rPr lang="km-KH" sz="1900" dirty="0">
                <a:solidFill>
                  <a:srgbClr val="1F2937"/>
                </a:solidFill>
                <a:latin typeface="Kh Battambang"/>
                <a:cs typeface="Kh Battambang"/>
              </a:rPr>
              <a:t>គ្រប់វិធីក្នុងមេរៀននេះ គឺបំប្លែងស្វ៊ីតថ្មី ឲ្យក្លាយជាស្វ៊ីតនព្វន្ត ឬស្វ៊ីតធរណីមាត្រ</a:t>
            </a:r>
            <a:endParaRPr lang="en-US" sz="1900" dirty="0"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5779008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2509114" cy="6858000"/>
          </a:xfrm>
          <a:prstGeom prst="rect">
            <a:avLst/>
          </a:prstGeom>
          <a:solidFill>
            <a:srgbClr val="0F5174"/>
          </a:solidFill>
          <a:ln>
            <a:noFill/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pic>
        <p:nvPicPr>
          <p:cNvPr id="3" name="Picture 3" descr="E-School Cambodi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74" y="1057046"/>
            <a:ext cx="2003450" cy="200345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349301" y="4570171"/>
            <a:ext cx="1810512" cy="168250"/>
          </a:xfrm>
          <a:prstGeom prst="rect">
            <a:avLst/>
          </a:prstGeom>
        </p:spPr>
      </p:pic>
      <p:sp>
        <p:nvSpPr>
          <p:cNvPr id="5" name="Shape 5"/>
          <p:cNvSpPr/>
          <p:nvPr/>
        </p:nvSpPr>
        <p:spPr>
          <a:xfrm>
            <a:off x="3108960" y="914400"/>
            <a:ext cx="1143000" cy="1143000"/>
          </a:xfrm>
          <a:prstGeom prst="ellipse">
            <a:avLst/>
          </a:prstGeom>
          <a:solidFill>
            <a:srgbClr val="C0272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4000" b="1" dirty="0">
                <a:solidFill>
                  <a:srgbClr val="FFFFFF"/>
                </a:solidFill>
                <a:latin typeface="Kh Muol"/>
                <a:cs typeface="Kh Muol"/>
              </a:rPr>
              <a:t>១</a:t>
            </a:r>
            <a:endParaRPr lang="en-US" sz="4000" dirty="0"/>
          </a:p>
        </p:txBody>
      </p:sp>
      <p:sp>
        <p:nvSpPr>
          <p:cNvPr id="6" name="Shape 6"/>
          <p:cNvSpPr txBox="1"/>
          <p:nvPr/>
        </p:nvSpPr>
        <p:spPr>
          <a:xfrm>
            <a:off x="4526280" y="914400"/>
            <a:ext cx="7132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800" b="1" dirty="0">
                <a:solidFill>
                  <a:srgbClr val="C0272D"/>
                </a:solidFill>
                <a:latin typeface="Kh Battambang"/>
                <a:cs typeface="Kh Battambang"/>
              </a:rPr>
              <a:t>ផ្នែកទី ១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Shape 7"/>
              <p:cNvSpPr txBox="1"/>
              <p:nvPr/>
            </p:nvSpPr>
            <p:spPr>
              <a:xfrm>
                <a:off x="4526280" y="1371600"/>
                <a:ext cx="722376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>
                <a:noAutofit/>
              </a:bodyPr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800" dirty="0">
                    <a:solidFill>
                      <a:srgbClr val="0F5174"/>
                    </a:solidFill>
                    <a:latin typeface="Kh Muol"/>
                    <a:cs typeface="Kh Muol"/>
                  </a:rPr>
                  <a:t>កំណត់តួទី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0F5174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m-KH" sz="2800" dirty="0">
                    <a:solidFill>
                      <a:srgbClr val="0F5174"/>
                    </a:solidFill>
                    <a:latin typeface="Kh Muol"/>
                    <a:cs typeface="Kh Muol"/>
                  </a:rPr>
                  <a:t> ដោយប្រើស្វ៊ីតជំនួយ</a:t>
                </a:r>
                <a:endParaRPr lang="en-US" sz="2800" dirty="0"/>
              </a:p>
            </p:txBody>
          </p:sp>
        </mc:Choice>
        <mc:Fallback xmlns="">
          <p:sp>
            <p:nvSpPr>
              <p:cNvPr id="7" name="Shape 7"/>
              <p:cNvSpPr txBox="1"/>
              <p:nvPr/>
            </p:nvSpPr>
            <p:spPr>
              <a:xfrm>
                <a:off x="4526280" y="1371600"/>
                <a:ext cx="722376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>
                <a:noAutofit/>
              </a:bodyPr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800" dirty="0">
                    <a:solidFill>
                      <a:srgbClr val="0F5174"/>
                    </a:solidFill>
                    <a:latin typeface="Kh Muol"/>
                    <a:cs typeface="Kh Muol"/>
                  </a:rPr>
                  <a:t>កំណត់តួទី </a:t>
                </a:r>
                <a:r>
                  <a:rPr lang="km-KH" sz="2800" i="1" dirty="0">
                    <a:solidFill>
                      <a:srgbClr val="0F5174"/>
                    </a:solidFill>
                    <a:latin typeface="Cambria Math"/>
                    <a:cs typeface="Cambria Math"/>
                  </a:rPr>
                  <a:t>n</a:t>
                </a:r>
                <a:r>
                  <a:rPr lang="km-KH" sz="2800" dirty="0">
                    <a:solidFill>
                      <a:srgbClr val="0F5174"/>
                    </a:solidFill>
                    <a:latin typeface="Kh Muol"/>
                    <a:cs typeface="Kh Muol"/>
                  </a:rPr>
                  <a:t> ដោយប្រើស្វ៊ីតជំនួយ</a:t>
                </a:r>
                <a:endParaRPr lang="en-US" sz="2800" dirty="0"/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Shape 8"/>
              <p:cNvSpPr/>
              <p:nvPr/>
            </p:nvSpPr>
            <p:spPr>
              <a:xfrm>
                <a:off x="3108960" y="2697480"/>
                <a:ext cx="8595360" cy="731520"/>
              </a:xfrm>
              <a:prstGeom prst="roundRect">
                <a:avLst>
                  <a:gd name="adj" fmla="val 9000"/>
                </a:avLst>
              </a:prstGeom>
              <a:solidFill>
                <a:srgbClr val="EAF2F8"/>
              </a:solidFill>
              <a:ln w="12700">
                <a:solidFill>
                  <a:srgbClr val="EAF2F8"/>
                </a:solidFill>
              </a:ln>
            </p:spPr>
            <p:txBody>
              <a:bodyPr wrap="square" lIns="274320" tIns="45720" rIns="182880" bIns="4572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ទម្រង់៖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=���</m:t>
                    </m:r>
                    <m:sSub>
                      <m:sSubPr>
                        <m:ctrlPr>
                          <a:rPr lang="en-US" sz="2000" b="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dirty="0" smtClean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+���</m:t>
                    </m:r>
                    <m:r>
                      <a:rPr lang="en-US" sz="2000" b="0" i="1" dirty="0" smtClean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𝑞𝑛</m:t>
                    </m:r>
                    <m:r>
                      <a:rPr lang="en-US" sz="2000" b="0" i="1" dirty="0" smtClean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000" b="0" i="1" dirty="0" smtClean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  </a:t>
                </a:r>
                <a:endParaRPr lang="en-US" sz="2000" dirty="0"/>
              </a:p>
            </p:txBody>
          </p:sp>
        </mc:Choice>
        <mc:Fallback>
          <p:sp>
            <p:nvSpPr>
              <p:cNvPr id="8" name="Shap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8960" y="2697480"/>
                <a:ext cx="8595360" cy="731520"/>
              </a:xfrm>
              <a:prstGeom prst="roundRect">
                <a:avLst>
                  <a:gd name="adj" fmla="val 9000"/>
                </a:avLst>
              </a:prstGeom>
              <a:blipFill>
                <a:blip r:embed="rId4"/>
                <a:stretch>
                  <a:fillRect/>
                </a:stretch>
              </a:blipFill>
              <a:ln w="12700">
                <a:solidFill>
                  <a:srgbClr val="EAF2F8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2681" y="3611880"/>
            <a:ext cx="6527919" cy="2880360"/>
          </a:xfrm>
          <a:prstGeom prst="rect">
            <a:avLst/>
          </a:prstGeom>
        </p:spPr>
      </p:pic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m-KH" dirty="0"/>
              <a:t>១. កំណត់តួទី </a:t>
            </a:r>
            <a:r>
              <a:rPr lang="en-US" dirty="0"/>
              <a:t>n</a:t>
            </a:r>
            <a:r>
              <a:rPr lang="km-KH" dirty="0"/>
              <a:t> ដោយប្រើស្វ៊ីតជំនួយ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hape 3"/>
              <p:cNvSpPr/>
              <p:nvPr/>
            </p:nvSpPr>
            <p:spPr>
              <a:xfrm>
                <a:off x="548640" y="1417320"/>
                <a:ext cx="11091672" cy="868680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2377440" tIns="73152" rIns="228600" bIns="73152" rtlCol="0" anchor="ctr">
                <a:noAutofit/>
              </a:bodyPr>
              <a:lstStyle/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កំណត់តួទូទៅនៃស្វ៊ីត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ដោយទំនាក់ទំនងកំណើន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=1 , 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=1+4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។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Shape 3"/>
              <p:cNvSpPr/>
              <p:nvPr/>
            </p:nvSpPr>
            <p:spPr>
              <a:xfrm>
                <a:off x="548640" y="1417320"/>
                <a:ext cx="11091672" cy="868680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2377440" tIns="73152" rIns="228600" bIns="73152" rtlCol="0" anchor="ctr">
                <a:noAutofit/>
              </a:bodyPr>
              <a:lstStyle/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កំណត់តួទូទៅនៃស្វ៊ីត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(aₙ)</a:t>
                </a: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ដោយទំនាក់ទំនងកំណើន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a₁=1 , aₙ₊₁=1+4aₙ</a:t>
                </a: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។</a:t>
                </a:r>
                <a:endParaRPr lang="en-US" sz="2000" dirty="0"/>
              </a:p>
            </p:txBody>
          </p:sp>
        </mc:Fallback>
      </mc:AlternateContent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600200"/>
            <a:ext cx="502920" cy="502920"/>
          </a:xfrm>
          <a:prstGeom prst="rect">
            <a:avLst/>
          </a:prstGeom>
        </p:spPr>
      </p:pic>
      <p:sp>
        <p:nvSpPr>
          <p:cNvPr id="5" name="Shape 5"/>
          <p:cNvSpPr/>
          <p:nvPr/>
        </p:nvSpPr>
        <p:spPr>
          <a:xfrm>
            <a:off x="1298448" y="1641348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C0272D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600" b="1" dirty="0">
                <a:solidFill>
                  <a:srgbClr val="FFFFFF"/>
                </a:solidFill>
                <a:latin typeface="Kh Battambang"/>
                <a:cs typeface="Kh Battambang"/>
              </a:rPr>
              <a:t>លំហាត់គំរូ ១</a:t>
            </a:r>
            <a:endParaRPr lang="en-US" sz="1600" dirty="0"/>
          </a:p>
        </p:txBody>
      </p:sp>
      <p:sp>
        <p:nvSpPr>
          <p:cNvPr id="6" name="Shape 6"/>
          <p:cNvSpPr/>
          <p:nvPr/>
        </p:nvSpPr>
        <p:spPr>
          <a:xfrm>
            <a:off x="548640" y="2487168"/>
            <a:ext cx="5120640" cy="420624"/>
          </a:xfrm>
          <a:prstGeom prst="roundRect">
            <a:avLst>
              <a:gd name="adj" fmla="val 50000"/>
            </a:avLst>
          </a:prstGeom>
          <a:solidFill>
            <a:srgbClr val="0F5174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600" b="1" dirty="0">
                <a:solidFill>
                  <a:srgbClr val="FFFFFF"/>
                </a:solidFill>
                <a:latin typeface="Kh Battambang"/>
                <a:cs typeface="Kh Battambang"/>
              </a:rPr>
              <a:t>របៀបទី ១៖ គណនាតួដំបូងៗ រួចរកលំនាំ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Shape 7"/>
              <p:cNvSpPr txBox="1"/>
              <p:nvPr/>
            </p:nvSpPr>
            <p:spPr>
              <a:xfrm>
                <a:off x="822960" y="3017520"/>
                <a:ext cx="6766560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=1+4</m:t>
                      </m:r>
                      <m:sSub>
                        <m:sSubPr>
                          <m:ctrlP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=1+4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Shape 7"/>
              <p:cNvSpPr txBox="1"/>
              <p:nvPr/>
            </p:nvSpPr>
            <p:spPr>
              <a:xfrm>
                <a:off x="822960" y="3017520"/>
                <a:ext cx="6766560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a₂=1+4a₁=1+4</a:t>
                </a:r>
                <a:endParaRPr lang="en-US" sz="20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Shape 8"/>
              <p:cNvSpPr txBox="1"/>
              <p:nvPr/>
            </p:nvSpPr>
            <p:spPr>
              <a:xfrm>
                <a:off x="822960" y="3566160"/>
                <a:ext cx="6766560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=1+4</m:t>
                      </m:r>
                      <m:sSub>
                        <m:sSubPr>
                          <m:ctrlP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=1+4·(1+4)=1+4+</m:t>
                      </m:r>
                      <m:sSup>
                        <m:sSupPr>
                          <m:ctrlP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Shape 8"/>
              <p:cNvSpPr txBox="1"/>
              <p:nvPr/>
            </p:nvSpPr>
            <p:spPr>
              <a:xfrm>
                <a:off x="822960" y="3566160"/>
                <a:ext cx="6766560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a₃=1+4a₂=1+4·(1+4)=1+4+4²</a:t>
                </a:r>
                <a:endParaRPr lang="en-US" sz="20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Shape 9"/>
              <p:cNvSpPr txBox="1"/>
              <p:nvPr/>
            </p:nvSpPr>
            <p:spPr>
              <a:xfrm>
                <a:off x="822960" y="4114800"/>
                <a:ext cx="6766560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0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=1+4</m:t>
                      </m:r>
                      <m:sSub>
                        <m:sSubPr>
                          <m:ctrlP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=1+4+</m:t>
                      </m:r>
                      <m:sSup>
                        <m:sSupPr>
                          <m:ctrlP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Shape 9"/>
              <p:cNvSpPr txBox="1"/>
              <p:nvPr/>
            </p:nvSpPr>
            <p:spPr>
              <a:xfrm>
                <a:off x="822960" y="4114800"/>
                <a:ext cx="6766560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a₄=1+4a₃=1+4+4²+4³</a:t>
                </a:r>
                <a:endParaRPr lang="en-US" sz="20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Shape 10"/>
              <p:cNvSpPr txBox="1"/>
              <p:nvPr/>
            </p:nvSpPr>
            <p:spPr>
              <a:xfrm>
                <a:off x="822960" y="4663440"/>
                <a:ext cx="6766560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នោះ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=1+4+</m:t>
                    </m:r>
                    <m:sSup>
                      <m:sSup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+⋯+</m:t>
                    </m:r>
                    <m:sSup>
                      <m:sSup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 (ផលបូកធរណីមាត្រ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)</a:t>
                </a:r>
                <a:endParaRPr lang="en-US" sz="2000" dirty="0"/>
              </a:p>
            </p:txBody>
          </p:sp>
        </mc:Choice>
        <mc:Fallback xmlns="">
          <p:sp>
            <p:nvSpPr>
              <p:cNvPr id="10" name="Shape 10"/>
              <p:cNvSpPr txBox="1"/>
              <p:nvPr/>
            </p:nvSpPr>
            <p:spPr>
              <a:xfrm>
                <a:off x="822960" y="4663440"/>
                <a:ext cx="6766560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នោះ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aₙ=1+4+4²+⋯+4ⁿ⁻¹</a:t>
                </a: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 (ផលបូកធរណីមាត្រ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q=4</a:t>
                </a: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)</a:t>
                </a:r>
                <a:endParaRPr lang="en-US" sz="20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hape 11"/>
              <p:cNvSpPr/>
              <p:nvPr/>
            </p:nvSpPr>
            <p:spPr>
              <a:xfrm>
                <a:off x="822960" y="5349240"/>
                <a:ext cx="6583680" cy="914400"/>
              </a:xfrm>
              <a:prstGeom prst="roundRect">
                <a:avLst>
                  <a:gd name="adj" fmla="val 9000"/>
                </a:avLst>
              </a:prstGeom>
              <a:solidFill>
                <a:srgbClr val="E8F5EC"/>
              </a:solidFill>
              <a:ln w="19050">
                <a:solidFill>
                  <a:srgbClr val="9FD3B2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777240" tIns="54864" rIns="182880" bIns="54864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2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ដូច្នេះ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2E7D4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1·(</m:t>
                        </m:r>
                        <m:sSup>
                          <m:sSupPr>
                            <m:ctrlPr>
                              <a:rPr lang="en-US" sz="2400" b="1" i="1" dirty="0">
                                <a:solidFill>
                                  <a:srgbClr val="2E7D4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dirty="0">
                                <a:solidFill>
                                  <a:srgbClr val="2E7D4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US" sz="2400" b="1" i="1" dirty="0">
                                <a:solidFill>
                                  <a:srgbClr val="2E7D4F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  <m: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−1)</m:t>
                        </m:r>
                      </m:num>
                      <m:den>
                        <m: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4−1</m:t>
                        </m:r>
                      </m:den>
                    </m:f>
                    <m:r>
                      <a:rPr lang="en-US" sz="2400" b="1" i="1" dirty="0">
                        <a:solidFill>
                          <a:srgbClr val="2E7D4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1" i="1" dirty="0">
                                <a:solidFill>
                                  <a:srgbClr val="2E7D4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dirty="0">
                                <a:solidFill>
                                  <a:srgbClr val="2E7D4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US" sz="2400" b="1" i="1" dirty="0">
                                <a:solidFill>
                                  <a:srgbClr val="2E7D4F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  <m: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11" name="Shape 11"/>
              <p:cNvSpPr/>
              <p:nvPr/>
            </p:nvSpPr>
            <p:spPr>
              <a:xfrm>
                <a:off x="822960" y="5349240"/>
                <a:ext cx="6583680" cy="914400"/>
              </a:xfrm>
              <a:prstGeom prst="roundRect">
                <a:avLst>
                  <a:gd name="adj" fmla="val 9000"/>
                </a:avLst>
              </a:prstGeom>
              <a:solidFill>
                <a:srgbClr val="E8F5EC"/>
              </a:solidFill>
              <a:ln w="19050">
                <a:solidFill>
                  <a:srgbClr val="9FD3B2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777240" tIns="54864" rIns="182880" bIns="54864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2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ដូច្នេះ  </a:t>
                </a:r>
                <a:r>
                  <a:rPr lang="km-KH" sz="2400" b="1" i="1" dirty="0">
                    <a:solidFill>
                      <a:srgbClr val="2E7D4F"/>
                    </a:solidFill>
                    <a:latin typeface="Cambria Math"/>
                    <a:cs typeface="Cambria Math"/>
                  </a:rPr>
                  <a:t>aₙ=(1·(4ⁿ−1))/(4−1)=(4ⁿ−1)/3</a:t>
                </a:r>
                <a:endParaRPr lang="en-US" sz="2200" dirty="0"/>
              </a:p>
            </p:txBody>
          </p:sp>
        </mc:Fallback>
      </mc:AlternateContent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577840"/>
            <a:ext cx="457200" cy="457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Shape 13"/>
              <p:cNvSpPr/>
              <p:nvPr/>
            </p:nvSpPr>
            <p:spPr>
              <a:xfrm>
                <a:off x="8778240" y="2514600"/>
                <a:ext cx="2377440" cy="566928"/>
              </a:xfrm>
              <a:prstGeom prst="roundRect">
                <a:avLst>
                  <a:gd name="adj" fmla="val 30000"/>
                </a:avLst>
              </a:prstGeom>
              <a:solidFill>
                <a:srgbClr val="0F5174"/>
              </a:solidFill>
              <a:ln w="19050">
                <a:solidFill>
                  <a:srgbClr val="0F5174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109728" tIns="54864" rIns="109728" bIns="54864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20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b="1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3" name="Shape 13"/>
              <p:cNvSpPr/>
              <p:nvPr/>
            </p:nvSpPr>
            <p:spPr>
              <a:xfrm>
                <a:off x="8778240" y="2514600"/>
                <a:ext cx="2377440" cy="566928"/>
              </a:xfrm>
              <a:prstGeom prst="roundRect">
                <a:avLst>
                  <a:gd name="adj" fmla="val 30000"/>
                </a:avLst>
              </a:prstGeom>
              <a:solidFill>
                <a:srgbClr val="0F5174"/>
              </a:solidFill>
              <a:ln w="19050">
                <a:solidFill>
                  <a:srgbClr val="0F5174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109728" tIns="54864" rIns="109728" bIns="54864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b="1" i="1" dirty="0">
                    <a:solidFill>
                      <a:srgbClr val="FFFFFF"/>
                    </a:solidFill>
                    <a:latin typeface="Cambria Math"/>
                    <a:cs typeface="Cambria Math"/>
                  </a:rPr>
                  <a:t>a₁=1</a:t>
                </a:r>
                <a:endParaRPr lang="en-US" sz="2000" dirty="0"/>
              </a:p>
            </p:txBody>
          </p:sp>
        </mc:Fallback>
      </mc:AlternateContent>
      <p:cxnSp>
        <p:nvCxnSpPr>
          <p:cNvPr id="14" name="Connector 14"/>
          <p:cNvCxnSpPr/>
          <p:nvPr/>
        </p:nvCxnSpPr>
        <p:spPr>
          <a:xfrm>
            <a:off x="9966960" y="3099816"/>
            <a:ext cx="0" cy="402336"/>
          </a:xfrm>
          <a:prstGeom prst="straightConnector1">
            <a:avLst/>
          </a:prstGeom>
          <a:ln w="25400">
            <a:solidFill>
              <a:srgbClr val="C0272D"/>
            </a:solidFill>
            <a:tailEnd type="triangle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Shape 15"/>
              <p:cNvSpPr txBox="1"/>
              <p:nvPr/>
            </p:nvSpPr>
            <p:spPr>
              <a:xfrm>
                <a:off x="10104120" y="3118104"/>
                <a:ext cx="146304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600" b="1" i="1" dirty="0">
                          <a:solidFill>
                            <a:srgbClr val="C0272D"/>
                          </a:solidFill>
                          <a:latin typeface="Cambria Math" panose="02040503050406030204" pitchFamily="18" charset="0"/>
                        </a:rPr>
                        <m:t>×4+1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" name="Shape 15"/>
              <p:cNvSpPr txBox="1"/>
              <p:nvPr/>
            </p:nvSpPr>
            <p:spPr>
              <a:xfrm>
                <a:off x="10104120" y="3118104"/>
                <a:ext cx="146304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600" b="1" i="1" dirty="0">
                    <a:solidFill>
                      <a:srgbClr val="C0272D"/>
                    </a:solidFill>
                    <a:latin typeface="Cambria Math"/>
                    <a:cs typeface="Cambria Math"/>
                  </a:rPr>
                  <a:t>×4+1</a:t>
                </a:r>
                <a:endParaRPr lang="en-US" sz="20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Shape 16"/>
              <p:cNvSpPr/>
              <p:nvPr/>
            </p:nvSpPr>
            <p:spPr>
              <a:xfrm>
                <a:off x="8778240" y="3520440"/>
                <a:ext cx="2377440" cy="566928"/>
              </a:xfrm>
              <a:prstGeom prst="roundRect">
                <a:avLst>
                  <a:gd name="adj" fmla="val 30000"/>
                </a:avLst>
              </a:prstGeom>
              <a:solidFill>
                <a:srgbClr val="FFFFFF"/>
              </a:solidFill>
              <a:ln w="19050">
                <a:solidFill>
                  <a:srgbClr val="0F5174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109728" tIns="54864" rIns="109728" bIns="54864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1" i="1" dirty="0">
                              <a:solidFill>
                                <a:srgbClr val="0F517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>
                              <a:solidFill>
                                <a:srgbClr val="0F5174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2000" b="1" i="1" dirty="0">
                              <a:solidFill>
                                <a:srgbClr val="0F5174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000" b="1" i="1" dirty="0">
                          <a:solidFill>
                            <a:srgbClr val="0F5174"/>
                          </a:solidFill>
                          <a:latin typeface="Cambria Math" panose="02040503050406030204" pitchFamily="18" charset="0"/>
                        </a:rPr>
                        <m:t>=5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" name="Shape 16"/>
              <p:cNvSpPr/>
              <p:nvPr/>
            </p:nvSpPr>
            <p:spPr>
              <a:xfrm>
                <a:off x="8778240" y="3520440"/>
                <a:ext cx="2377440" cy="566928"/>
              </a:xfrm>
              <a:prstGeom prst="roundRect">
                <a:avLst>
                  <a:gd name="adj" fmla="val 30000"/>
                </a:avLst>
              </a:prstGeom>
              <a:solidFill>
                <a:srgbClr val="FFFFFF"/>
              </a:solidFill>
              <a:ln w="19050">
                <a:solidFill>
                  <a:srgbClr val="0F5174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109728" tIns="54864" rIns="109728" bIns="54864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b="1" i="1" dirty="0">
                    <a:solidFill>
                      <a:srgbClr val="0F5174"/>
                    </a:solidFill>
                    <a:latin typeface="Cambria Math"/>
                    <a:cs typeface="Cambria Math"/>
                  </a:rPr>
                  <a:t>a₂=5</a:t>
                </a:r>
                <a:endParaRPr lang="en-US" sz="2000" dirty="0"/>
              </a:p>
            </p:txBody>
          </p:sp>
        </mc:Fallback>
      </mc:AlternateContent>
      <p:cxnSp>
        <p:nvCxnSpPr>
          <p:cNvPr id="17" name="Connector 17"/>
          <p:cNvCxnSpPr/>
          <p:nvPr/>
        </p:nvCxnSpPr>
        <p:spPr>
          <a:xfrm>
            <a:off x="9966960" y="4105656"/>
            <a:ext cx="0" cy="402336"/>
          </a:xfrm>
          <a:prstGeom prst="straightConnector1">
            <a:avLst/>
          </a:prstGeom>
          <a:ln w="25400">
            <a:solidFill>
              <a:srgbClr val="C0272D"/>
            </a:solidFill>
            <a:tailEnd type="triangle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Shape 18"/>
              <p:cNvSpPr txBox="1"/>
              <p:nvPr/>
            </p:nvSpPr>
            <p:spPr>
              <a:xfrm>
                <a:off x="10104120" y="4123944"/>
                <a:ext cx="146304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600" b="1" i="1" dirty="0">
                          <a:solidFill>
                            <a:srgbClr val="C0272D"/>
                          </a:solidFill>
                          <a:latin typeface="Cambria Math" panose="02040503050406030204" pitchFamily="18" charset="0"/>
                        </a:rPr>
                        <m:t>×4+1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" name="Shape 18"/>
              <p:cNvSpPr txBox="1"/>
              <p:nvPr/>
            </p:nvSpPr>
            <p:spPr>
              <a:xfrm>
                <a:off x="10104120" y="4123944"/>
                <a:ext cx="146304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600" b="1" i="1" dirty="0">
                    <a:solidFill>
                      <a:srgbClr val="C0272D"/>
                    </a:solidFill>
                    <a:latin typeface="Cambria Math"/>
                    <a:cs typeface="Cambria Math"/>
                  </a:rPr>
                  <a:t>×4+1</a:t>
                </a:r>
                <a:endParaRPr lang="en-US" sz="20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Shape 19"/>
              <p:cNvSpPr/>
              <p:nvPr/>
            </p:nvSpPr>
            <p:spPr>
              <a:xfrm>
                <a:off x="8778240" y="4526280"/>
                <a:ext cx="2377440" cy="566928"/>
              </a:xfrm>
              <a:prstGeom prst="roundRect">
                <a:avLst>
                  <a:gd name="adj" fmla="val 30000"/>
                </a:avLst>
              </a:prstGeom>
              <a:solidFill>
                <a:srgbClr val="FFFFFF"/>
              </a:solidFill>
              <a:ln w="19050">
                <a:solidFill>
                  <a:srgbClr val="0F5174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109728" tIns="54864" rIns="109728" bIns="54864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1" i="1" dirty="0">
                              <a:solidFill>
                                <a:srgbClr val="0F517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>
                              <a:solidFill>
                                <a:srgbClr val="0F5174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2000" b="1" i="1" dirty="0">
                              <a:solidFill>
                                <a:srgbClr val="0F5174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2000" b="1" i="1" dirty="0">
                          <a:solidFill>
                            <a:srgbClr val="0F5174"/>
                          </a:solidFill>
                          <a:latin typeface="Cambria Math" panose="02040503050406030204" pitchFamily="18" charset="0"/>
                        </a:rPr>
                        <m:t>=21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" name="Shape 19"/>
              <p:cNvSpPr/>
              <p:nvPr/>
            </p:nvSpPr>
            <p:spPr>
              <a:xfrm>
                <a:off x="8778240" y="4526280"/>
                <a:ext cx="2377440" cy="566928"/>
              </a:xfrm>
              <a:prstGeom prst="roundRect">
                <a:avLst>
                  <a:gd name="adj" fmla="val 30000"/>
                </a:avLst>
              </a:prstGeom>
              <a:solidFill>
                <a:srgbClr val="FFFFFF"/>
              </a:solidFill>
              <a:ln w="19050">
                <a:solidFill>
                  <a:srgbClr val="0F5174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109728" tIns="54864" rIns="109728" bIns="54864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b="1" i="1" dirty="0">
                    <a:solidFill>
                      <a:srgbClr val="0F5174"/>
                    </a:solidFill>
                    <a:latin typeface="Cambria Math"/>
                    <a:cs typeface="Cambria Math"/>
                  </a:rPr>
                  <a:t>a₃=21</a:t>
                </a:r>
                <a:endParaRPr lang="en-US" sz="2000" dirty="0"/>
              </a:p>
            </p:txBody>
          </p:sp>
        </mc:Fallback>
      </mc:AlternateContent>
      <p:cxnSp>
        <p:nvCxnSpPr>
          <p:cNvPr id="20" name="Connector 20"/>
          <p:cNvCxnSpPr/>
          <p:nvPr/>
        </p:nvCxnSpPr>
        <p:spPr>
          <a:xfrm>
            <a:off x="9966960" y="5111496"/>
            <a:ext cx="0" cy="402336"/>
          </a:xfrm>
          <a:prstGeom prst="straightConnector1">
            <a:avLst/>
          </a:prstGeom>
          <a:ln w="25400">
            <a:solidFill>
              <a:srgbClr val="C0272D"/>
            </a:solidFill>
            <a:tailEnd type="triangle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Shape 21"/>
              <p:cNvSpPr txBox="1"/>
              <p:nvPr/>
            </p:nvSpPr>
            <p:spPr>
              <a:xfrm>
                <a:off x="10104120" y="5129784"/>
                <a:ext cx="146304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600" b="1" i="1" dirty="0">
                          <a:solidFill>
                            <a:srgbClr val="C0272D"/>
                          </a:solidFill>
                          <a:latin typeface="Cambria Math" panose="02040503050406030204" pitchFamily="18" charset="0"/>
                        </a:rPr>
                        <m:t>×4+1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1" name="Shape 21"/>
              <p:cNvSpPr txBox="1"/>
              <p:nvPr/>
            </p:nvSpPr>
            <p:spPr>
              <a:xfrm>
                <a:off x="10104120" y="5129784"/>
                <a:ext cx="146304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600" b="1" i="1" dirty="0">
                    <a:solidFill>
                      <a:srgbClr val="C0272D"/>
                    </a:solidFill>
                    <a:latin typeface="Cambria Math"/>
                    <a:cs typeface="Cambria Math"/>
                  </a:rPr>
                  <a:t>×4+1</a:t>
                </a:r>
                <a:endParaRPr lang="en-US" sz="20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Shape 22"/>
              <p:cNvSpPr/>
              <p:nvPr/>
            </p:nvSpPr>
            <p:spPr>
              <a:xfrm>
                <a:off x="8778240" y="5532120"/>
                <a:ext cx="2377440" cy="566928"/>
              </a:xfrm>
              <a:prstGeom prst="roundRect">
                <a:avLst>
                  <a:gd name="adj" fmla="val 30000"/>
                </a:avLst>
              </a:prstGeom>
              <a:solidFill>
                <a:srgbClr val="FFFFFF"/>
              </a:solidFill>
              <a:ln w="19050">
                <a:solidFill>
                  <a:srgbClr val="0F5174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109728" tIns="54864" rIns="109728" bIns="54864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1" i="1" dirty="0">
                              <a:solidFill>
                                <a:srgbClr val="0F517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>
                              <a:solidFill>
                                <a:srgbClr val="0F5174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2000" b="1" i="1" dirty="0">
                              <a:solidFill>
                                <a:srgbClr val="0F5174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sz="2000" b="1" i="1" dirty="0">
                          <a:solidFill>
                            <a:srgbClr val="0F5174"/>
                          </a:solidFill>
                          <a:latin typeface="Cambria Math" panose="02040503050406030204" pitchFamily="18" charset="0"/>
                        </a:rPr>
                        <m:t>=85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2" name="Shape 22"/>
              <p:cNvSpPr/>
              <p:nvPr/>
            </p:nvSpPr>
            <p:spPr>
              <a:xfrm>
                <a:off x="8778240" y="5532120"/>
                <a:ext cx="2377440" cy="566928"/>
              </a:xfrm>
              <a:prstGeom prst="roundRect">
                <a:avLst>
                  <a:gd name="adj" fmla="val 30000"/>
                </a:avLst>
              </a:prstGeom>
              <a:solidFill>
                <a:srgbClr val="FFFFFF"/>
              </a:solidFill>
              <a:ln w="19050">
                <a:solidFill>
                  <a:srgbClr val="0F5174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109728" tIns="54864" rIns="109728" bIns="54864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b="1" i="1" dirty="0">
                    <a:solidFill>
                      <a:srgbClr val="0F5174"/>
                    </a:solidFill>
                    <a:latin typeface="Cambria Math"/>
                    <a:cs typeface="Cambria Math"/>
                  </a:rPr>
                  <a:t>a₄=85</a:t>
                </a:r>
                <a:endParaRPr lang="en-US" sz="2000" dirty="0"/>
              </a:p>
            </p:txBody>
          </p:sp>
        </mc:Fallback>
      </mc:AlternateContent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3" grpId="0" animBg="1"/>
      <p:bldP spid="15" grpId="0" animBg="1"/>
      <p:bldP spid="16" grpId="0" animBg="1"/>
      <p:bldP spid="18" grpId="0" animBg="1"/>
      <p:bldP spid="19" grpId="0" animBg="1"/>
      <p:bldP spid="21" grpId="0" animBg="1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m-KH" dirty="0"/>
              <a:t>១. កំណត់តួទី </a:t>
            </a:r>
            <a:r>
              <a:rPr lang="en-US" dirty="0"/>
              <a:t>n</a:t>
            </a:r>
            <a:r>
              <a:rPr lang="km-KH" dirty="0"/>
              <a:t> ដោយប្រើស្វ៊ីតជំនួយ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hape 3"/>
              <p:cNvSpPr/>
              <p:nvPr/>
            </p:nvSpPr>
            <p:spPr>
              <a:xfrm>
                <a:off x="548640" y="1463040"/>
                <a:ext cx="4754880" cy="420624"/>
              </a:xfrm>
              <a:prstGeom prst="roundRect">
                <a:avLst>
                  <a:gd name="adj" fmla="val 50000"/>
                </a:avLst>
              </a:prstGeom>
              <a:solidFill>
                <a:srgbClr val="0F5174"/>
              </a:solidFill>
              <a:ln>
                <a:noFill/>
              </a:ln>
            </p:spPr>
            <p:txBody>
              <a:bodyPr wrap="square" lIns="73152" tIns="18288" rIns="73152" bIns="18288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600" b="1" dirty="0">
                    <a:solidFill>
                      <a:srgbClr val="FFFFFF"/>
                    </a:solidFill>
                    <a:latin typeface="Kh Battambang"/>
                    <a:cs typeface="Kh Battambang"/>
                  </a:rPr>
                  <a:t>របៀបទី ២៖ ប្រើស្វ៊ីតផលសង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sz="16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3" name="Shape 3"/>
              <p:cNvSpPr/>
              <p:nvPr/>
            </p:nvSpPr>
            <p:spPr>
              <a:xfrm>
                <a:off x="548640" y="1463040"/>
                <a:ext cx="4754880" cy="420624"/>
              </a:xfrm>
              <a:prstGeom prst="roundRect">
                <a:avLst>
                  <a:gd name="adj" fmla="val 50000"/>
                </a:avLst>
              </a:prstGeom>
              <a:solidFill>
                <a:srgbClr val="0F5174"/>
              </a:solidFill>
              <a:ln>
                <a:noFill/>
              </a:ln>
            </p:spPr>
            <p:txBody>
              <a:bodyPr wrap="square" lIns="73152" tIns="18288" rIns="73152" bIns="18288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600" b="1" dirty="0">
                    <a:solidFill>
                      <a:srgbClr val="FFFFFF"/>
                    </a:solidFill>
                    <a:latin typeface="Kh Battambang"/>
                    <a:cs typeface="Kh Battambang"/>
                  </a:rPr>
                  <a:t>របៀបទី ២៖ ប្រើស្វ៊ីតផលសង </a:t>
                </a:r>
                <a:r>
                  <a:rPr lang="km-KH" sz="1600" b="1" i="1" dirty="0">
                    <a:solidFill>
                      <a:srgbClr val="FFFFFF"/>
                    </a:solidFill>
                    <a:latin typeface="Cambria Math"/>
                    <a:cs typeface="Cambria Math"/>
                  </a:rPr>
                  <a:t>bₙ</a:t>
                </a:r>
                <a:endParaRPr lang="en-US" sz="16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Shape 4"/>
              <p:cNvSpPr txBox="1"/>
              <p:nvPr/>
            </p:nvSpPr>
            <p:spPr>
              <a:xfrm>
                <a:off x="822960" y="2057400"/>
                <a:ext cx="6949440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ចំពោះ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≥2</m:t>
                    </m:r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៖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=1+4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 , 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=1+4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Shape 4"/>
              <p:cNvSpPr txBox="1"/>
              <p:nvPr/>
            </p:nvSpPr>
            <p:spPr>
              <a:xfrm>
                <a:off x="822960" y="2057400"/>
                <a:ext cx="6949440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ចំពោះ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n≥2</a:t>
                </a: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៖ 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aₙ₊₁=1+4aₙ , aₙ=1+4aₙ₋₁</a:t>
                </a:r>
                <a:endParaRPr lang="en-US" sz="20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Shape 5"/>
              <p:cNvSpPr txBox="1"/>
              <p:nvPr/>
            </p:nvSpPr>
            <p:spPr>
              <a:xfrm>
                <a:off x="822960" y="2715768"/>
                <a:ext cx="6949440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ដកអង្គនិងអង្គ៖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=4(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Shape 5"/>
              <p:cNvSpPr txBox="1"/>
              <p:nvPr/>
            </p:nvSpPr>
            <p:spPr>
              <a:xfrm>
                <a:off x="822960" y="2715768"/>
                <a:ext cx="6949440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ដកអង្គនិងអង្គ៖ 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aₙ₊₁−aₙ=4(aₙ−aₙ₋₁)</a:t>
                </a:r>
                <a:endParaRPr lang="en-US" sz="20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Shape 6"/>
              <p:cNvSpPr txBox="1"/>
              <p:nvPr/>
            </p:nvSpPr>
            <p:spPr>
              <a:xfrm>
                <a:off x="822960" y="3374136"/>
                <a:ext cx="6949440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តាង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 ⇒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=4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Shape 6"/>
              <p:cNvSpPr txBox="1"/>
              <p:nvPr/>
            </p:nvSpPr>
            <p:spPr>
              <a:xfrm>
                <a:off x="822960" y="3374136"/>
                <a:ext cx="6949440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តាង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bₙ=aₙ₊₁−aₙ</a:t>
                </a: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 ⇒ 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bₙ=4bₙ₋₁</a:t>
                </a:r>
                <a:endParaRPr lang="en-US" sz="20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Shape 7"/>
              <p:cNvSpPr txBox="1"/>
              <p:nvPr/>
            </p:nvSpPr>
            <p:spPr>
              <a:xfrm>
                <a:off x="822960" y="4032504"/>
                <a:ext cx="6949440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ជាស្វ៊ីតធរណីមាត្រ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=4 , 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Shape 7"/>
              <p:cNvSpPr txBox="1"/>
              <p:nvPr/>
            </p:nvSpPr>
            <p:spPr>
              <a:xfrm>
                <a:off x="822960" y="4032504"/>
                <a:ext cx="6949440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(bₙ)</a:t>
                </a: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ជាស្វ៊ីតធរណីមាត្រ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q=4 , b₁=a₂−a₁=4</a:t>
                </a: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⇒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bₙ=4ⁿ</a:t>
                </a:r>
                <a:endParaRPr lang="en-US" sz="20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Shape 8"/>
              <p:cNvSpPr txBox="1"/>
              <p:nvPr/>
            </p:nvSpPr>
            <p:spPr>
              <a:xfrm>
                <a:off x="822960" y="4690872"/>
                <a:ext cx="6949440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0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 dirty="0">
                                  <a:solidFill>
                                    <a:srgbClr val="1F293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 dirty="0">
                                  <a:solidFill>
                                    <a:srgbClr val="1F2937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000" i="1" dirty="0">
                                  <a:solidFill>
                                    <a:srgbClr val="1F293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  <m:r>
                        <a:rPr lang="en-US" sz="20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=1+4+</m:t>
                      </m:r>
                      <m:sSup>
                        <m:sSupPr>
                          <m:ctrlP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p>
                        <m:sSupPr>
                          <m:ctrlP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Shape 8"/>
              <p:cNvSpPr txBox="1"/>
              <p:nvPr/>
            </p:nvSpPr>
            <p:spPr>
              <a:xfrm>
                <a:off x="822960" y="4690872"/>
                <a:ext cx="6949440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aₙ=a₁+Σ[k=1→n−1] bₖ=1+4+4²+⋯+4ⁿ⁻¹</a:t>
                </a:r>
                <a:endParaRPr lang="en-US" sz="20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Shape 9"/>
              <p:cNvSpPr/>
              <p:nvPr/>
            </p:nvSpPr>
            <p:spPr>
              <a:xfrm>
                <a:off x="822960" y="5440680"/>
                <a:ext cx="6583680" cy="868680"/>
              </a:xfrm>
              <a:prstGeom prst="roundRect">
                <a:avLst>
                  <a:gd name="adj" fmla="val 9000"/>
                </a:avLst>
              </a:prstGeom>
              <a:solidFill>
                <a:srgbClr val="E8F5EC"/>
              </a:solidFill>
              <a:ln w="19050">
                <a:solidFill>
                  <a:srgbClr val="9FD3B2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777240" tIns="54864" rIns="182880" bIns="54864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2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ដូច្នេះ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2E7D4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1" i="1" dirty="0">
                                <a:solidFill>
                                  <a:srgbClr val="2E7D4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dirty="0">
                                <a:solidFill>
                                  <a:srgbClr val="2E7D4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US" sz="2400" b="1" i="1" dirty="0">
                                <a:solidFill>
                                  <a:srgbClr val="2E7D4F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  <m: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9" name="Shape 9"/>
              <p:cNvSpPr/>
              <p:nvPr/>
            </p:nvSpPr>
            <p:spPr>
              <a:xfrm>
                <a:off x="822960" y="5440680"/>
                <a:ext cx="6583680" cy="868680"/>
              </a:xfrm>
              <a:prstGeom prst="roundRect">
                <a:avLst>
                  <a:gd name="adj" fmla="val 9000"/>
                </a:avLst>
              </a:prstGeom>
              <a:solidFill>
                <a:srgbClr val="E8F5EC"/>
              </a:solidFill>
              <a:ln w="19050">
                <a:solidFill>
                  <a:srgbClr val="9FD3B2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777240" tIns="54864" rIns="182880" bIns="54864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2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ដូច្នេះ  </a:t>
                </a:r>
                <a:r>
                  <a:rPr lang="km-KH" sz="2400" b="1" i="1" dirty="0">
                    <a:solidFill>
                      <a:srgbClr val="2E7D4F"/>
                    </a:solidFill>
                    <a:latin typeface="Cambria Math"/>
                    <a:cs typeface="Cambria Math"/>
                  </a:rPr>
                  <a:t>aₙ=(4ⁿ−1)/3</a:t>
                </a:r>
                <a:endParaRPr lang="en-US" sz="2200" dirty="0"/>
              </a:p>
            </p:txBody>
          </p:sp>
        </mc:Fallback>
      </mc:AlternateContent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5646420"/>
            <a:ext cx="457200" cy="457200"/>
          </a:xfrm>
          <a:prstGeom prst="rect">
            <a:avLst/>
          </a:prstGeom>
        </p:spPr>
      </p:pic>
      <p:sp>
        <p:nvSpPr>
          <p:cNvPr id="11" name="Shape 11"/>
          <p:cNvSpPr/>
          <p:nvPr/>
        </p:nvSpPr>
        <p:spPr>
          <a:xfrm>
            <a:off x="8001000" y="1463040"/>
            <a:ext cx="3657600" cy="4846320"/>
          </a:xfrm>
          <a:prstGeom prst="roundRect">
            <a:avLst>
              <a:gd name="adj" fmla="val 9000"/>
            </a:avLst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txBody>
          <a:bodyPr wrap="square" lIns="182880" tIns="109728" rIns="182880" bIns="109728" rtlCol="0" anchor="t">
            <a:noAutofit/>
          </a:bodyPr>
          <a:lstStyle/>
          <a:p>
            <a:endParaRPr lang="en-US"/>
          </a:p>
        </p:txBody>
      </p:sp>
      <p:sp>
        <p:nvSpPr>
          <p:cNvPr id="12" name="Shape 12"/>
          <p:cNvSpPr txBox="1"/>
          <p:nvPr/>
        </p:nvSpPr>
        <p:spPr>
          <a:xfrm>
            <a:off x="8138160" y="1600200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700" b="1" dirty="0">
                <a:solidFill>
                  <a:srgbClr val="0F5174"/>
                </a:solidFill>
                <a:latin typeface="Kh Battambang"/>
                <a:cs typeface="Kh Battambang"/>
              </a:rPr>
              <a:t>មើលផលសងតួជាប់គ្នា</a:t>
            </a:r>
            <a:endParaRPr lang="en-US" sz="1700" dirty="0"/>
          </a:p>
        </p:txBody>
      </p:sp>
      <p:sp>
        <p:nvSpPr>
          <p:cNvPr id="13" name="Shape 13"/>
          <p:cNvSpPr/>
          <p:nvPr/>
        </p:nvSpPr>
        <p:spPr>
          <a:xfrm>
            <a:off x="8229600" y="2331720"/>
            <a:ext cx="658368" cy="658368"/>
          </a:xfrm>
          <a:prstGeom prst="ellipse">
            <a:avLst/>
          </a:prstGeom>
          <a:solidFill>
            <a:srgbClr val="0F517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700" b="1" dirty="0">
                <a:solidFill>
                  <a:srgbClr val="FFFFFF"/>
                </a:solidFill>
                <a:latin typeface="Kh Battambang"/>
                <a:cs typeface="Kh Battambang"/>
              </a:rPr>
              <a:t>1</a:t>
            </a:r>
            <a:endParaRPr lang="en-US" sz="1700" dirty="0"/>
          </a:p>
        </p:txBody>
      </p:sp>
      <p:sp>
        <p:nvSpPr>
          <p:cNvPr id="14" name="Shape 14"/>
          <p:cNvSpPr/>
          <p:nvPr/>
        </p:nvSpPr>
        <p:spPr>
          <a:xfrm>
            <a:off x="9098280" y="2331720"/>
            <a:ext cx="658368" cy="658368"/>
          </a:xfrm>
          <a:prstGeom prst="ellipse">
            <a:avLst/>
          </a:prstGeom>
          <a:solidFill>
            <a:srgbClr val="0F517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700" b="1" dirty="0">
                <a:solidFill>
                  <a:srgbClr val="FFFFFF"/>
                </a:solidFill>
                <a:latin typeface="Kh Battambang"/>
                <a:cs typeface="Kh Battambang"/>
              </a:rPr>
              <a:t>5</a:t>
            </a:r>
            <a:endParaRPr lang="en-US" sz="1700" dirty="0"/>
          </a:p>
        </p:txBody>
      </p:sp>
      <p:sp>
        <p:nvSpPr>
          <p:cNvPr id="15" name="Shape 15"/>
          <p:cNvSpPr/>
          <p:nvPr/>
        </p:nvSpPr>
        <p:spPr>
          <a:xfrm>
            <a:off x="9966960" y="2331720"/>
            <a:ext cx="658368" cy="658368"/>
          </a:xfrm>
          <a:prstGeom prst="ellipse">
            <a:avLst/>
          </a:prstGeom>
          <a:solidFill>
            <a:srgbClr val="0F517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700" b="1" dirty="0">
                <a:solidFill>
                  <a:srgbClr val="FFFFFF"/>
                </a:solidFill>
                <a:latin typeface="Kh Battambang"/>
                <a:cs typeface="Kh Battambang"/>
              </a:rPr>
              <a:t>21</a:t>
            </a:r>
            <a:endParaRPr lang="en-US" sz="1700" dirty="0"/>
          </a:p>
        </p:txBody>
      </p:sp>
      <p:sp>
        <p:nvSpPr>
          <p:cNvPr id="16" name="Shape 16"/>
          <p:cNvSpPr/>
          <p:nvPr/>
        </p:nvSpPr>
        <p:spPr>
          <a:xfrm>
            <a:off x="10835640" y="2331720"/>
            <a:ext cx="658368" cy="658368"/>
          </a:xfrm>
          <a:prstGeom prst="ellipse">
            <a:avLst/>
          </a:prstGeom>
          <a:solidFill>
            <a:srgbClr val="0F517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700" b="1" dirty="0">
                <a:solidFill>
                  <a:srgbClr val="FFFFFF"/>
                </a:solidFill>
                <a:latin typeface="Kh Battambang"/>
                <a:cs typeface="Kh Battambang"/>
              </a:rPr>
              <a:t>85</a:t>
            </a:r>
            <a:endParaRPr lang="en-US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Shape 17"/>
              <p:cNvSpPr txBox="1"/>
              <p:nvPr/>
            </p:nvSpPr>
            <p:spPr>
              <a:xfrm>
                <a:off x="8229600" y="3017520"/>
                <a:ext cx="658368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500" i="1" dirty="0">
                              <a:solidFill>
                                <a:srgbClr val="0F517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i="1" dirty="0">
                              <a:solidFill>
                                <a:srgbClr val="0F5174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500" i="1" dirty="0">
                              <a:solidFill>
                                <a:srgbClr val="0F5174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Shape 17"/>
              <p:cNvSpPr txBox="1"/>
              <p:nvPr/>
            </p:nvSpPr>
            <p:spPr>
              <a:xfrm>
                <a:off x="8229600" y="3017520"/>
                <a:ext cx="658368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500" i="1" dirty="0">
                    <a:solidFill>
                      <a:srgbClr val="0F5174"/>
                    </a:solidFill>
                    <a:latin typeface="Cambria Math"/>
                    <a:cs typeface="Cambria Math"/>
                  </a:rPr>
                  <a:t>a₁</a:t>
                </a:r>
                <a:endParaRPr lang="en-US" sz="20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Shape 18"/>
              <p:cNvSpPr txBox="1"/>
              <p:nvPr/>
            </p:nvSpPr>
            <p:spPr>
              <a:xfrm>
                <a:off x="9098280" y="3017520"/>
                <a:ext cx="658368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500" i="1" dirty="0">
                              <a:solidFill>
                                <a:srgbClr val="0F517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i="1" dirty="0">
                              <a:solidFill>
                                <a:srgbClr val="0F5174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500" i="1" dirty="0">
                              <a:solidFill>
                                <a:srgbClr val="0F5174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" name="Shape 18"/>
              <p:cNvSpPr txBox="1"/>
              <p:nvPr/>
            </p:nvSpPr>
            <p:spPr>
              <a:xfrm>
                <a:off x="9098280" y="3017520"/>
                <a:ext cx="658368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500" i="1" dirty="0">
                    <a:solidFill>
                      <a:srgbClr val="0F5174"/>
                    </a:solidFill>
                    <a:latin typeface="Cambria Math"/>
                    <a:cs typeface="Cambria Math"/>
                  </a:rPr>
                  <a:t>a₂</a:t>
                </a:r>
                <a:endParaRPr lang="en-US" sz="20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Shape 19"/>
              <p:cNvSpPr txBox="1"/>
              <p:nvPr/>
            </p:nvSpPr>
            <p:spPr>
              <a:xfrm>
                <a:off x="9966960" y="3017520"/>
                <a:ext cx="658368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500" i="1" dirty="0">
                              <a:solidFill>
                                <a:srgbClr val="0F517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i="1" dirty="0">
                              <a:solidFill>
                                <a:srgbClr val="0F5174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500" i="1" dirty="0">
                              <a:solidFill>
                                <a:srgbClr val="0F5174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9" name="Shape 19"/>
              <p:cNvSpPr txBox="1"/>
              <p:nvPr/>
            </p:nvSpPr>
            <p:spPr>
              <a:xfrm>
                <a:off x="9966960" y="3017520"/>
                <a:ext cx="658368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500" i="1" dirty="0">
                    <a:solidFill>
                      <a:srgbClr val="0F5174"/>
                    </a:solidFill>
                    <a:latin typeface="Cambria Math"/>
                    <a:cs typeface="Cambria Math"/>
                  </a:rPr>
                  <a:t>a₃</a:t>
                </a:r>
                <a:endParaRPr lang="en-US" sz="20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Shape 20"/>
              <p:cNvSpPr txBox="1"/>
              <p:nvPr/>
            </p:nvSpPr>
            <p:spPr>
              <a:xfrm>
                <a:off x="10835640" y="3017520"/>
                <a:ext cx="658368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500" i="1" dirty="0">
                              <a:solidFill>
                                <a:srgbClr val="0F517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i="1" dirty="0">
                              <a:solidFill>
                                <a:srgbClr val="0F5174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500" i="1" dirty="0">
                              <a:solidFill>
                                <a:srgbClr val="0F5174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" name="Shape 20"/>
              <p:cNvSpPr txBox="1"/>
              <p:nvPr/>
            </p:nvSpPr>
            <p:spPr>
              <a:xfrm>
                <a:off x="10835640" y="3017520"/>
                <a:ext cx="658368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500" i="1" dirty="0">
                    <a:solidFill>
                      <a:srgbClr val="0F5174"/>
                    </a:solidFill>
                    <a:latin typeface="Cambria Math"/>
                    <a:cs typeface="Cambria Math"/>
                  </a:rPr>
                  <a:t>a₄</a:t>
                </a:r>
                <a:endParaRPr lang="en-US" sz="2000" dirty="0"/>
              </a:p>
            </p:txBody>
          </p:sp>
        </mc:Fallback>
      </mc:AlternateContent>
      <p:cxnSp>
        <p:nvCxnSpPr>
          <p:cNvPr id="21" name="Connector 21"/>
          <p:cNvCxnSpPr/>
          <p:nvPr/>
        </p:nvCxnSpPr>
        <p:spPr>
          <a:xfrm>
            <a:off x="8686800" y="3429000"/>
            <a:ext cx="260604" cy="457200"/>
          </a:xfrm>
          <a:prstGeom prst="straightConnector1">
            <a:avLst/>
          </a:prstGeom>
          <a:ln w="19050">
            <a:solidFill>
              <a:srgbClr val="E0A100"/>
            </a:solidFill>
          </a:ln>
        </p:spPr>
      </p:cxnSp>
      <p:cxnSp>
        <p:nvCxnSpPr>
          <p:cNvPr id="22" name="Connector 22"/>
          <p:cNvCxnSpPr/>
          <p:nvPr/>
        </p:nvCxnSpPr>
        <p:spPr>
          <a:xfrm flipH="1">
            <a:off x="9038844" y="3429000"/>
            <a:ext cx="260604" cy="457200"/>
          </a:xfrm>
          <a:prstGeom prst="straightConnector1">
            <a:avLst/>
          </a:prstGeom>
          <a:ln w="19050">
            <a:solidFill>
              <a:srgbClr val="E0A100"/>
            </a:solidFill>
          </a:ln>
        </p:spPr>
      </p:cxnSp>
      <p:sp>
        <p:nvSpPr>
          <p:cNvPr id="23" name="Shape 23"/>
          <p:cNvSpPr/>
          <p:nvPr/>
        </p:nvSpPr>
        <p:spPr>
          <a:xfrm>
            <a:off x="8645652" y="3931920"/>
            <a:ext cx="694944" cy="457200"/>
          </a:xfrm>
          <a:prstGeom prst="roundRect">
            <a:avLst/>
          </a:prstGeom>
          <a:solidFill>
            <a:srgbClr val="FFF6DC"/>
          </a:solidFill>
          <a:ln w="15875">
            <a:solidFill>
              <a:srgbClr val="E0A1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700" b="1" dirty="0">
                <a:solidFill>
                  <a:srgbClr val="8A6200"/>
                </a:solidFill>
                <a:latin typeface="Kh Battambang"/>
                <a:cs typeface="Kh Battambang"/>
              </a:rPr>
              <a:t>4</a:t>
            </a:r>
            <a:endParaRPr lang="en-US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Shape 24"/>
              <p:cNvSpPr txBox="1"/>
              <p:nvPr/>
            </p:nvSpPr>
            <p:spPr>
              <a:xfrm>
                <a:off x="8645652" y="4434840"/>
                <a:ext cx="694944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500" i="1" dirty="0">
                              <a:solidFill>
                                <a:srgbClr val="8A62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i="1" dirty="0">
                              <a:solidFill>
                                <a:srgbClr val="8A62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500" i="1" dirty="0">
                              <a:solidFill>
                                <a:srgbClr val="8A62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4" name="Shape 24"/>
              <p:cNvSpPr txBox="1"/>
              <p:nvPr/>
            </p:nvSpPr>
            <p:spPr>
              <a:xfrm>
                <a:off x="8645652" y="4434840"/>
                <a:ext cx="694944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500" i="1" dirty="0">
                    <a:solidFill>
                      <a:srgbClr val="8A6200"/>
                    </a:solidFill>
                    <a:latin typeface="Cambria Math"/>
                    <a:cs typeface="Cambria Math"/>
                  </a:rPr>
                  <a:t>b₁</a:t>
                </a:r>
                <a:endParaRPr lang="en-US" sz="2000" dirty="0"/>
              </a:p>
            </p:txBody>
          </p:sp>
        </mc:Fallback>
      </mc:AlternateContent>
      <p:cxnSp>
        <p:nvCxnSpPr>
          <p:cNvPr id="25" name="Connector 25"/>
          <p:cNvCxnSpPr/>
          <p:nvPr/>
        </p:nvCxnSpPr>
        <p:spPr>
          <a:xfrm>
            <a:off x="9555480" y="3429000"/>
            <a:ext cx="260604" cy="457200"/>
          </a:xfrm>
          <a:prstGeom prst="straightConnector1">
            <a:avLst/>
          </a:prstGeom>
          <a:ln w="19050">
            <a:solidFill>
              <a:srgbClr val="E0A100"/>
            </a:solidFill>
          </a:ln>
        </p:spPr>
      </p:cxnSp>
      <p:cxnSp>
        <p:nvCxnSpPr>
          <p:cNvPr id="26" name="Connector 26"/>
          <p:cNvCxnSpPr/>
          <p:nvPr/>
        </p:nvCxnSpPr>
        <p:spPr>
          <a:xfrm flipH="1">
            <a:off x="9907524" y="3429000"/>
            <a:ext cx="260604" cy="457200"/>
          </a:xfrm>
          <a:prstGeom prst="straightConnector1">
            <a:avLst/>
          </a:prstGeom>
          <a:ln w="19050">
            <a:solidFill>
              <a:srgbClr val="E0A100"/>
            </a:solidFill>
          </a:ln>
        </p:spPr>
      </p:cxnSp>
      <p:sp>
        <p:nvSpPr>
          <p:cNvPr id="27" name="Shape 27"/>
          <p:cNvSpPr/>
          <p:nvPr/>
        </p:nvSpPr>
        <p:spPr>
          <a:xfrm>
            <a:off x="9514332" y="3931920"/>
            <a:ext cx="694944" cy="457200"/>
          </a:xfrm>
          <a:prstGeom prst="roundRect">
            <a:avLst/>
          </a:prstGeom>
          <a:solidFill>
            <a:srgbClr val="FFF6DC"/>
          </a:solidFill>
          <a:ln w="15875">
            <a:solidFill>
              <a:srgbClr val="E0A1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700" b="1" dirty="0">
                <a:solidFill>
                  <a:srgbClr val="8A6200"/>
                </a:solidFill>
                <a:latin typeface="Kh Battambang"/>
                <a:cs typeface="Kh Battambang"/>
              </a:rPr>
              <a:t>16</a:t>
            </a:r>
            <a:endParaRPr lang="en-US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Shape 28"/>
              <p:cNvSpPr txBox="1"/>
              <p:nvPr/>
            </p:nvSpPr>
            <p:spPr>
              <a:xfrm>
                <a:off x="9514332" y="4434840"/>
                <a:ext cx="694944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500" i="1" dirty="0">
                              <a:solidFill>
                                <a:srgbClr val="8A62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i="1" dirty="0">
                              <a:solidFill>
                                <a:srgbClr val="8A62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500" i="1" dirty="0">
                              <a:solidFill>
                                <a:srgbClr val="8A62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8" name="Shape 28"/>
              <p:cNvSpPr txBox="1"/>
              <p:nvPr/>
            </p:nvSpPr>
            <p:spPr>
              <a:xfrm>
                <a:off x="9514332" y="4434840"/>
                <a:ext cx="694944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500" i="1" dirty="0">
                    <a:solidFill>
                      <a:srgbClr val="8A6200"/>
                    </a:solidFill>
                    <a:latin typeface="Cambria Math"/>
                    <a:cs typeface="Cambria Math"/>
                  </a:rPr>
                  <a:t>b₂</a:t>
                </a:r>
                <a:endParaRPr lang="en-US" sz="2000" dirty="0"/>
              </a:p>
            </p:txBody>
          </p:sp>
        </mc:Fallback>
      </mc:AlternateContent>
      <p:cxnSp>
        <p:nvCxnSpPr>
          <p:cNvPr id="29" name="Connector 29"/>
          <p:cNvCxnSpPr/>
          <p:nvPr/>
        </p:nvCxnSpPr>
        <p:spPr>
          <a:xfrm>
            <a:off x="10424160" y="3429000"/>
            <a:ext cx="260604" cy="457200"/>
          </a:xfrm>
          <a:prstGeom prst="straightConnector1">
            <a:avLst/>
          </a:prstGeom>
          <a:ln w="19050">
            <a:solidFill>
              <a:srgbClr val="E0A100"/>
            </a:solidFill>
          </a:ln>
        </p:spPr>
      </p:cxnSp>
      <p:cxnSp>
        <p:nvCxnSpPr>
          <p:cNvPr id="30" name="Connector 30"/>
          <p:cNvCxnSpPr/>
          <p:nvPr/>
        </p:nvCxnSpPr>
        <p:spPr>
          <a:xfrm flipH="1">
            <a:off x="10776204" y="3429000"/>
            <a:ext cx="260604" cy="457200"/>
          </a:xfrm>
          <a:prstGeom prst="straightConnector1">
            <a:avLst/>
          </a:prstGeom>
          <a:ln w="19050">
            <a:solidFill>
              <a:srgbClr val="E0A100"/>
            </a:solidFill>
          </a:ln>
        </p:spPr>
      </p:cxnSp>
      <p:sp>
        <p:nvSpPr>
          <p:cNvPr id="31" name="Shape 31"/>
          <p:cNvSpPr/>
          <p:nvPr/>
        </p:nvSpPr>
        <p:spPr>
          <a:xfrm>
            <a:off x="10383012" y="3931920"/>
            <a:ext cx="694944" cy="457200"/>
          </a:xfrm>
          <a:prstGeom prst="roundRect">
            <a:avLst/>
          </a:prstGeom>
          <a:solidFill>
            <a:srgbClr val="FFF6DC"/>
          </a:solidFill>
          <a:ln w="15875">
            <a:solidFill>
              <a:srgbClr val="E0A100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700" b="1" dirty="0">
                <a:solidFill>
                  <a:srgbClr val="8A6200"/>
                </a:solidFill>
                <a:latin typeface="Kh Battambang"/>
                <a:cs typeface="Kh Battambang"/>
              </a:rPr>
              <a:t>64</a:t>
            </a:r>
            <a:endParaRPr lang="en-US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Shape 32"/>
              <p:cNvSpPr txBox="1"/>
              <p:nvPr/>
            </p:nvSpPr>
            <p:spPr>
              <a:xfrm>
                <a:off x="10383012" y="4434840"/>
                <a:ext cx="694944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500" i="1" dirty="0">
                              <a:solidFill>
                                <a:srgbClr val="8A62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i="1" dirty="0">
                              <a:solidFill>
                                <a:srgbClr val="8A62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sz="1500" i="1" dirty="0">
                              <a:solidFill>
                                <a:srgbClr val="8A62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2" name="Shape 32"/>
              <p:cNvSpPr txBox="1"/>
              <p:nvPr/>
            </p:nvSpPr>
            <p:spPr>
              <a:xfrm>
                <a:off x="10383012" y="4434840"/>
                <a:ext cx="694944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500" i="1" dirty="0">
                    <a:solidFill>
                      <a:srgbClr val="8A6200"/>
                    </a:solidFill>
                    <a:latin typeface="Cambria Math"/>
                    <a:cs typeface="Cambria Math"/>
                  </a:rPr>
                  <a:t>b₃</a:t>
                </a:r>
                <a:endParaRPr lang="en-US" sz="20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Shape 33"/>
              <p:cNvSpPr txBox="1"/>
              <p:nvPr/>
            </p:nvSpPr>
            <p:spPr>
              <a:xfrm>
                <a:off x="9084564" y="4846320"/>
                <a:ext cx="68580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600" b="1" i="1" dirty="0">
                          <a:solidFill>
                            <a:srgbClr val="C0272D"/>
                          </a:solidFill>
                          <a:latin typeface="Cambria Math" panose="02040503050406030204" pitchFamily="18" charset="0"/>
                        </a:rPr>
                        <m:t>×4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3" name="Shape 33"/>
              <p:cNvSpPr txBox="1"/>
              <p:nvPr/>
            </p:nvSpPr>
            <p:spPr>
              <a:xfrm>
                <a:off x="9084564" y="4846320"/>
                <a:ext cx="68580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600" b="1" i="1" dirty="0">
                    <a:solidFill>
                      <a:srgbClr val="C0272D"/>
                    </a:solidFill>
                    <a:latin typeface="Cambria Math"/>
                    <a:cs typeface="Cambria Math"/>
                  </a:rPr>
                  <a:t>×4</a:t>
                </a:r>
                <a:endParaRPr lang="en-US" sz="20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Shape 34"/>
              <p:cNvSpPr txBox="1"/>
              <p:nvPr/>
            </p:nvSpPr>
            <p:spPr>
              <a:xfrm>
                <a:off x="9953244" y="4846320"/>
                <a:ext cx="68580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600" b="1" i="1" dirty="0">
                          <a:solidFill>
                            <a:srgbClr val="C0272D"/>
                          </a:solidFill>
                          <a:latin typeface="Cambria Math" panose="02040503050406030204" pitchFamily="18" charset="0"/>
                        </a:rPr>
                        <m:t>×4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4" name="Shape 34"/>
              <p:cNvSpPr txBox="1"/>
              <p:nvPr/>
            </p:nvSpPr>
            <p:spPr>
              <a:xfrm>
                <a:off x="9953244" y="4846320"/>
                <a:ext cx="685800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600" b="1" i="1" dirty="0">
                    <a:solidFill>
                      <a:srgbClr val="C0272D"/>
                    </a:solidFill>
                    <a:latin typeface="Cambria Math"/>
                    <a:cs typeface="Cambria Math"/>
                  </a:rPr>
                  <a:t>×4</a:t>
                </a:r>
                <a:endParaRPr lang="en-US" sz="2000" dirty="0"/>
              </a:p>
            </p:txBody>
          </p:sp>
        </mc:Fallback>
      </mc:AlternateContent>
      <p:sp>
        <p:nvSpPr>
          <p:cNvPr id="35" name="Shape 35"/>
          <p:cNvSpPr txBox="1"/>
          <p:nvPr/>
        </p:nvSpPr>
        <p:spPr>
          <a:xfrm>
            <a:off x="8183880" y="5349240"/>
            <a:ext cx="329184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600" b="1" dirty="0">
                <a:solidFill>
                  <a:srgbClr val="C0272D"/>
                </a:solidFill>
                <a:latin typeface="Kh Battambang"/>
                <a:cs typeface="Kh Battambang"/>
              </a:rPr>
              <a:t>ស្វ៊ីតផលសង ជាស្វ៊ីតធរណីមាត្រ!</a:t>
            </a:r>
            <a:endParaRPr lang="en-US" sz="16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3" grpId="0" animBg="1"/>
      <p:bldP spid="24" grpId="0" animBg="1"/>
      <p:bldP spid="27" grpId="0" animBg="1"/>
      <p:bldP spid="28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92377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m-KH" dirty="0"/>
              <a:t>១. កំណត់តួទី </a:t>
            </a:r>
            <a:r>
              <a:rPr lang="en-US" dirty="0"/>
              <a:t>n</a:t>
            </a:r>
            <a:r>
              <a:rPr lang="km-KH" dirty="0"/>
              <a:t> ដោយប្រើស្វ៊ីតជំនួយ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hape 3"/>
              <p:cNvSpPr/>
              <p:nvPr/>
            </p:nvSpPr>
            <p:spPr>
              <a:xfrm>
                <a:off x="548640" y="1463040"/>
                <a:ext cx="4937760" cy="420624"/>
              </a:xfrm>
              <a:prstGeom prst="roundRect">
                <a:avLst>
                  <a:gd name="adj" fmla="val 50000"/>
                </a:avLst>
              </a:prstGeom>
              <a:solidFill>
                <a:srgbClr val="0F5174"/>
              </a:solidFill>
              <a:ln>
                <a:noFill/>
              </a:ln>
            </p:spPr>
            <p:txBody>
              <a:bodyPr wrap="square" lIns="73152" tIns="18288" rIns="73152" bIns="18288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600" b="1" dirty="0">
                    <a:solidFill>
                      <a:srgbClr val="FFFFFF"/>
                    </a:solidFill>
                    <a:latin typeface="Kh Battambang"/>
                    <a:cs typeface="Kh Battambang"/>
                  </a:rPr>
                  <a:t>របៀបទី ៣៖ ប្រើស្វ៊ីតជំនួយ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6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sz="16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sz="1600" b="1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3" name="Shape 3"/>
              <p:cNvSpPr/>
              <p:nvPr/>
            </p:nvSpPr>
            <p:spPr>
              <a:xfrm>
                <a:off x="548640" y="1463040"/>
                <a:ext cx="4937760" cy="420624"/>
              </a:xfrm>
              <a:prstGeom prst="roundRect">
                <a:avLst>
                  <a:gd name="adj" fmla="val 50000"/>
                </a:avLst>
              </a:prstGeom>
              <a:solidFill>
                <a:srgbClr val="0F5174"/>
              </a:solidFill>
              <a:ln>
                <a:noFill/>
              </a:ln>
            </p:spPr>
            <p:txBody>
              <a:bodyPr wrap="square" lIns="73152" tIns="18288" rIns="73152" bIns="18288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600" b="1" dirty="0">
                    <a:solidFill>
                      <a:srgbClr val="FFFFFF"/>
                    </a:solidFill>
                    <a:latin typeface="Kh Battambang"/>
                    <a:cs typeface="Kh Battambang"/>
                  </a:rPr>
                  <a:t>របៀបទី ៣៖ ប្រើស្វ៊ីតជំនួយ </a:t>
                </a:r>
                <a:r>
                  <a:rPr lang="km-KH" sz="1600" b="1" i="1" dirty="0">
                    <a:solidFill>
                      <a:srgbClr val="FFFFFF"/>
                    </a:solidFill>
                    <a:latin typeface="Cambria Math"/>
                    <a:cs typeface="Cambria Math"/>
                  </a:rPr>
                  <a:t>(rₙ)</a:t>
                </a:r>
                <a:endParaRPr lang="en-US" sz="16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Shape 4"/>
              <p:cNvSpPr txBox="1"/>
              <p:nvPr/>
            </p:nvSpPr>
            <p:spPr>
              <a:xfrm>
                <a:off x="822960" y="2103120"/>
                <a:ext cx="722376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យក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 ៖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=4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=4</m:t>
                    </m:r>
                    <m:d>
                      <m:d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 dirty="0">
                                <a:solidFill>
                                  <a:srgbClr val="1F293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solidFill>
                                  <a:srgbClr val="1F293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sz="2000" i="1" dirty="0">
                                <a:solidFill>
                                  <a:srgbClr val="1F293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2000" i="1" dirty="0">
                                <a:solidFill>
                                  <a:srgbClr val="1F293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 dirty="0">
                                <a:solidFill>
                                  <a:srgbClr val="1F293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i="1" dirty="0">
                                <a:solidFill>
                                  <a:srgbClr val="1F293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Shape 4"/>
              <p:cNvSpPr txBox="1"/>
              <p:nvPr/>
            </p:nvSpPr>
            <p:spPr>
              <a:xfrm>
                <a:off x="822960" y="2103120"/>
                <a:ext cx="722376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យក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rₙ=−1/3</a:t>
                </a: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 ៖ 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aₙ₊₁+1/3=4aₙ+4/3=4(aₙ+1/3)</a:t>
                </a:r>
                <a:endParaRPr lang="en-US" sz="20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Shape 5"/>
              <p:cNvSpPr txBox="1"/>
              <p:nvPr/>
            </p:nvSpPr>
            <p:spPr>
              <a:xfrm>
                <a:off x="822960" y="2880360"/>
                <a:ext cx="722376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តាង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 ⇒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=4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Shape 5"/>
              <p:cNvSpPr txBox="1"/>
              <p:nvPr/>
            </p:nvSpPr>
            <p:spPr>
              <a:xfrm>
                <a:off x="822960" y="2880360"/>
                <a:ext cx="722376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តាង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Vₙ=aₙ+1/3</a:t>
                </a: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 ⇒ 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Vₙ₊₁=4Vₙ</a:t>
                </a:r>
                <a:endParaRPr lang="en-US" sz="20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Shape 6"/>
              <p:cNvSpPr txBox="1"/>
              <p:nvPr/>
            </p:nvSpPr>
            <p:spPr>
              <a:xfrm>
                <a:off x="822960" y="3657600"/>
                <a:ext cx="722376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ជាស្វ៊ីតធរណីមាត្រ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និង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Shape 6"/>
              <p:cNvSpPr txBox="1"/>
              <p:nvPr/>
            </p:nvSpPr>
            <p:spPr>
              <a:xfrm>
                <a:off x="822960" y="3657600"/>
                <a:ext cx="722376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(Vₙ)</a:t>
                </a: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ជាស្វ៊ីតធរណីមាត្រ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q=4</a:t>
                </a: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និង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V₁=a₁+1/3=4/3</a:t>
                </a:r>
                <a:endParaRPr lang="en-US" sz="20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Shape 7"/>
              <p:cNvSpPr txBox="1"/>
              <p:nvPr/>
            </p:nvSpPr>
            <p:spPr>
              <a:xfrm>
                <a:off x="822960" y="4434840"/>
                <a:ext cx="722376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0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f>
                        <m:fPr>
                          <m:ctrlP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0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20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sSup>
                        <m:sSupPr>
                          <m:ctrlP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Shape 7"/>
              <p:cNvSpPr txBox="1"/>
              <p:nvPr/>
            </p:nvSpPr>
            <p:spPr>
              <a:xfrm>
                <a:off x="822960" y="4434840"/>
                <a:ext cx="7223760" cy="6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Vₙ=4ⁿ⁻¹·4/3=1/3·4ⁿ</a:t>
                </a:r>
                <a:endParaRPr lang="en-US" sz="20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Shape 8"/>
              <p:cNvSpPr/>
              <p:nvPr/>
            </p:nvSpPr>
            <p:spPr>
              <a:xfrm>
                <a:off x="822960" y="5349240"/>
                <a:ext cx="6766560" cy="914400"/>
              </a:xfrm>
              <a:prstGeom prst="roundRect">
                <a:avLst>
                  <a:gd name="adj" fmla="val 9000"/>
                </a:avLst>
              </a:prstGeom>
              <a:solidFill>
                <a:srgbClr val="E8F5EC"/>
              </a:solidFill>
              <a:ln w="19050">
                <a:solidFill>
                  <a:srgbClr val="9FD3B2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777240" tIns="54864" rIns="182880" bIns="54864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2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ដូច្នេះ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2E7D4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2E7D4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400" b="1" i="1" dirty="0">
                        <a:solidFill>
                          <a:srgbClr val="2E7D4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1" i="1" dirty="0">
                                <a:solidFill>
                                  <a:srgbClr val="2E7D4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1" i="1" dirty="0">
                                <a:solidFill>
                                  <a:srgbClr val="2E7D4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US" sz="2400" b="1" i="1" dirty="0">
                                <a:solidFill>
                                  <a:srgbClr val="2E7D4F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  <m: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8" name="Shape 8"/>
              <p:cNvSpPr/>
              <p:nvPr/>
            </p:nvSpPr>
            <p:spPr>
              <a:xfrm>
                <a:off x="822960" y="5349240"/>
                <a:ext cx="6766560" cy="914400"/>
              </a:xfrm>
              <a:prstGeom prst="roundRect">
                <a:avLst>
                  <a:gd name="adj" fmla="val 9000"/>
                </a:avLst>
              </a:prstGeom>
              <a:solidFill>
                <a:srgbClr val="E8F5EC"/>
              </a:solidFill>
              <a:ln w="19050">
                <a:solidFill>
                  <a:srgbClr val="9FD3B2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777240" tIns="54864" rIns="182880" bIns="54864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2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ដូច្នេះ  </a:t>
                </a:r>
                <a:r>
                  <a:rPr lang="km-KH" sz="2400" b="1" i="1" dirty="0">
                    <a:solidFill>
                      <a:srgbClr val="2E7D4F"/>
                    </a:solidFill>
                    <a:latin typeface="Cambria Math"/>
                    <a:cs typeface="Cambria Math"/>
                  </a:rPr>
                  <a:t>aₙ=Vₙ−1/3=(4ⁿ−1)/3</a:t>
                </a:r>
                <a:endParaRPr lang="en-US" sz="2200" dirty="0"/>
              </a:p>
            </p:txBody>
          </p:sp>
        </mc:Fallback>
      </mc:AlternateContent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5577840"/>
            <a:ext cx="457200" cy="457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Shape 10"/>
              <p:cNvSpPr/>
              <p:nvPr/>
            </p:nvSpPr>
            <p:spPr>
              <a:xfrm>
                <a:off x="8412480" y="1600200"/>
                <a:ext cx="3200400" cy="1097280"/>
              </a:xfrm>
              <a:prstGeom prst="roundRect">
                <a:avLst>
                  <a:gd name="adj" fmla="val 9000"/>
                </a:avLst>
              </a:prstGeom>
              <a:solidFill>
                <a:srgbClr val="EAF2F8"/>
              </a:solidFill>
              <a:ln w="12700">
                <a:solidFill>
                  <a:srgbClr val="A9C7DE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182880" tIns="109728" rIns="182880" bIns="109728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b="1" i="1" dirty="0">
                          <a:solidFill>
                            <a:srgbClr val="0F5174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1" i="1" dirty="0">
                              <a:solidFill>
                                <a:srgbClr val="0F517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>
                              <a:solidFill>
                                <a:srgbClr val="0F5174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2000" b="1" i="1" dirty="0">
                              <a:solidFill>
                                <a:srgbClr val="0F5174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sz="2000" b="1" i="1" dirty="0">
                          <a:solidFill>
                            <a:srgbClr val="0F5174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7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7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7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7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=4</m:t>
                      </m:r>
                      <m:sSub>
                        <m:sSubPr>
                          <m:ctrlPr>
                            <a:rPr lang="en-US" sz="17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7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7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Shape 10"/>
              <p:cNvSpPr/>
              <p:nvPr/>
            </p:nvSpPr>
            <p:spPr>
              <a:xfrm>
                <a:off x="8412480" y="1600200"/>
                <a:ext cx="3200400" cy="1097280"/>
              </a:xfrm>
              <a:prstGeom prst="roundRect">
                <a:avLst>
                  <a:gd name="adj" fmla="val 9000"/>
                </a:avLst>
              </a:prstGeom>
              <a:solidFill>
                <a:srgbClr val="EAF2F8"/>
              </a:solidFill>
              <a:ln w="12700">
                <a:solidFill>
                  <a:srgbClr val="A9C7DE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182880" tIns="109728" rIns="182880" bIns="109728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b="1" i="1" dirty="0">
                    <a:solidFill>
                      <a:srgbClr val="0F5174"/>
                    </a:solidFill>
                    <a:latin typeface="Cambria Math"/>
                    <a:cs typeface="Cambria Math"/>
                  </a:rPr>
                  <a:t>(aₙ)</a:t>
                </a:r>
                <a:endParaRPr lang="en-US" sz="2000" dirty="0"/>
              </a:p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7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aₙ₊₁=4aₙ+1</a:t>
                </a:r>
                <a:endParaRPr lang="en-US" sz="2000" dirty="0"/>
              </a:p>
            </p:txBody>
          </p:sp>
        </mc:Fallback>
      </mc:AlternateContent>
      <p:cxnSp>
        <p:nvCxnSpPr>
          <p:cNvPr id="11" name="Connector 11"/>
          <p:cNvCxnSpPr/>
          <p:nvPr/>
        </p:nvCxnSpPr>
        <p:spPr>
          <a:xfrm>
            <a:off x="10012680" y="2743200"/>
            <a:ext cx="0" cy="640080"/>
          </a:xfrm>
          <a:prstGeom prst="straightConnector1">
            <a:avLst/>
          </a:prstGeom>
          <a:ln w="31750">
            <a:solidFill>
              <a:srgbClr val="C0272D"/>
            </a:solidFill>
            <a:tailEnd type="triangle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Shape 12"/>
              <p:cNvSpPr txBox="1"/>
              <p:nvPr/>
            </p:nvSpPr>
            <p:spPr>
              <a:xfrm>
                <a:off x="10149840" y="2788920"/>
                <a:ext cx="1463040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800" b="1" i="1" dirty="0">
                          <a:solidFill>
                            <a:srgbClr val="C0272D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800" b="1" i="1" dirty="0">
                              <a:solidFill>
                                <a:srgbClr val="C0272D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1" i="1" dirty="0">
                              <a:solidFill>
                                <a:srgbClr val="C0272D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1" i="1" dirty="0">
                              <a:solidFill>
                                <a:srgbClr val="C0272D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" name="Shape 12"/>
              <p:cNvSpPr txBox="1"/>
              <p:nvPr/>
            </p:nvSpPr>
            <p:spPr>
              <a:xfrm>
                <a:off x="10149840" y="2788920"/>
                <a:ext cx="1463040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b="1" i="1" dirty="0">
                    <a:solidFill>
                      <a:srgbClr val="C0272D"/>
                    </a:solidFill>
                    <a:latin typeface="Cambria Math"/>
                    <a:cs typeface="Cambria Math"/>
                  </a:rPr>
                  <a:t>+1/3</a:t>
                </a:r>
                <a:endParaRPr lang="en-US" sz="20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Shape 13"/>
              <p:cNvSpPr/>
              <p:nvPr/>
            </p:nvSpPr>
            <p:spPr>
              <a:xfrm>
                <a:off x="8412480" y="3429000"/>
                <a:ext cx="3200400" cy="1097280"/>
              </a:xfrm>
              <a:prstGeom prst="roundRect">
                <a:avLst>
                  <a:gd name="adj" fmla="val 9000"/>
                </a:avLst>
              </a:prstGeom>
              <a:solidFill>
                <a:srgbClr val="FCEDEE"/>
              </a:solidFill>
              <a:ln w="12700">
                <a:solidFill>
                  <a:srgbClr val="EBB3B6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182880" tIns="109728" rIns="182880" bIns="109728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b="1" i="1" dirty="0">
                          <a:solidFill>
                            <a:srgbClr val="C0272D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000" b="1" i="1" dirty="0">
                              <a:solidFill>
                                <a:srgbClr val="C0272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>
                              <a:solidFill>
                                <a:srgbClr val="C0272D"/>
                              </a:solidFill>
                              <a:latin typeface="Cambria Math" panose="020405030504060302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2000" b="1" i="1" dirty="0">
                              <a:solidFill>
                                <a:srgbClr val="C0272D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sz="2000" b="1" i="1" dirty="0">
                          <a:solidFill>
                            <a:srgbClr val="C0272D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  <a:p>
                <a:pPr algn="ctr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6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ស្វ៊ីតធរណីមាត្រ  q = 4</a:t>
                </a:r>
                <a:endParaRPr lang="en-US" sz="1600" dirty="0"/>
              </a:p>
            </p:txBody>
          </p:sp>
        </mc:Choice>
        <mc:Fallback xmlns="">
          <p:sp>
            <p:nvSpPr>
              <p:cNvPr id="13" name="Shape 13"/>
              <p:cNvSpPr/>
              <p:nvPr/>
            </p:nvSpPr>
            <p:spPr>
              <a:xfrm>
                <a:off x="8412480" y="3429000"/>
                <a:ext cx="3200400" cy="1097280"/>
              </a:xfrm>
              <a:prstGeom prst="roundRect">
                <a:avLst>
                  <a:gd name="adj" fmla="val 9000"/>
                </a:avLst>
              </a:prstGeom>
              <a:solidFill>
                <a:srgbClr val="FCEDEE"/>
              </a:solidFill>
              <a:ln w="12700">
                <a:solidFill>
                  <a:srgbClr val="EBB3B6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182880" tIns="109728" rIns="182880" bIns="109728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b="1" i="1" dirty="0">
                    <a:solidFill>
                      <a:srgbClr val="C0272D"/>
                    </a:solidFill>
                    <a:latin typeface="Cambria Math"/>
                    <a:cs typeface="Cambria Math"/>
                  </a:rPr>
                  <a:t>(Vₙ)</a:t>
                </a:r>
                <a:endParaRPr lang="en-US" sz="2000" dirty="0"/>
              </a:p>
              <a:p>
                <a:pPr algn="ctr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6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ស្វ៊ីតធរណីមាត្រ  q = 4</a:t>
                </a:r>
                <a:endParaRPr lang="en-US" sz="1600" dirty="0"/>
              </a:p>
            </p:txBody>
          </p:sp>
        </mc:Fallback>
      </mc:AlternateContent>
      <p:cxnSp>
        <p:nvCxnSpPr>
          <p:cNvPr id="14" name="Connector 14"/>
          <p:cNvCxnSpPr/>
          <p:nvPr/>
        </p:nvCxnSpPr>
        <p:spPr>
          <a:xfrm>
            <a:off x="10012680" y="4572000"/>
            <a:ext cx="0" cy="640080"/>
          </a:xfrm>
          <a:prstGeom prst="straightConnector1">
            <a:avLst/>
          </a:prstGeom>
          <a:ln w="31750">
            <a:solidFill>
              <a:srgbClr val="2E7D4F"/>
            </a:solidFill>
            <a:tailEnd type="triangle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Shape 15"/>
              <p:cNvSpPr txBox="1"/>
              <p:nvPr/>
            </p:nvSpPr>
            <p:spPr>
              <a:xfrm>
                <a:off x="10149840" y="4617720"/>
                <a:ext cx="1463040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800" b="1" i="1" dirty="0">
                          <a:solidFill>
                            <a:srgbClr val="2E7D4F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800" b="1" i="1" dirty="0">
                              <a:solidFill>
                                <a:srgbClr val="2E7D4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1" i="1" dirty="0">
                              <a:solidFill>
                                <a:srgbClr val="2E7D4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800" b="1" i="1" dirty="0">
                              <a:solidFill>
                                <a:srgbClr val="2E7D4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5" name="Shape 15"/>
              <p:cNvSpPr txBox="1"/>
              <p:nvPr/>
            </p:nvSpPr>
            <p:spPr>
              <a:xfrm>
                <a:off x="10149840" y="4617720"/>
                <a:ext cx="1463040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b="1" i="1" dirty="0">
                    <a:solidFill>
                      <a:srgbClr val="2E7D4F"/>
                    </a:solidFill>
                    <a:latin typeface="Cambria Math"/>
                    <a:cs typeface="Cambria Math"/>
                  </a:rPr>
                  <a:t>−1/3</a:t>
                </a:r>
                <a:endParaRPr lang="en-US" sz="20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Shape 16"/>
              <p:cNvSpPr/>
              <p:nvPr/>
            </p:nvSpPr>
            <p:spPr>
              <a:xfrm>
                <a:off x="8412480" y="5257800"/>
                <a:ext cx="3200400" cy="1005840"/>
              </a:xfrm>
              <a:prstGeom prst="roundRect">
                <a:avLst>
                  <a:gd name="adj" fmla="val 9000"/>
                </a:avLst>
              </a:prstGeom>
              <a:solidFill>
                <a:srgbClr val="E8F5EC"/>
              </a:solidFill>
              <a:ln w="12700">
                <a:solidFill>
                  <a:srgbClr val="9FD3B2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182880" tIns="109728" rIns="182880" bIns="109728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1" i="1" dirty="0">
                              <a:solidFill>
                                <a:srgbClr val="2E7D4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>
                              <a:solidFill>
                                <a:srgbClr val="2E7D4F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2000" b="1" i="1" dirty="0">
                              <a:solidFill>
                                <a:srgbClr val="2E7D4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sz="2000" b="1" i="1" dirty="0">
                          <a:solidFill>
                            <a:srgbClr val="2E7D4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dirty="0">
                              <a:solidFill>
                                <a:srgbClr val="2E7D4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000" b="1" i="1" dirty="0">
                                  <a:solidFill>
                                    <a:srgbClr val="2E7D4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1" i="1" dirty="0">
                                  <a:solidFill>
                                    <a:srgbClr val="2E7D4F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US" sz="2000" b="1" i="1" dirty="0">
                                  <a:solidFill>
                                    <a:srgbClr val="2E7D4F"/>
                                  </a:solidFill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p>
                          <m:r>
                            <a:rPr lang="en-US" sz="2000" b="1" i="1" dirty="0">
                              <a:solidFill>
                                <a:srgbClr val="2E7D4F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sz="2000" b="1" i="1" dirty="0">
                              <a:solidFill>
                                <a:srgbClr val="2E7D4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" name="Shape 16"/>
              <p:cNvSpPr/>
              <p:nvPr/>
            </p:nvSpPr>
            <p:spPr>
              <a:xfrm>
                <a:off x="8412480" y="5257800"/>
                <a:ext cx="3200400" cy="1005840"/>
              </a:xfrm>
              <a:prstGeom prst="roundRect">
                <a:avLst>
                  <a:gd name="adj" fmla="val 9000"/>
                </a:avLst>
              </a:prstGeom>
              <a:solidFill>
                <a:srgbClr val="E8F5EC"/>
              </a:solidFill>
              <a:ln w="12700">
                <a:solidFill>
                  <a:srgbClr val="9FD3B2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182880" tIns="109728" rIns="182880" bIns="109728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b="1" i="1" dirty="0">
                    <a:solidFill>
                      <a:srgbClr val="2E7D4F"/>
                    </a:solidFill>
                    <a:latin typeface="Cambria Math"/>
                    <a:cs typeface="Cambria Math"/>
                  </a:rPr>
                  <a:t>aₙ=(4ⁿ−1)/3</a:t>
                </a:r>
                <a:endParaRPr lang="en-US" sz="2000" dirty="0"/>
              </a:p>
            </p:txBody>
          </p:sp>
        </mc:Fallback>
      </mc:AlternateContent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1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12" grpId="0" animBg="1"/>
      <p:bldP spid="13" grpId="0" animBg="1"/>
      <p:bldP spid="15" grpId="0" animBg="1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m-KH" dirty="0"/>
              <a:t>១. កំណត់តួទី </a:t>
            </a:r>
            <a:r>
              <a:rPr lang="en-US" dirty="0"/>
              <a:t>n</a:t>
            </a:r>
            <a:r>
              <a:rPr lang="km-KH" dirty="0"/>
              <a:t> ដោយប្រើស្វ៊ីតជំនួយ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hape 3"/>
              <p:cNvSpPr/>
              <p:nvPr/>
            </p:nvSpPr>
            <p:spPr>
              <a:xfrm>
                <a:off x="548640" y="1463040"/>
                <a:ext cx="6035040" cy="420624"/>
              </a:xfrm>
              <a:prstGeom prst="roundRect">
                <a:avLst>
                  <a:gd name="adj" fmla="val 50000"/>
                </a:avLst>
              </a:prstGeom>
              <a:solidFill>
                <a:srgbClr val="C0272D"/>
              </a:solidFill>
              <a:ln>
                <a:noFill/>
              </a:ln>
            </p:spPr>
            <p:txBody>
              <a:bodyPr wrap="square" lIns="73152" tIns="18288" rIns="73152" bIns="18288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600" b="1" dirty="0">
                    <a:solidFill>
                      <a:srgbClr val="FFFFFF"/>
                    </a:solidFill>
                    <a:latin typeface="Kh Battambang"/>
                    <a:cs typeface="Kh Battambang"/>
                  </a:rPr>
                  <a:t>ជាទូទៅ៖ របៀបរកស្វ៊ីតជំនួយ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sz="1600" b="1" i="1" dirty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sz="1600" b="1" i="1" dirty="0">
                        <a:solidFill>
                          <a:srgbClr val="FFFFFF"/>
                        </a:solidFill>
                        <a:latin typeface="Cambria Math" panose="02040503050406030204" pitchFamily="18" charset="0"/>
                      </a:rPr>
                      <m:t>=������+���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3" name="Shape 3"/>
              <p:cNvSpPr/>
              <p:nvPr/>
            </p:nvSpPr>
            <p:spPr>
              <a:xfrm>
                <a:off x="548640" y="1463040"/>
                <a:ext cx="6035040" cy="420624"/>
              </a:xfrm>
              <a:prstGeom prst="roundRect">
                <a:avLst>
                  <a:gd name="adj" fmla="val 50000"/>
                </a:avLst>
              </a:prstGeom>
              <a:solidFill>
                <a:srgbClr val="C0272D"/>
              </a:solidFill>
              <a:ln>
                <a:noFill/>
              </a:ln>
            </p:spPr>
            <p:txBody>
              <a:bodyPr wrap="square" lIns="73152" tIns="18288" rIns="73152" bIns="18288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600" b="1" dirty="0">
                    <a:solidFill>
                      <a:srgbClr val="FFFFFF"/>
                    </a:solidFill>
                    <a:latin typeface="Kh Battambang"/>
                    <a:cs typeface="Kh Battambang"/>
                  </a:rPr>
                  <a:t>ជាទូទៅ៖ របៀបរកស្វ៊ីតជំនួយ </a:t>
                </a:r>
                <a:r>
                  <a:rPr lang="km-KH" sz="1600" b="1" i="1" dirty="0">
                    <a:solidFill>
                      <a:srgbClr val="FFFFFF"/>
                    </a:solidFill>
                    <a:latin typeface="Cambria Math"/>
                    <a:cs typeface="Cambria Math"/>
                  </a:rPr>
                  <a:t>rₙ=αn+β</a:t>
                </a:r>
                <a:endParaRPr lang="en-US" sz="16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Shape 4"/>
              <p:cNvSpPr/>
              <p:nvPr/>
            </p:nvSpPr>
            <p:spPr>
              <a:xfrm>
                <a:off x="548640" y="2103120"/>
                <a:ext cx="2542032" cy="1783080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164592" tIns="548640" rIns="137160" bIns="91440" rtlCol="0" anchor="t">
                <a:noAutofit/>
              </a:bodyPr>
              <a:lstStyle/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7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តាង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7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7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=������+���</m:t>
                    </m:r>
                  </m:oMath>
                </a14:m>
                <a:r>
                  <a:rPr lang="km-KH" sz="17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ដែលផ្ទៀងផ្ទាត់ទំនាក់ទំនងកំណើន</a:t>
                </a:r>
                <a:endParaRPr lang="en-US" sz="1700" dirty="0"/>
              </a:p>
            </p:txBody>
          </p:sp>
        </mc:Choice>
        <mc:Fallback xmlns="">
          <p:sp>
            <p:nvSpPr>
              <p:cNvPr id="4" name="Shape 4"/>
              <p:cNvSpPr/>
              <p:nvPr/>
            </p:nvSpPr>
            <p:spPr>
              <a:xfrm>
                <a:off x="548640" y="2103120"/>
                <a:ext cx="2542032" cy="1783080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164592" tIns="548640" rIns="137160" bIns="91440" rtlCol="0" anchor="t">
                <a:noAutofit/>
              </a:bodyPr>
              <a:lstStyle/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7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តាង </a:t>
                </a:r>
                <a:r>
                  <a:rPr lang="km-KH" sz="17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rₙ=αn+β</a:t>
                </a:r>
                <a:r>
                  <a:rPr lang="km-KH" sz="17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ដែលផ្ទៀងផ្ទាត់ទំនាក់ទំនងកំណើន</a:t>
                </a:r>
                <a:endParaRPr lang="en-US" sz="1700" dirty="0"/>
              </a:p>
            </p:txBody>
          </p:sp>
        </mc:Fallback>
      </mc:AlternateContent>
      <p:sp>
        <p:nvSpPr>
          <p:cNvPr id="5" name="Shape 5"/>
          <p:cNvSpPr/>
          <p:nvPr/>
        </p:nvSpPr>
        <p:spPr>
          <a:xfrm>
            <a:off x="713232" y="2212848"/>
            <a:ext cx="438912" cy="438912"/>
          </a:xfrm>
          <a:prstGeom prst="ellipse">
            <a:avLst/>
          </a:prstGeom>
          <a:solidFill>
            <a:srgbClr val="0F517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600" b="1" dirty="0">
                <a:solidFill>
                  <a:srgbClr val="FFFFFF"/>
                </a:solidFill>
                <a:latin typeface="Kh Battambang"/>
                <a:cs typeface="Kh Battambang"/>
              </a:rPr>
              <a:t>១</a:t>
            </a:r>
            <a:endParaRPr lang="en-US" sz="1600" dirty="0"/>
          </a:p>
        </p:txBody>
      </p:sp>
      <p:sp>
        <p:nvSpPr>
          <p:cNvPr id="6" name="Shape 6"/>
          <p:cNvSpPr/>
          <p:nvPr/>
        </p:nvSpPr>
        <p:spPr>
          <a:xfrm>
            <a:off x="3136392" y="2834640"/>
            <a:ext cx="210312" cy="320040"/>
          </a:xfrm>
          <a:prstGeom prst="chevron">
            <a:avLst/>
          </a:prstGeom>
          <a:solidFill>
            <a:srgbClr val="A9C7DE"/>
          </a:solidFill>
          <a:ln>
            <a:noFill/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Shape 7"/>
              <p:cNvSpPr/>
              <p:nvPr/>
            </p:nvSpPr>
            <p:spPr>
              <a:xfrm>
                <a:off x="3392424" y="2103120"/>
                <a:ext cx="2542032" cy="1783080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164592" tIns="548640" rIns="137160" bIns="91440" rtlCol="0" anchor="t">
                <a:noAutofit/>
              </a:bodyPr>
              <a:lstStyle/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7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ជំនួស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7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m-KH" sz="17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រួចរៀបតាមស្វ័យគុណនៃ </a:t>
                </a:r>
                <a14:m>
                  <m:oMath xmlns:m="http://schemas.openxmlformats.org/officeDocument/2006/math">
                    <m:r>
                      <a:rPr lang="en-US" sz="17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1700" dirty="0"/>
              </a:p>
            </p:txBody>
          </p:sp>
        </mc:Choice>
        <mc:Fallback xmlns="">
          <p:sp>
            <p:nvSpPr>
              <p:cNvPr id="7" name="Shape 7"/>
              <p:cNvSpPr/>
              <p:nvPr/>
            </p:nvSpPr>
            <p:spPr>
              <a:xfrm>
                <a:off x="3392424" y="2103120"/>
                <a:ext cx="2542032" cy="1783080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164592" tIns="548640" rIns="137160" bIns="91440" rtlCol="0" anchor="t">
                <a:noAutofit/>
              </a:bodyPr>
              <a:lstStyle/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7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ជំនួស </a:t>
                </a:r>
                <a:r>
                  <a:rPr lang="km-KH" sz="17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rₙ</a:t>
                </a:r>
                <a:r>
                  <a:rPr lang="km-KH" sz="17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រួចរៀបតាមស្វ័យគុណនៃ </a:t>
                </a:r>
                <a:r>
                  <a:rPr lang="km-KH" sz="17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n</a:t>
                </a:r>
                <a:endParaRPr lang="en-US" sz="1700" dirty="0"/>
              </a:p>
            </p:txBody>
          </p:sp>
        </mc:Fallback>
      </mc:AlternateContent>
      <p:sp>
        <p:nvSpPr>
          <p:cNvPr id="8" name="Shape 8"/>
          <p:cNvSpPr/>
          <p:nvPr/>
        </p:nvSpPr>
        <p:spPr>
          <a:xfrm>
            <a:off x="3557016" y="2212848"/>
            <a:ext cx="438912" cy="438912"/>
          </a:xfrm>
          <a:prstGeom prst="ellipse">
            <a:avLst/>
          </a:prstGeom>
          <a:solidFill>
            <a:srgbClr val="C0272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600" b="1" dirty="0">
                <a:solidFill>
                  <a:srgbClr val="FFFFFF"/>
                </a:solidFill>
                <a:latin typeface="Kh Battambang"/>
                <a:cs typeface="Kh Battambang"/>
              </a:rPr>
              <a:t>២</a:t>
            </a:r>
            <a:endParaRPr lang="en-US" sz="1600" dirty="0"/>
          </a:p>
        </p:txBody>
      </p:sp>
      <p:sp>
        <p:nvSpPr>
          <p:cNvPr id="9" name="Shape 9"/>
          <p:cNvSpPr/>
          <p:nvPr/>
        </p:nvSpPr>
        <p:spPr>
          <a:xfrm>
            <a:off x="5980176" y="2834640"/>
            <a:ext cx="210312" cy="320040"/>
          </a:xfrm>
          <a:prstGeom prst="chevron">
            <a:avLst/>
          </a:prstGeom>
          <a:solidFill>
            <a:srgbClr val="A9C7DE"/>
          </a:solidFill>
          <a:ln>
            <a:noFill/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Shape 10"/>
              <p:cNvSpPr/>
              <p:nvPr/>
            </p:nvSpPr>
            <p:spPr>
              <a:xfrm>
                <a:off x="6236208" y="2103120"/>
                <a:ext cx="2542032" cy="1783080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164592" tIns="548640" rIns="137160" bIns="91440" rtlCol="0" anchor="t">
                <a:noAutofit/>
              </a:bodyPr>
              <a:lstStyle/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7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ផ្ទឹមមេគុណ ⇒ ប្រព័ន្ធសមីការ រក </a:t>
                </a:r>
                <a14:m>
                  <m:oMath xmlns:m="http://schemas.openxmlformats.org/officeDocument/2006/math">
                    <m:r>
                      <a:rPr lang="en-US" sz="17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7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 , ���</m:t>
                    </m:r>
                  </m:oMath>
                </a14:m>
                <a:endParaRPr lang="en-US" sz="1700" dirty="0"/>
              </a:p>
            </p:txBody>
          </p:sp>
        </mc:Choice>
        <mc:Fallback xmlns="">
          <p:sp>
            <p:nvSpPr>
              <p:cNvPr id="10" name="Shape 10"/>
              <p:cNvSpPr/>
              <p:nvPr/>
            </p:nvSpPr>
            <p:spPr>
              <a:xfrm>
                <a:off x="6236208" y="2103120"/>
                <a:ext cx="2542032" cy="1783080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164592" tIns="548640" rIns="137160" bIns="91440" rtlCol="0" anchor="t">
                <a:noAutofit/>
              </a:bodyPr>
              <a:lstStyle/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7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ផ្ទឹមមេគុណ ⇒ ប្រព័ន្ធសមីការ រក </a:t>
                </a:r>
                <a:r>
                  <a:rPr lang="km-KH" sz="17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α , β</a:t>
                </a:r>
                <a:endParaRPr lang="en-US" sz="1700" dirty="0"/>
              </a:p>
            </p:txBody>
          </p:sp>
        </mc:Fallback>
      </mc:AlternateContent>
      <p:sp>
        <p:nvSpPr>
          <p:cNvPr id="11" name="Shape 11"/>
          <p:cNvSpPr/>
          <p:nvPr/>
        </p:nvSpPr>
        <p:spPr>
          <a:xfrm>
            <a:off x="6400800" y="2212848"/>
            <a:ext cx="438912" cy="438912"/>
          </a:xfrm>
          <a:prstGeom prst="ellipse">
            <a:avLst/>
          </a:prstGeom>
          <a:solidFill>
            <a:srgbClr val="E0A1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600" b="1" dirty="0">
                <a:solidFill>
                  <a:srgbClr val="FFFFFF"/>
                </a:solidFill>
                <a:latin typeface="Kh Battambang"/>
                <a:cs typeface="Kh Battambang"/>
              </a:rPr>
              <a:t>៣</a:t>
            </a:r>
            <a:endParaRPr lang="en-US" sz="1600" dirty="0"/>
          </a:p>
        </p:txBody>
      </p:sp>
      <p:sp>
        <p:nvSpPr>
          <p:cNvPr id="12" name="Shape 12"/>
          <p:cNvSpPr/>
          <p:nvPr/>
        </p:nvSpPr>
        <p:spPr>
          <a:xfrm>
            <a:off x="8823960" y="2834640"/>
            <a:ext cx="210312" cy="320040"/>
          </a:xfrm>
          <a:prstGeom prst="chevron">
            <a:avLst/>
          </a:prstGeom>
          <a:solidFill>
            <a:srgbClr val="A9C7DE"/>
          </a:solidFill>
          <a:ln>
            <a:noFill/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Shape 13"/>
              <p:cNvSpPr/>
              <p:nvPr/>
            </p:nvSpPr>
            <p:spPr>
              <a:xfrm>
                <a:off x="9079992" y="2103120"/>
                <a:ext cx="2542032" cy="1783080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164592" tIns="548640" rIns="137160" bIns="91440" rtlCol="0" anchor="t">
                <a:noAutofit/>
              </a:bodyPr>
              <a:lstStyle/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7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7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7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7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7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7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7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m-KH" sz="17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ជាស្វ៊ីតធរណីមាត្រ 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7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7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7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7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7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7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7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1700" dirty="0"/>
              </a:p>
            </p:txBody>
          </p:sp>
        </mc:Choice>
        <mc:Fallback xmlns="">
          <p:sp>
            <p:nvSpPr>
              <p:cNvPr id="13" name="Shape 13"/>
              <p:cNvSpPr/>
              <p:nvPr/>
            </p:nvSpPr>
            <p:spPr>
              <a:xfrm>
                <a:off x="9079992" y="2103120"/>
                <a:ext cx="2542032" cy="1783080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164592" tIns="548640" rIns="137160" bIns="91440" rtlCol="0" anchor="t">
                <a:noAutofit/>
              </a:bodyPr>
              <a:lstStyle/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7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Vₙ=aₙ−rₙ</a:t>
                </a:r>
                <a:r>
                  <a:rPr lang="km-KH" sz="17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ជាស្វ៊ីតធរណីមាត្រ ⇒ </a:t>
                </a:r>
                <a:r>
                  <a:rPr lang="km-KH" sz="17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aₙ=Vₙ+rₙ</a:t>
                </a:r>
                <a:endParaRPr lang="en-US" sz="1700" dirty="0"/>
              </a:p>
            </p:txBody>
          </p:sp>
        </mc:Fallback>
      </mc:AlternateContent>
      <p:sp>
        <p:nvSpPr>
          <p:cNvPr id="14" name="Shape 14"/>
          <p:cNvSpPr/>
          <p:nvPr/>
        </p:nvSpPr>
        <p:spPr>
          <a:xfrm>
            <a:off x="9244584" y="2212848"/>
            <a:ext cx="438912" cy="438912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600" b="1" dirty="0">
                <a:solidFill>
                  <a:srgbClr val="FFFFFF"/>
                </a:solidFill>
                <a:latin typeface="Kh Battambang"/>
                <a:cs typeface="Kh Battambang"/>
              </a:rPr>
              <a:t>៤</a:t>
            </a:r>
            <a:endParaRPr lang="en-US" sz="1600" dirty="0"/>
          </a:p>
        </p:txBody>
      </p:sp>
      <p:sp>
        <p:nvSpPr>
          <p:cNvPr id="15" name="Shape 15"/>
          <p:cNvSpPr/>
          <p:nvPr/>
        </p:nvSpPr>
        <p:spPr>
          <a:xfrm>
            <a:off x="548640" y="4114800"/>
            <a:ext cx="11091672" cy="2240280"/>
          </a:xfrm>
          <a:prstGeom prst="roundRect">
            <a:avLst>
              <a:gd name="adj" fmla="val 9000"/>
            </a:avLst>
          </a:prstGeom>
          <a:solidFill>
            <a:srgbClr val="EAF2F8"/>
          </a:solidFill>
          <a:ln w="12700">
            <a:solidFill>
              <a:srgbClr val="EAF2F8"/>
            </a:solidFill>
          </a:ln>
        </p:spPr>
        <p:txBody>
          <a:bodyPr wrap="square" lIns="182880" tIns="109728" rIns="182880" bIns="109728" rtlCol="0" anchor="t">
            <a:noAutofit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Shape 16"/>
              <p:cNvSpPr txBox="1"/>
              <p:nvPr/>
            </p:nvSpPr>
            <p:spPr>
              <a:xfrm>
                <a:off x="822960" y="4224528"/>
                <a:ext cx="5486400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900" b="1" dirty="0">
                    <a:solidFill>
                      <a:srgbClr val="0F5174"/>
                    </a:solidFill>
                    <a:latin typeface="Kh Battambang"/>
                    <a:cs typeface="Kh Battambang"/>
                  </a:rPr>
                  <a:t>ឧទាហរណ៍៖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900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900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900" i="1" dirty="0">
                        <a:solidFill>
                          <a:srgbClr val="0F5174"/>
                        </a:solidFill>
                        <a:latin typeface="Cambria Math" panose="02040503050406030204" pitchFamily="18" charset="0"/>
                      </a:rPr>
                      <m:t>=1+4</m:t>
                    </m:r>
                    <m:sSub>
                      <m:sSubPr>
                        <m:ctrlPr>
                          <a:rPr lang="en-US" sz="1900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900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1900" dirty="0"/>
              </a:p>
            </p:txBody>
          </p:sp>
        </mc:Choice>
        <mc:Fallback xmlns="">
          <p:sp>
            <p:nvSpPr>
              <p:cNvPr id="16" name="Shape 16"/>
              <p:cNvSpPr txBox="1"/>
              <p:nvPr/>
            </p:nvSpPr>
            <p:spPr>
              <a:xfrm>
                <a:off x="822960" y="4224528"/>
                <a:ext cx="5486400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900" b="1" dirty="0">
                    <a:solidFill>
                      <a:srgbClr val="0F5174"/>
                    </a:solidFill>
                    <a:latin typeface="Kh Battambang"/>
                    <a:cs typeface="Kh Battambang"/>
                  </a:rPr>
                  <a:t>ឧទាហរណ៍៖ </a:t>
                </a:r>
                <a:r>
                  <a:rPr lang="km-KH" sz="1900" i="1" dirty="0">
                    <a:solidFill>
                      <a:srgbClr val="0F5174"/>
                    </a:solidFill>
                    <a:latin typeface="Cambria Math"/>
                    <a:cs typeface="Cambria Math"/>
                  </a:rPr>
                  <a:t>aₙ₊₁=1+4aₙ</a:t>
                </a:r>
                <a:endParaRPr lang="en-US" sz="19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Shape 17"/>
              <p:cNvSpPr txBox="1"/>
              <p:nvPr/>
            </p:nvSpPr>
            <p:spPr>
              <a:xfrm>
                <a:off x="1005840" y="4709160"/>
                <a:ext cx="5486400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20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(���+1)+���=1+4(������+���)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Shape 17"/>
              <p:cNvSpPr txBox="1"/>
              <p:nvPr/>
            </p:nvSpPr>
            <p:spPr>
              <a:xfrm>
                <a:off x="1005840" y="4709160"/>
                <a:ext cx="5486400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α(n+1)+β=1+4(αn+β)</a:t>
                </a:r>
                <a:endParaRPr lang="en-US" sz="20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Shape 18"/>
              <p:cNvSpPr txBox="1"/>
              <p:nvPr/>
            </p:nvSpPr>
            <p:spPr>
              <a:xfrm>
                <a:off x="1005840" y="5276088"/>
                <a:ext cx="5486400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⇔3������+3���−���+1=0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" name="Shape 18"/>
              <p:cNvSpPr txBox="1"/>
              <p:nvPr/>
            </p:nvSpPr>
            <p:spPr>
              <a:xfrm>
                <a:off x="1005840" y="5276088"/>
                <a:ext cx="5486400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⇔3αn+3β−α+1=0</a:t>
                </a:r>
                <a:endParaRPr lang="en-US" sz="20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Shape 19"/>
              <p:cNvSpPr txBox="1"/>
              <p:nvPr/>
            </p:nvSpPr>
            <p:spPr>
              <a:xfrm>
                <a:off x="6400800" y="4572000"/>
                <a:ext cx="5120640" cy="1051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ផ្ទឹមមេគុណ៖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2000" i="1" dirty="0">
                                <a:solidFill>
                                  <a:srgbClr val="1F293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2000" i="1" dirty="0">
                                <a:solidFill>
                                  <a:srgbClr val="1F2937"/>
                                </a:solidFill>
                                <a:latin typeface="Cambria Math" panose="02040503050406030204" pitchFamily="18" charset="0"/>
                              </a:rPr>
                              <m:t>3���=0</m:t>
                            </m:r>
                          </m:e>
                          <m:e>
                            <m:r>
                              <a:rPr lang="en-US" sz="2000" i="1" dirty="0">
                                <a:solidFill>
                                  <a:srgbClr val="1F2937"/>
                                </a:solidFill>
                                <a:latin typeface="Cambria Math" panose="02040503050406030204" pitchFamily="18" charset="0"/>
                              </a:rPr>
                              <m:t>3���−���+1=0</m:t>
                            </m:r>
                          </m:e>
                        </m:eqArr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9" name="Shape 19"/>
              <p:cNvSpPr txBox="1"/>
              <p:nvPr/>
            </p:nvSpPr>
            <p:spPr>
              <a:xfrm>
                <a:off x="6400800" y="4572000"/>
                <a:ext cx="5120640" cy="1051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ផ្ទឹមមេគុណ៖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{ 3α=0 ; 3β−α+1=0</a:t>
                </a:r>
                <a:endParaRPr lang="en-US" sz="20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Shape 20"/>
              <p:cNvSpPr txBox="1"/>
              <p:nvPr/>
            </p:nvSpPr>
            <p:spPr>
              <a:xfrm>
                <a:off x="6400800" y="5669280"/>
                <a:ext cx="5120640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=0 , ���=−</m:t>
                    </m:r>
                    <m:f>
                      <m:f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C0272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C0272D"/>
                            </a:solidFill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C0272D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C0272D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000" b="1" i="1" dirty="0">
                            <a:solidFill>
                              <a:srgbClr val="C0272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1" i="1" dirty="0">
                            <a:solidFill>
                              <a:srgbClr val="C0272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1" i="1" dirty="0">
                            <a:solidFill>
                              <a:srgbClr val="C0272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20" name="Shape 20"/>
              <p:cNvSpPr txBox="1"/>
              <p:nvPr/>
            </p:nvSpPr>
            <p:spPr>
              <a:xfrm>
                <a:off x="6400800" y="5669280"/>
                <a:ext cx="5120640" cy="548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α=0 , β=−1/3</a:t>
                </a: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⇒ </a:t>
                </a:r>
                <a:r>
                  <a:rPr lang="km-KH" sz="2000" b="1" i="1" dirty="0">
                    <a:solidFill>
                      <a:srgbClr val="C0272D"/>
                    </a:solidFill>
                    <a:latin typeface="Cambria Math"/>
                    <a:cs typeface="Cambria Math"/>
                  </a:rPr>
                  <a:t>rₙ=−1/3</a:t>
                </a:r>
                <a:endParaRPr lang="en-US" sz="2000" dirty="0"/>
              </a:p>
            </p:txBody>
          </p:sp>
        </mc:Fallback>
      </mc:AlternateContent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m-KH" dirty="0"/>
              <a:t>គន្លឹះរហ័សសម្រាប់ទម្រង់ពិសេស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hape 3"/>
              <p:cNvSpPr/>
              <p:nvPr/>
            </p:nvSpPr>
            <p:spPr>
              <a:xfrm>
                <a:off x="548640" y="1463040"/>
                <a:ext cx="5760720" cy="3063240"/>
              </a:xfrm>
              <a:prstGeom prst="roundRect">
                <a:avLst>
                  <a:gd name="adj" fmla="val 9000"/>
                </a:avLst>
              </a:prstGeom>
              <a:solidFill>
                <a:srgbClr val="FFF6DC"/>
              </a:solidFill>
              <a:ln w="12700">
                <a:solidFill>
                  <a:srgbClr val="F1D58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960120" tIns="182880" rIns="182880" bIns="137160" rtlCol="0" anchor="t">
                <a:noAutofit/>
              </a:bodyPr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km-KH" sz="21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ទម្រង់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1" i="1" dirty="0">
                            <a:solidFill>
                              <a:srgbClr val="8A62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1" i="1" dirty="0">
                            <a:solidFill>
                              <a:srgbClr val="8A62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2100" b="1" i="1" dirty="0">
                            <a:solidFill>
                              <a:srgbClr val="8A62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100" b="1" i="1" dirty="0">
                            <a:solidFill>
                              <a:srgbClr val="8A6200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100" b="1" i="1" dirty="0">
                        <a:solidFill>
                          <a:srgbClr val="8A6200"/>
                        </a:solidFill>
                        <a:latin typeface="Cambria Math" panose="02040503050406030204" pitchFamily="18" charset="0"/>
                      </a:rPr>
                      <m:t>=���</m:t>
                    </m:r>
                    <m:sSub>
                      <m:sSubPr>
                        <m:ctrlPr>
                          <a:rPr lang="en-US" sz="2100" b="1" i="1" dirty="0">
                            <a:solidFill>
                              <a:srgbClr val="8A62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1" i="1" dirty="0">
                            <a:solidFill>
                              <a:srgbClr val="8A6200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2100" b="1" i="1" dirty="0">
                            <a:solidFill>
                              <a:srgbClr val="8A6200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sz="2100" b="1" i="1" dirty="0">
                        <a:solidFill>
                          <a:srgbClr val="8A6200"/>
                        </a:solidFill>
                        <a:latin typeface="Cambria Math" panose="02040503050406030204" pitchFamily="18" charset="0"/>
                      </a:rPr>
                      <m:t>+���  (���≠1)</m:t>
                    </m:r>
                  </m:oMath>
                </a14:m>
                <a:endParaRPr lang="en-US" sz="2100" dirty="0"/>
              </a:p>
              <a:p>
                <a:pPr algn="l">
                  <a:lnSpc>
                    <a:spcPct val="130000"/>
                  </a:lnSpc>
                  <a:spcBef>
                    <a:spcPts val="0"/>
                  </a:spcBef>
                  <a:spcAft>
                    <a:spcPts val="400"/>
                  </a:spcAft>
                  <a:buNone/>
                </a:pP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១. ដោះស្រាយ </a:t>
                </a:r>
                <a14:m>
                  <m:oMath xmlns:m="http://schemas.openxmlformats.org/officeDocument/2006/math"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=���</m:t>
                    </m:r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+���</m:t>
                    </m:r>
                  </m:oMath>
                </a14:m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 ⇒  </a:t>
                </a:r>
                <a14:m>
                  <m:oMath xmlns:m="http://schemas.openxmlformats.org/officeDocument/2006/math"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1−���</m:t>
                        </m:r>
                      </m:den>
                    </m:f>
                  </m:oMath>
                </a14:m>
                <a:endParaRPr lang="en-US" sz="1900" dirty="0"/>
              </a:p>
              <a:p>
                <a:pPr algn="l">
                  <a:lnSpc>
                    <a:spcPct val="130000"/>
                  </a:lnSpc>
                  <a:spcBef>
                    <a:spcPts val="0"/>
                  </a:spcBef>
                  <a:spcAft>
                    <a:spcPts val="400"/>
                  </a:spcAft>
                  <a:buNone/>
                </a:pP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២. </a:t>
                </a:r>
                <a14:m>
                  <m:oMath xmlns:m="http://schemas.openxmlformats.org/officeDocument/2006/math"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−���)</m:t>
                    </m:r>
                  </m:oMath>
                </a14:m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ជាស្វ៊ីតធរណីមាត្រ ផលធៀប </a:t>
                </a:r>
                <a14:m>
                  <m:oMath xmlns:m="http://schemas.openxmlformats.org/officeDocument/2006/math"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sz="1900" dirty="0"/>
              </a:p>
              <a:p>
                <a:pPr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1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៣.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1" i="1" dirty="0">
                            <a:solidFill>
                              <a:srgbClr val="C0272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1" i="1" dirty="0">
                            <a:solidFill>
                              <a:srgbClr val="C0272D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2100" b="1" i="1" dirty="0">
                            <a:solidFill>
                              <a:srgbClr val="C0272D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sz="2100" b="1" i="1" dirty="0">
                        <a:solidFill>
                          <a:srgbClr val="C0272D"/>
                        </a:solidFill>
                        <a:latin typeface="Cambria Math" panose="02040503050406030204" pitchFamily="18" charset="0"/>
                      </a:rPr>
                      <m:t>=���+(</m:t>
                    </m:r>
                    <m:sSub>
                      <m:sSubPr>
                        <m:ctrlPr>
                          <a:rPr lang="en-US" sz="2100" b="1" i="1" dirty="0">
                            <a:solidFill>
                              <a:srgbClr val="C0272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1" i="1" dirty="0">
                            <a:solidFill>
                              <a:srgbClr val="C0272D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2100" b="1" i="1" dirty="0">
                            <a:solidFill>
                              <a:srgbClr val="C0272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100" b="1" i="1" dirty="0">
                        <a:solidFill>
                          <a:srgbClr val="C0272D"/>
                        </a:solidFill>
                        <a:latin typeface="Cambria Math" panose="02040503050406030204" pitchFamily="18" charset="0"/>
                      </a:rPr>
                      <m:t>−���)</m:t>
                    </m:r>
                    <m:sSup>
                      <m:sSupPr>
                        <m:ctrlPr>
                          <a:rPr lang="en-US" sz="2100" b="1" i="1" dirty="0">
                            <a:solidFill>
                              <a:srgbClr val="C0272D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b="1" i="1" dirty="0">
                            <a:solidFill>
                              <a:srgbClr val="C0272D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US" sz="2100" b="1" i="1" dirty="0">
                            <a:solidFill>
                              <a:srgbClr val="C0272D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100" b="1" i="1" dirty="0">
                            <a:solidFill>
                              <a:srgbClr val="C0272D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sz="2100" dirty="0"/>
              </a:p>
            </p:txBody>
          </p:sp>
        </mc:Choice>
        <mc:Fallback xmlns="">
          <p:sp>
            <p:nvSpPr>
              <p:cNvPr id="3" name="Shape 3"/>
              <p:cNvSpPr/>
              <p:nvPr/>
            </p:nvSpPr>
            <p:spPr>
              <a:xfrm>
                <a:off x="548640" y="1463040"/>
                <a:ext cx="5760720" cy="3063240"/>
              </a:xfrm>
              <a:prstGeom prst="roundRect">
                <a:avLst>
                  <a:gd name="adj" fmla="val 9000"/>
                </a:avLst>
              </a:prstGeom>
              <a:solidFill>
                <a:srgbClr val="FFF6DC"/>
              </a:solidFill>
              <a:ln w="12700">
                <a:solidFill>
                  <a:srgbClr val="F1D58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960120" tIns="182880" rIns="182880" bIns="137160" rtlCol="0" anchor="t">
                <a:noAutofit/>
              </a:bodyPr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km-KH" sz="21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ទម្រង់  </a:t>
                </a:r>
                <a:r>
                  <a:rPr lang="km-KH" sz="2100" b="1" i="1" dirty="0">
                    <a:solidFill>
                      <a:srgbClr val="8A6200"/>
                    </a:solidFill>
                    <a:latin typeface="Cambria Math"/>
                    <a:cs typeface="Cambria Math"/>
                  </a:rPr>
                  <a:t>aₙ₊₁=paₙ+q  (p≠1)</a:t>
                </a:r>
                <a:endParaRPr lang="en-US" sz="2100" dirty="0"/>
              </a:p>
              <a:p>
                <a:pPr algn="l">
                  <a:lnSpc>
                    <a:spcPct val="130000"/>
                  </a:lnSpc>
                  <a:spcBef>
                    <a:spcPts val="0"/>
                  </a:spcBef>
                  <a:spcAft>
                    <a:spcPts val="400"/>
                  </a:spcAft>
                  <a:buNone/>
                </a:pP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១. ដោះស្រាយ </a:t>
                </a:r>
                <a:r>
                  <a:rPr lang="km-KH" sz="19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c=pc+q</a:t>
                </a: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 ⇒  </a:t>
                </a:r>
                <a:r>
                  <a:rPr lang="km-KH" sz="19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c=q/(1−p)</a:t>
                </a:r>
                <a:endParaRPr lang="en-US" sz="1900" dirty="0"/>
              </a:p>
              <a:p>
                <a:pPr algn="l">
                  <a:lnSpc>
                    <a:spcPct val="130000"/>
                  </a:lnSpc>
                  <a:spcBef>
                    <a:spcPts val="0"/>
                  </a:spcBef>
                  <a:spcAft>
                    <a:spcPts val="400"/>
                  </a:spcAft>
                  <a:buNone/>
                </a:pP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២. </a:t>
                </a:r>
                <a:r>
                  <a:rPr lang="km-KH" sz="19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(aₙ−c)</a:t>
                </a: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ជាស្វ៊ីតធរណីមាត្រ ផលធៀប </a:t>
                </a:r>
                <a:r>
                  <a:rPr lang="km-KH" sz="19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p</a:t>
                </a:r>
                <a:endParaRPr lang="en-US" sz="1900" dirty="0"/>
              </a:p>
              <a:p>
                <a:pPr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1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៣. </a:t>
                </a:r>
                <a:r>
                  <a:rPr lang="km-KH" sz="2100" b="1" i="1" dirty="0">
                    <a:solidFill>
                      <a:srgbClr val="C0272D"/>
                    </a:solidFill>
                    <a:latin typeface="Cambria Math"/>
                    <a:cs typeface="Cambria Math"/>
                  </a:rPr>
                  <a:t>aₙ=c+(a₁−c)pⁿ⁻¹</a:t>
                </a:r>
                <a:endParaRPr lang="en-US" sz="2100" dirty="0"/>
              </a:p>
            </p:txBody>
          </p:sp>
        </mc:Fallback>
      </mc:AlternateContent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1664208"/>
            <a:ext cx="594360" cy="5943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Shape 5"/>
              <p:cNvSpPr/>
              <p:nvPr/>
            </p:nvSpPr>
            <p:spPr>
              <a:xfrm>
                <a:off x="6537960" y="1463040"/>
                <a:ext cx="5102352" cy="3063240"/>
              </a:xfrm>
              <a:prstGeom prst="roundRect">
                <a:avLst>
                  <a:gd name="adj" fmla="val 9000"/>
                </a:avLst>
              </a:prstGeom>
              <a:solidFill>
                <a:srgbClr val="EAF2F8"/>
              </a:solidFill>
              <a:ln w="12700">
                <a:solidFill>
                  <a:srgbClr val="A9C7DE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274320" tIns="182880" rIns="182880" bIns="137160" rtlCol="0" anchor="t">
                <a:noAutofit/>
              </a:bodyPr>
              <a:lstStyle/>
              <a:p>
                <a:pPr algn="l">
                  <a:lnSpc>
                    <a:spcPct val="115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km-KH" sz="1900" b="1" dirty="0">
                    <a:solidFill>
                      <a:srgbClr val="0F5174"/>
                    </a:solidFill>
                    <a:latin typeface="Kh Battambang"/>
                    <a:cs typeface="Kh Battambang"/>
                  </a:rPr>
                  <a:t>អនុវត្តលើលំហាត់គំរូ ១</a:t>
                </a:r>
                <a:endParaRPr lang="en-US" sz="1900" dirty="0"/>
              </a:p>
              <a:p>
                <a:pPr algn="l">
                  <a:lnSpc>
                    <a:spcPct val="130000"/>
                  </a:lnSpc>
                  <a:spcBef>
                    <a:spcPts val="0"/>
                  </a:spcBef>
                  <a:spcAft>
                    <a:spcPts val="40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=4 , ���=1</m:t>
                    </m:r>
                  </m:oMath>
                </a14:m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 ⇒  </a:t>
                </a:r>
                <a14:m>
                  <m:oMath xmlns:m="http://schemas.openxmlformats.org/officeDocument/2006/math"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1−4</m:t>
                        </m:r>
                      </m:den>
                    </m:f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US" sz="1900" dirty="0"/>
              </a:p>
              <a:p>
                <a:pPr algn="l">
                  <a:lnSpc>
                    <a:spcPct val="130000"/>
                  </a:lnSpc>
                  <a:spcBef>
                    <a:spcPts val="0"/>
                  </a:spcBef>
                  <a:spcAft>
                    <a:spcPts val="4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9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US" sz="19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en-US" sz="1900" i="1" dirty="0">
                                  <a:solidFill>
                                    <a:srgbClr val="1F293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900" i="1" dirty="0">
                                  <a:solidFill>
                                    <a:srgbClr val="1F2937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1900" i="1" dirty="0">
                                  <a:solidFill>
                                    <a:srgbClr val="1F2937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1900" dirty="0"/>
              </a:p>
              <a:p>
                <a:pPr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2E7D4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b="1" i="1" dirty="0">
                                <a:solidFill>
                                  <a:srgbClr val="2E7D4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1" i="1" dirty="0">
                                <a:solidFill>
                                  <a:srgbClr val="2E7D4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  <m:sup>
                            <m:r>
                              <a:rPr lang="en-US" sz="2000" b="1" i="1" dirty="0">
                                <a:solidFill>
                                  <a:srgbClr val="2E7D4F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  <m:r>
                          <a:rPr lang="en-US" sz="20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num>
                      <m:den>
                        <m:r>
                          <a:rPr lang="en-US" sz="20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km-KH" sz="2000" b="1" dirty="0">
                    <a:solidFill>
                      <a:srgbClr val="2E7D4F"/>
                    </a:solidFill>
                    <a:latin typeface="Kh Battambang"/>
                    <a:cs typeface="Kh Battambang"/>
                  </a:rPr>
                  <a:t>  ✔ ដូចគ្នា!</a:t>
                </a:r>
                <a:endParaRPr lang="en-US" sz="2000" dirty="0"/>
              </a:p>
            </p:txBody>
          </p:sp>
        </mc:Choice>
        <mc:Fallback xmlns="">
          <p:sp>
            <p:nvSpPr>
              <p:cNvPr id="5" name="Shape 5"/>
              <p:cNvSpPr/>
              <p:nvPr/>
            </p:nvSpPr>
            <p:spPr>
              <a:xfrm>
                <a:off x="6537960" y="1463040"/>
                <a:ext cx="5102352" cy="3063240"/>
              </a:xfrm>
              <a:prstGeom prst="roundRect">
                <a:avLst>
                  <a:gd name="adj" fmla="val 9000"/>
                </a:avLst>
              </a:prstGeom>
              <a:solidFill>
                <a:srgbClr val="EAF2F8"/>
              </a:solidFill>
              <a:ln w="12700">
                <a:solidFill>
                  <a:srgbClr val="A9C7DE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274320" tIns="182880" rIns="182880" bIns="137160" rtlCol="0" anchor="t">
                <a:noAutofit/>
              </a:bodyPr>
              <a:lstStyle/>
              <a:p>
                <a:pPr algn="l">
                  <a:lnSpc>
                    <a:spcPct val="115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km-KH" sz="1900" b="1" dirty="0">
                    <a:solidFill>
                      <a:srgbClr val="0F5174"/>
                    </a:solidFill>
                    <a:latin typeface="Kh Battambang"/>
                    <a:cs typeface="Kh Battambang"/>
                  </a:rPr>
                  <a:t>អនុវត្តលើលំហាត់គំរូ ១</a:t>
                </a:r>
                <a:endParaRPr lang="en-US" sz="1900" dirty="0"/>
              </a:p>
              <a:p>
                <a:pPr algn="l">
                  <a:lnSpc>
                    <a:spcPct val="130000"/>
                  </a:lnSpc>
                  <a:spcBef>
                    <a:spcPts val="0"/>
                  </a:spcBef>
                  <a:spcAft>
                    <a:spcPts val="400"/>
                  </a:spcAft>
                  <a:buNone/>
                </a:pPr>
                <a:r>
                  <a:rPr lang="km-KH" sz="19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p=4 , q=1</a:t>
                </a: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 ⇒  </a:t>
                </a:r>
                <a:r>
                  <a:rPr lang="km-KH" sz="19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c=1/(1−4)=−1/3</a:t>
                </a:r>
                <a:endParaRPr lang="en-US" sz="1900" dirty="0"/>
              </a:p>
              <a:p>
                <a:pPr algn="l">
                  <a:lnSpc>
                    <a:spcPct val="130000"/>
                  </a:lnSpc>
                  <a:spcBef>
                    <a:spcPts val="0"/>
                  </a:spcBef>
                  <a:spcAft>
                    <a:spcPts val="400"/>
                  </a:spcAft>
                  <a:buNone/>
                </a:pPr>
                <a:r>
                  <a:rPr lang="km-KH" sz="19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aₙ=−1/3+(1+1/3)4ⁿ⁻¹</a:t>
                </a:r>
                <a:endParaRPr lang="en-US" sz="1900" dirty="0"/>
              </a:p>
              <a:p>
                <a:pPr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b="1" i="1" dirty="0">
                    <a:solidFill>
                      <a:srgbClr val="2E7D4F"/>
                    </a:solidFill>
                    <a:latin typeface="Cambria Math"/>
                    <a:cs typeface="Cambria Math"/>
                  </a:rPr>
                  <a:t>aₙ=(4ⁿ−1)/3</a:t>
                </a:r>
                <a:r>
                  <a:rPr lang="km-KH" sz="2000" b="1" dirty="0">
                    <a:solidFill>
                      <a:srgbClr val="2E7D4F"/>
                    </a:solidFill>
                    <a:latin typeface="Kh Battambang"/>
                    <a:cs typeface="Kh Battambang"/>
                  </a:rPr>
                  <a:t>  ✔ ដូចគ្នា!</a:t>
                </a:r>
                <a:endParaRPr lang="en-US" sz="20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Shape 6"/>
              <p:cNvSpPr txBox="1"/>
              <p:nvPr/>
            </p:nvSpPr>
            <p:spPr>
              <a:xfrm>
                <a:off x="548640" y="4681728"/>
                <a:ext cx="11091672" cy="3840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b="1" dirty="0">
                    <a:solidFill>
                      <a:srgbClr val="0F5174"/>
                    </a:solidFill>
                    <a:latin typeface="Kh Battambang"/>
                    <a:cs typeface="Kh Battambang"/>
                  </a:rPr>
                  <a:t>ជ្រើសរើសស្វ៊ីតជំនួយ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m-KH" sz="1800" b="1" dirty="0">
                    <a:solidFill>
                      <a:srgbClr val="0F5174"/>
                    </a:solidFill>
                    <a:latin typeface="Kh Battambang"/>
                    <a:cs typeface="Kh Battambang"/>
                  </a:rPr>
                  <a:t> តាមរូបរាង </a:t>
                </a:r>
                <a14:m>
                  <m:oMath xmlns:m="http://schemas.openxmlformats.org/officeDocument/2006/math">
                    <m:r>
                      <a:rPr lang="en-US" sz="1800" i="1" dirty="0">
                        <a:solidFill>
                          <a:srgbClr val="0F5174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1800" i="1" dirty="0">
                        <a:solidFill>
                          <a:srgbClr val="0F5174"/>
                        </a:solidFill>
                        <a:latin typeface="Cambria Math" panose="02040503050406030204" pitchFamily="18" charset="0"/>
                      </a:rPr>
                      <m:t>(���)</m:t>
                    </m:r>
                  </m:oMath>
                </a14:m>
                <a:r>
                  <a:rPr lang="km-KH" sz="1800" b="1" dirty="0">
                    <a:solidFill>
                      <a:srgbClr val="0F5174"/>
                    </a:solidFill>
                    <a:latin typeface="Kh Battambang"/>
                    <a:cs typeface="Kh Battambang"/>
                  </a:rPr>
                  <a:t> ក្នុង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800" i="1" dirty="0">
                        <a:solidFill>
                          <a:srgbClr val="0F5174"/>
                        </a:solidFill>
                        <a:latin typeface="Cambria Math" panose="02040503050406030204" pitchFamily="18" charset="0"/>
                      </a:rPr>
                      <m:t>=���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800" i="1" dirty="0">
                        <a:solidFill>
                          <a:srgbClr val="0F5174"/>
                        </a:solidFill>
                        <a:latin typeface="Cambria Math" panose="02040503050406030204" pitchFamily="18" charset="0"/>
                      </a:rPr>
                      <m:t>+���(���)</m:t>
                    </m:r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6" name="Shape 6"/>
              <p:cNvSpPr txBox="1"/>
              <p:nvPr/>
            </p:nvSpPr>
            <p:spPr>
              <a:xfrm>
                <a:off x="548640" y="4681728"/>
                <a:ext cx="11091672" cy="3840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b="1" dirty="0">
                    <a:solidFill>
                      <a:srgbClr val="0F5174"/>
                    </a:solidFill>
                    <a:latin typeface="Kh Battambang"/>
                    <a:cs typeface="Kh Battambang"/>
                  </a:rPr>
                  <a:t>ជ្រើសរើសស្វ៊ីតជំនួយ </a:t>
                </a:r>
                <a:r>
                  <a:rPr lang="km-KH" sz="1800" i="1" dirty="0">
                    <a:solidFill>
                      <a:srgbClr val="0F5174"/>
                    </a:solidFill>
                    <a:latin typeface="Cambria Math"/>
                    <a:cs typeface="Cambria Math"/>
                  </a:rPr>
                  <a:t>rₙ</a:t>
                </a:r>
                <a:r>
                  <a:rPr lang="km-KH" sz="1800" b="1" dirty="0">
                    <a:solidFill>
                      <a:srgbClr val="0F5174"/>
                    </a:solidFill>
                    <a:latin typeface="Kh Battambang"/>
                    <a:cs typeface="Kh Battambang"/>
                  </a:rPr>
                  <a:t> តាមរូបរាង </a:t>
                </a:r>
                <a:r>
                  <a:rPr lang="km-KH" sz="1800" i="1" dirty="0">
                    <a:solidFill>
                      <a:srgbClr val="0F5174"/>
                    </a:solidFill>
                    <a:latin typeface="Cambria Math"/>
                    <a:cs typeface="Cambria Math"/>
                  </a:rPr>
                  <a:t>f(n)</a:t>
                </a:r>
                <a:r>
                  <a:rPr lang="km-KH" sz="1800" b="1" dirty="0">
                    <a:solidFill>
                      <a:srgbClr val="0F5174"/>
                    </a:solidFill>
                    <a:latin typeface="Kh Battambang"/>
                    <a:cs typeface="Kh Battambang"/>
                  </a:rPr>
                  <a:t> ក្នុង </a:t>
                </a:r>
                <a:r>
                  <a:rPr lang="km-KH" sz="1800" i="1" dirty="0">
                    <a:solidFill>
                      <a:srgbClr val="0F5174"/>
                    </a:solidFill>
                    <a:latin typeface="Cambria Math"/>
                    <a:cs typeface="Cambria Math"/>
                  </a:rPr>
                  <a:t>aₙ₊₁=paₙ+f(n)</a:t>
                </a:r>
                <a:endParaRPr lang="en-US" sz="18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Shape 7"/>
              <p:cNvSpPr/>
              <p:nvPr/>
            </p:nvSpPr>
            <p:spPr>
              <a:xfrm>
                <a:off x="548640" y="5166360"/>
                <a:ext cx="3575304" cy="1188720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182880" tIns="91440" rIns="137160" bIns="91440" rtlCol="0" anchor="ctr">
                <a:noAutofit/>
              </a:bodyPr>
              <a:lstStyle/>
              <a:p>
                <a:pPr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700" dirty="0">
                    <a:solidFill>
                      <a:srgbClr val="5B6B7A"/>
                    </a:solidFill>
                    <a:latin typeface="Kh Battambang"/>
                    <a:cs typeface="Kh Battambang"/>
                  </a:rPr>
                  <a:t>ចំនួនថេរ </a:t>
                </a:r>
                <a14:m>
                  <m:oMath xmlns:m="http://schemas.openxmlformats.org/officeDocument/2006/math">
                    <m:r>
                      <a:rPr lang="en-US" sz="1700" i="1" dirty="0">
                        <a:solidFill>
                          <a:srgbClr val="5B6B7A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sz="1700" dirty="0"/>
              </a:p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=���</m:t>
                    </m:r>
                  </m:oMath>
                </a14:m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(ចំនួនថេរ)</a:t>
                </a:r>
                <a:endParaRPr lang="en-US" sz="1900" dirty="0"/>
              </a:p>
            </p:txBody>
          </p:sp>
        </mc:Choice>
        <mc:Fallback xmlns="">
          <p:sp>
            <p:nvSpPr>
              <p:cNvPr id="7" name="Shape 7"/>
              <p:cNvSpPr/>
              <p:nvPr/>
            </p:nvSpPr>
            <p:spPr>
              <a:xfrm>
                <a:off x="548640" y="5166360"/>
                <a:ext cx="3575304" cy="1188720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182880" tIns="91440" rIns="137160" bIns="91440" rtlCol="0" anchor="ctr">
                <a:noAutofit/>
              </a:bodyPr>
              <a:lstStyle/>
              <a:p>
                <a:pPr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700" dirty="0">
                    <a:solidFill>
                      <a:srgbClr val="5B6B7A"/>
                    </a:solidFill>
                    <a:latin typeface="Kh Battambang"/>
                    <a:cs typeface="Kh Battambang"/>
                  </a:rPr>
                  <a:t>ចំនួនថេរ </a:t>
                </a:r>
                <a:r>
                  <a:rPr lang="km-KH" sz="1700" i="1" dirty="0">
                    <a:solidFill>
                      <a:srgbClr val="5B6B7A"/>
                    </a:solidFill>
                    <a:latin typeface="Cambria Math"/>
                    <a:cs typeface="Cambria Math"/>
                  </a:rPr>
                  <a:t>q</a:t>
                </a:r>
                <a:endParaRPr lang="en-US" sz="1700" dirty="0"/>
              </a:p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→ </a:t>
                </a:r>
                <a:r>
                  <a:rPr lang="km-KH" sz="19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rₙ=c</a:t>
                </a: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(ចំនួនថេរ)</a:t>
                </a:r>
                <a:endParaRPr lang="en-US" sz="19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Shape 8"/>
              <p:cNvSpPr/>
              <p:nvPr/>
            </p:nvSpPr>
            <p:spPr>
              <a:xfrm>
                <a:off x="4306824" y="5166360"/>
                <a:ext cx="3575304" cy="1188720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182880" tIns="91440" rIns="137160" bIns="91440" rtlCol="0" anchor="ctr">
                <a:noAutofit/>
              </a:bodyPr>
              <a:lstStyle/>
              <a:p>
                <a:pPr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700" dirty="0">
                    <a:solidFill>
                      <a:srgbClr val="5B6B7A"/>
                    </a:solidFill>
                    <a:latin typeface="Kh Battambang"/>
                    <a:cs typeface="Kh Battambang"/>
                  </a:rPr>
                  <a:t>ពហុធាដឺក្រេ ១៖ </a:t>
                </a:r>
                <a14:m>
                  <m:oMath xmlns:m="http://schemas.openxmlformats.org/officeDocument/2006/math">
                    <m:r>
                      <a:rPr lang="en-US" sz="1700" i="1" dirty="0">
                        <a:solidFill>
                          <a:srgbClr val="5B6B7A"/>
                        </a:solidFill>
                        <a:latin typeface="Cambria Math" panose="02040503050406030204" pitchFamily="18" charset="0"/>
                      </a:rPr>
                      <m:t>𝑎𝑛</m:t>
                    </m:r>
                    <m:r>
                      <a:rPr lang="en-US" sz="1700" i="1" dirty="0">
                        <a:solidFill>
                          <a:srgbClr val="5B6B7A"/>
                        </a:solidFill>
                        <a:latin typeface="Cambria Math" panose="02040503050406030204" pitchFamily="18" charset="0"/>
                      </a:rPr>
                      <m:t>+���</m:t>
                    </m:r>
                  </m:oMath>
                </a14:m>
                <a:endParaRPr lang="en-US" sz="1700" dirty="0"/>
              </a:p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=������+���</m:t>
                    </m:r>
                  </m:oMath>
                </a14:m>
                <a:endParaRPr lang="en-US" sz="1900" dirty="0"/>
              </a:p>
            </p:txBody>
          </p:sp>
        </mc:Choice>
        <mc:Fallback xmlns="">
          <p:sp>
            <p:nvSpPr>
              <p:cNvPr id="8" name="Shape 8"/>
              <p:cNvSpPr/>
              <p:nvPr/>
            </p:nvSpPr>
            <p:spPr>
              <a:xfrm>
                <a:off x="4306824" y="5166360"/>
                <a:ext cx="3575304" cy="1188720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182880" tIns="91440" rIns="137160" bIns="91440" rtlCol="0" anchor="ctr">
                <a:noAutofit/>
              </a:bodyPr>
              <a:lstStyle/>
              <a:p>
                <a:pPr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700" dirty="0">
                    <a:solidFill>
                      <a:srgbClr val="5B6B7A"/>
                    </a:solidFill>
                    <a:latin typeface="Kh Battambang"/>
                    <a:cs typeface="Kh Battambang"/>
                  </a:rPr>
                  <a:t>ពហុធាដឺក្រេ ១៖ </a:t>
                </a:r>
                <a:r>
                  <a:rPr lang="km-KH" sz="1700" i="1" dirty="0">
                    <a:solidFill>
                      <a:srgbClr val="5B6B7A"/>
                    </a:solidFill>
                    <a:latin typeface="Cambria Math"/>
                    <a:cs typeface="Cambria Math"/>
                  </a:rPr>
                  <a:t>an+b</a:t>
                </a:r>
                <a:endParaRPr lang="en-US" sz="1700" dirty="0"/>
              </a:p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→ </a:t>
                </a:r>
                <a:r>
                  <a:rPr lang="km-KH" sz="19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rₙ=αn+β</a:t>
                </a:r>
                <a:endParaRPr lang="en-US" sz="19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Shape 9"/>
              <p:cNvSpPr/>
              <p:nvPr/>
            </p:nvSpPr>
            <p:spPr>
              <a:xfrm>
                <a:off x="8065008" y="5166360"/>
                <a:ext cx="3575304" cy="1188720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182880" tIns="91440" rIns="137160" bIns="91440" rtlCol="0" anchor="ctr">
                <a:noAutofit/>
              </a:bodyPr>
              <a:lstStyle/>
              <a:p>
                <a:pPr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700" dirty="0">
                    <a:solidFill>
                      <a:srgbClr val="5B6B7A"/>
                    </a:solidFill>
                    <a:latin typeface="Kh Battambang"/>
                    <a:cs typeface="Kh Battambang"/>
                  </a:rPr>
                  <a:t>អិចស្ប៉ូណង់៖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i="1" dirty="0">
                            <a:solidFill>
                              <a:srgbClr val="5B6B7A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i="1" dirty="0">
                            <a:solidFill>
                              <a:srgbClr val="5B6B7A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sz="1700" i="1" dirty="0">
                            <a:solidFill>
                              <a:srgbClr val="5B6B7A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1700" i="1" dirty="0">
                        <a:solidFill>
                          <a:srgbClr val="5B6B7A"/>
                        </a:solidFill>
                        <a:latin typeface="Cambria Math" panose="02040503050406030204" pitchFamily="18" charset="0"/>
                      </a:rPr>
                      <m:t> (���≠���)</m:t>
                    </m:r>
                  </m:oMath>
                </a14:m>
                <a:endParaRPr lang="en-US" sz="1700" dirty="0"/>
              </a:p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=���</m:t>
                    </m:r>
                    <m:sSup>
                      <m:sSup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sz="1900" dirty="0"/>
              </a:p>
            </p:txBody>
          </p:sp>
        </mc:Choice>
        <mc:Fallback xmlns="">
          <p:sp>
            <p:nvSpPr>
              <p:cNvPr id="9" name="Shape 9"/>
              <p:cNvSpPr/>
              <p:nvPr/>
            </p:nvSpPr>
            <p:spPr>
              <a:xfrm>
                <a:off x="8065008" y="5166360"/>
                <a:ext cx="3575304" cy="1188720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182880" tIns="91440" rIns="137160" bIns="91440" rtlCol="0" anchor="ctr">
                <a:noAutofit/>
              </a:bodyPr>
              <a:lstStyle/>
              <a:p>
                <a:pPr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700" dirty="0">
                    <a:solidFill>
                      <a:srgbClr val="5B6B7A"/>
                    </a:solidFill>
                    <a:latin typeface="Kh Battambang"/>
                    <a:cs typeface="Kh Battambang"/>
                  </a:rPr>
                  <a:t>អិចស្ប៉ូណង់៖ </a:t>
                </a:r>
                <a:r>
                  <a:rPr lang="km-KH" sz="1700" i="1" dirty="0">
                    <a:solidFill>
                      <a:srgbClr val="5B6B7A"/>
                    </a:solidFill>
                    <a:latin typeface="Cambria Math"/>
                    <a:cs typeface="Cambria Math"/>
                  </a:rPr>
                  <a:t>kⁿ (k≠p)</a:t>
                </a:r>
                <a:endParaRPr lang="en-US" sz="1700" dirty="0"/>
              </a:p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→ </a:t>
                </a:r>
                <a:r>
                  <a:rPr lang="km-KH" sz="19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rₙ=λkⁿ</a:t>
                </a:r>
                <a:endParaRPr lang="en-US" sz="1900" dirty="0"/>
              </a:p>
            </p:txBody>
          </p:sp>
        </mc:Fallback>
      </mc:AlternateContent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m-KH" dirty="0"/>
              <a:t>១. កំណត់តួទី </a:t>
            </a:r>
            <a:r>
              <a:rPr lang="en-US" dirty="0"/>
              <a:t>n</a:t>
            </a:r>
            <a:r>
              <a:rPr lang="km-KH" dirty="0"/>
              <a:t> ដោយប្រើស្វ៊ីតជំនួយ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hape 3"/>
              <p:cNvSpPr/>
              <p:nvPr/>
            </p:nvSpPr>
            <p:spPr>
              <a:xfrm>
                <a:off x="548640" y="1417320"/>
                <a:ext cx="11091672" cy="868680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2377440" tIns="73152" rIns="228600" bIns="73152" rtlCol="0" anchor="ctr">
                <a:noAutofit/>
              </a:bodyPr>
              <a:lstStyle/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គេឲ្យស្វ៊ីត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កំណត់ដោយ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=3 , 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=2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−���+1</m:t>
                    </m:r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។ កំណត់តួទី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។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Shape 3"/>
              <p:cNvSpPr/>
              <p:nvPr/>
            </p:nvSpPr>
            <p:spPr>
              <a:xfrm>
                <a:off x="548640" y="1417320"/>
                <a:ext cx="11091672" cy="868680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2377440" tIns="73152" rIns="228600" bIns="73152" rtlCol="0" anchor="ctr">
                <a:noAutofit/>
              </a:bodyPr>
              <a:lstStyle/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គេឲ្យស្វ៊ីត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(aₙ)</a:t>
                </a: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កំណត់ដោយ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a₁=3 , aₙ₊₁=2aₙ−n+1</a:t>
                </a: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។ កំណត់តួទី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n</a:t>
                </a: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។</a:t>
                </a:r>
                <a:endParaRPr lang="en-US" sz="2000" dirty="0"/>
              </a:p>
            </p:txBody>
          </p:sp>
        </mc:Fallback>
      </mc:AlternateContent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600200"/>
            <a:ext cx="502920" cy="502920"/>
          </a:xfrm>
          <a:prstGeom prst="rect">
            <a:avLst/>
          </a:prstGeom>
        </p:spPr>
      </p:pic>
      <p:sp>
        <p:nvSpPr>
          <p:cNvPr id="5" name="Shape 5"/>
          <p:cNvSpPr/>
          <p:nvPr/>
        </p:nvSpPr>
        <p:spPr>
          <a:xfrm>
            <a:off x="1298448" y="1641348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C0272D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600" b="1" dirty="0">
                <a:solidFill>
                  <a:srgbClr val="FFFFFF"/>
                </a:solidFill>
                <a:latin typeface="Kh Battambang"/>
                <a:cs typeface="Kh Battambang"/>
              </a:rPr>
              <a:t>លំហាត់គំរូ ២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hape 6"/>
              <p:cNvSpPr txBox="1"/>
              <p:nvPr/>
            </p:nvSpPr>
            <p:spPr>
              <a:xfrm>
                <a:off x="822960" y="2514600"/>
                <a:ext cx="6949440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តាង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=������+���</m:t>
                    </m:r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៖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(���+1)+���=2(������+���)−���+1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Shape 6"/>
              <p:cNvSpPr txBox="1"/>
              <p:nvPr/>
            </p:nvSpPr>
            <p:spPr>
              <a:xfrm>
                <a:off x="822960" y="2514600"/>
                <a:ext cx="6949440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តាង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rₙ=αn+β</a:t>
                </a: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៖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α(n+1)+β=2(αn+β)−n+1</a:t>
                </a:r>
                <a:endParaRPr lang="en-US" sz="20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Shape 7"/>
              <p:cNvSpPr txBox="1"/>
              <p:nvPr/>
            </p:nvSpPr>
            <p:spPr>
              <a:xfrm>
                <a:off x="822960" y="3172968"/>
                <a:ext cx="6949440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⇔(���−1)���+���−���+1=0</m:t>
                    </m:r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⇒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=1 , ���=0</m:t>
                    </m:r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=���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Shape 7"/>
              <p:cNvSpPr txBox="1"/>
              <p:nvPr/>
            </p:nvSpPr>
            <p:spPr>
              <a:xfrm>
                <a:off x="822960" y="3172968"/>
                <a:ext cx="6949440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⇔(α−1)n+β−α+1=0</a:t>
                </a: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⇒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α=1 , β=0</a:t>
                </a: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⇒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rₙ=n</a:t>
                </a:r>
                <a:endParaRPr lang="en-US" sz="20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Shape 8"/>
              <p:cNvSpPr txBox="1"/>
              <p:nvPr/>
            </p:nvSpPr>
            <p:spPr>
              <a:xfrm>
                <a:off x="822960" y="3831336"/>
                <a:ext cx="6949440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តាង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−���</m:t>
                    </m:r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−(���+1)=2(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−���)=2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Shape 8"/>
              <p:cNvSpPr txBox="1"/>
              <p:nvPr/>
            </p:nvSpPr>
            <p:spPr>
              <a:xfrm>
                <a:off x="822960" y="3831336"/>
                <a:ext cx="6949440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តាង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Vₙ=aₙ−n</a:t>
                </a: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⇒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Vₙ₊₁=aₙ₊₁−(n+1)=2(aₙ−n)=2Vₙ</a:t>
                </a:r>
                <a:endParaRPr lang="en-US" sz="20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Shape 9"/>
              <p:cNvSpPr txBox="1"/>
              <p:nvPr/>
            </p:nvSpPr>
            <p:spPr>
              <a:xfrm>
                <a:off x="822960" y="4489704"/>
                <a:ext cx="6949440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−1=2</m:t>
                    </m:r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 ⇒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=2·</m:t>
                    </m:r>
                    <m:sSup>
                      <m:sSup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9" name="Shape 9"/>
              <p:cNvSpPr txBox="1"/>
              <p:nvPr/>
            </p:nvSpPr>
            <p:spPr>
              <a:xfrm>
                <a:off x="822960" y="4489704"/>
                <a:ext cx="6949440" cy="566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V₁=a₁−1=2</a:t>
                </a: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 ⇒ 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Vₙ=2·2ⁿ⁻¹=2ⁿ</a:t>
                </a:r>
                <a:endParaRPr lang="en-US" sz="20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Shape 10"/>
              <p:cNvSpPr/>
              <p:nvPr/>
            </p:nvSpPr>
            <p:spPr>
              <a:xfrm>
                <a:off x="822960" y="5349240"/>
                <a:ext cx="6766560" cy="914400"/>
              </a:xfrm>
              <a:prstGeom prst="roundRect">
                <a:avLst>
                  <a:gd name="adj" fmla="val 9000"/>
                </a:avLst>
              </a:prstGeom>
              <a:solidFill>
                <a:srgbClr val="E8F5EC"/>
              </a:solidFill>
              <a:ln w="19050">
                <a:solidFill>
                  <a:srgbClr val="9FD3B2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777240" tIns="54864" rIns="182880" bIns="54864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2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ដូច្នេះ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2E7D4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2E7D4F"/>
                        </a:solidFill>
                        <a:latin typeface="Cambria Math" panose="02040503050406030204" pitchFamily="18" charset="0"/>
                      </a:rPr>
                      <m:t>+���=</m:t>
                    </m:r>
                    <m:sSup>
                      <m:sSupPr>
                        <m:ctrlP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n-US" sz="2400" b="1" i="1" dirty="0">
                        <a:solidFill>
                          <a:srgbClr val="2E7D4F"/>
                        </a:solidFill>
                        <a:latin typeface="Cambria Math" panose="02040503050406030204" pitchFamily="18" charset="0"/>
                      </a:rPr>
                      <m:t>+���</m:t>
                    </m:r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10" name="Shape 10"/>
              <p:cNvSpPr/>
              <p:nvPr/>
            </p:nvSpPr>
            <p:spPr>
              <a:xfrm>
                <a:off x="822960" y="5349240"/>
                <a:ext cx="6766560" cy="914400"/>
              </a:xfrm>
              <a:prstGeom prst="roundRect">
                <a:avLst>
                  <a:gd name="adj" fmla="val 9000"/>
                </a:avLst>
              </a:prstGeom>
              <a:solidFill>
                <a:srgbClr val="E8F5EC"/>
              </a:solidFill>
              <a:ln w="19050">
                <a:solidFill>
                  <a:srgbClr val="9FD3B2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777240" tIns="54864" rIns="182880" bIns="54864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2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ដូច្នេះ  </a:t>
                </a:r>
                <a:r>
                  <a:rPr lang="km-KH" sz="2400" b="1" i="1" dirty="0">
                    <a:solidFill>
                      <a:srgbClr val="2E7D4F"/>
                    </a:solidFill>
                    <a:latin typeface="Cambria Math"/>
                    <a:cs typeface="Cambria Math"/>
                  </a:rPr>
                  <a:t>aₙ=Vₙ+n=2ⁿ+n</a:t>
                </a:r>
                <a:endParaRPr lang="en-US" sz="2200" dirty="0"/>
              </a:p>
            </p:txBody>
          </p:sp>
        </mc:Fallback>
      </mc:AlternateContent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577840"/>
            <a:ext cx="457200" cy="457200"/>
          </a:xfrm>
          <a:prstGeom prst="rect">
            <a:avLst/>
          </a:prstGeom>
        </p:spPr>
      </p:pic>
      <p:sp>
        <p:nvSpPr>
          <p:cNvPr id="12" name="Shape 12"/>
          <p:cNvSpPr txBox="1"/>
          <p:nvPr/>
        </p:nvSpPr>
        <p:spPr>
          <a:xfrm>
            <a:off x="8092440" y="2514600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800" b="1" dirty="0">
                <a:solidFill>
                  <a:srgbClr val="0F5174"/>
                </a:solidFill>
                <a:latin typeface="Kh Battambang"/>
                <a:cs typeface="Kh Battambang"/>
              </a:rPr>
              <a:t>ផ្ទៀងផ្ទាត់លទ្ធផល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Shape 13"/>
              <p:cNvSpPr/>
              <p:nvPr/>
            </p:nvSpPr>
            <p:spPr>
              <a:xfrm>
                <a:off x="8092440" y="3017520"/>
                <a:ext cx="1188720" cy="603504"/>
              </a:xfrm>
              <a:prstGeom prst="rect">
                <a:avLst/>
              </a:prstGeom>
              <a:solidFill>
                <a:srgbClr val="0F5174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700" b="1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3" name="Shape 13"/>
              <p:cNvSpPr/>
              <p:nvPr/>
            </p:nvSpPr>
            <p:spPr>
              <a:xfrm>
                <a:off x="8092440" y="3017520"/>
                <a:ext cx="1188720" cy="603504"/>
              </a:xfrm>
              <a:prstGeom prst="rect">
                <a:avLst/>
              </a:prstGeom>
              <a:solidFill>
                <a:srgbClr val="0F5174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700" b="1" i="1" dirty="0">
                    <a:solidFill>
                      <a:srgbClr val="FFFFFF"/>
                    </a:solidFill>
                    <a:latin typeface="Cambria Math"/>
                    <a:cs typeface="Cambria Math"/>
                  </a:rPr>
                  <a:t>n</a:t>
                </a:r>
                <a:endParaRPr lang="en-US" sz="2000" dirty="0"/>
              </a:p>
            </p:txBody>
          </p:sp>
        </mc:Fallback>
      </mc:AlternateContent>
      <p:sp>
        <p:nvSpPr>
          <p:cNvPr id="14" name="Shape 14"/>
          <p:cNvSpPr/>
          <p:nvPr/>
        </p:nvSpPr>
        <p:spPr>
          <a:xfrm>
            <a:off x="9326880" y="3017520"/>
            <a:ext cx="548640" cy="603504"/>
          </a:xfrm>
          <a:prstGeom prst="rect">
            <a:avLst/>
          </a:prstGeom>
          <a:solidFill>
            <a:srgbClr val="EAF2F8"/>
          </a:solidFill>
          <a:ln w="12700">
            <a:solidFill>
              <a:srgbClr val="D5E1E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800" dirty="0">
                <a:solidFill>
                  <a:srgbClr val="1F2937"/>
                </a:solidFill>
                <a:latin typeface="Kh Battambang"/>
                <a:cs typeface="Kh Battambang"/>
              </a:rPr>
              <a:t>1</a:t>
            </a:r>
            <a:endParaRPr lang="en-US" sz="1800" dirty="0"/>
          </a:p>
        </p:txBody>
      </p:sp>
      <p:sp>
        <p:nvSpPr>
          <p:cNvPr id="15" name="Shape 15"/>
          <p:cNvSpPr/>
          <p:nvPr/>
        </p:nvSpPr>
        <p:spPr>
          <a:xfrm>
            <a:off x="9912096" y="3017520"/>
            <a:ext cx="548640" cy="603504"/>
          </a:xfrm>
          <a:prstGeom prst="rect">
            <a:avLst/>
          </a:prstGeom>
          <a:solidFill>
            <a:srgbClr val="EAF2F8"/>
          </a:solidFill>
          <a:ln w="12700">
            <a:solidFill>
              <a:srgbClr val="D5E1E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800" dirty="0">
                <a:solidFill>
                  <a:srgbClr val="1F2937"/>
                </a:solidFill>
                <a:latin typeface="Kh Battambang"/>
                <a:cs typeface="Kh Battambang"/>
              </a:rPr>
              <a:t>2</a:t>
            </a:r>
            <a:endParaRPr lang="en-US" sz="1800" dirty="0"/>
          </a:p>
        </p:txBody>
      </p:sp>
      <p:sp>
        <p:nvSpPr>
          <p:cNvPr id="16" name="Shape 16"/>
          <p:cNvSpPr/>
          <p:nvPr/>
        </p:nvSpPr>
        <p:spPr>
          <a:xfrm>
            <a:off x="10497312" y="3017520"/>
            <a:ext cx="548640" cy="603504"/>
          </a:xfrm>
          <a:prstGeom prst="rect">
            <a:avLst/>
          </a:prstGeom>
          <a:solidFill>
            <a:srgbClr val="EAF2F8"/>
          </a:solidFill>
          <a:ln w="12700">
            <a:solidFill>
              <a:srgbClr val="D5E1E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800" dirty="0">
                <a:solidFill>
                  <a:srgbClr val="1F2937"/>
                </a:solidFill>
                <a:latin typeface="Kh Battambang"/>
                <a:cs typeface="Kh Battambang"/>
              </a:rPr>
              <a:t>3</a:t>
            </a:r>
            <a:endParaRPr lang="en-US" sz="1800" dirty="0"/>
          </a:p>
        </p:txBody>
      </p:sp>
      <p:sp>
        <p:nvSpPr>
          <p:cNvPr id="17" name="Shape 17"/>
          <p:cNvSpPr/>
          <p:nvPr/>
        </p:nvSpPr>
        <p:spPr>
          <a:xfrm>
            <a:off x="11082528" y="3017520"/>
            <a:ext cx="548640" cy="603504"/>
          </a:xfrm>
          <a:prstGeom prst="rect">
            <a:avLst/>
          </a:prstGeom>
          <a:solidFill>
            <a:srgbClr val="EAF2F8"/>
          </a:solidFill>
          <a:ln w="12700">
            <a:solidFill>
              <a:srgbClr val="D5E1E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800" dirty="0">
                <a:solidFill>
                  <a:srgbClr val="1F2937"/>
                </a:solidFill>
                <a:latin typeface="Kh Battambang"/>
                <a:cs typeface="Kh Battambang"/>
              </a:rPr>
              <a:t>4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Shape 18"/>
              <p:cNvSpPr/>
              <p:nvPr/>
            </p:nvSpPr>
            <p:spPr>
              <a:xfrm>
                <a:off x="8092440" y="3675888"/>
                <a:ext cx="1188720" cy="603504"/>
              </a:xfrm>
              <a:prstGeom prst="rect">
                <a:avLst/>
              </a:prstGeom>
              <a:solidFill>
                <a:srgbClr val="C0272D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7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7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17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8" name="Shape 18"/>
              <p:cNvSpPr/>
              <p:nvPr/>
            </p:nvSpPr>
            <p:spPr>
              <a:xfrm>
                <a:off x="8092440" y="3675888"/>
                <a:ext cx="1188720" cy="603504"/>
              </a:xfrm>
              <a:prstGeom prst="rect">
                <a:avLst/>
              </a:prstGeom>
              <a:solidFill>
                <a:srgbClr val="C0272D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700" b="1" i="1" dirty="0">
                    <a:solidFill>
                      <a:srgbClr val="FFFFFF"/>
                    </a:solidFill>
                    <a:latin typeface="Cambria Math"/>
                    <a:cs typeface="Cambria Math"/>
                  </a:rPr>
                  <a:t>aₙ</a:t>
                </a:r>
                <a:endParaRPr lang="en-US" sz="2000" dirty="0"/>
              </a:p>
            </p:txBody>
          </p:sp>
        </mc:Fallback>
      </mc:AlternateContent>
      <p:sp>
        <p:nvSpPr>
          <p:cNvPr id="19" name="Shape 19"/>
          <p:cNvSpPr/>
          <p:nvPr/>
        </p:nvSpPr>
        <p:spPr>
          <a:xfrm>
            <a:off x="9326880" y="3675888"/>
            <a:ext cx="5486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1E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800" b="1" dirty="0">
                <a:solidFill>
                  <a:srgbClr val="1F2937"/>
                </a:solidFill>
                <a:latin typeface="Kh Battambang"/>
                <a:cs typeface="Kh Battambang"/>
              </a:rPr>
              <a:t>3</a:t>
            </a:r>
            <a:endParaRPr lang="en-US" sz="1800" dirty="0"/>
          </a:p>
        </p:txBody>
      </p:sp>
      <p:sp>
        <p:nvSpPr>
          <p:cNvPr id="20" name="Shape 20"/>
          <p:cNvSpPr/>
          <p:nvPr/>
        </p:nvSpPr>
        <p:spPr>
          <a:xfrm>
            <a:off x="9912096" y="3675888"/>
            <a:ext cx="5486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1E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800" b="1" dirty="0">
                <a:solidFill>
                  <a:srgbClr val="1F2937"/>
                </a:solidFill>
                <a:latin typeface="Kh Battambang"/>
                <a:cs typeface="Kh Battambang"/>
              </a:rPr>
              <a:t>6</a:t>
            </a:r>
            <a:endParaRPr lang="en-US" sz="1800" dirty="0"/>
          </a:p>
        </p:txBody>
      </p:sp>
      <p:sp>
        <p:nvSpPr>
          <p:cNvPr id="21" name="Shape 21"/>
          <p:cNvSpPr/>
          <p:nvPr/>
        </p:nvSpPr>
        <p:spPr>
          <a:xfrm>
            <a:off x="10497312" y="3675888"/>
            <a:ext cx="5486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1E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800" b="1" dirty="0">
                <a:solidFill>
                  <a:srgbClr val="1F2937"/>
                </a:solidFill>
                <a:latin typeface="Kh Battambang"/>
                <a:cs typeface="Kh Battambang"/>
              </a:rPr>
              <a:t>11</a:t>
            </a:r>
            <a:endParaRPr lang="en-US" sz="1800" dirty="0"/>
          </a:p>
        </p:txBody>
      </p:sp>
      <p:sp>
        <p:nvSpPr>
          <p:cNvPr id="22" name="Shape 22"/>
          <p:cNvSpPr/>
          <p:nvPr/>
        </p:nvSpPr>
        <p:spPr>
          <a:xfrm>
            <a:off x="11082528" y="3675888"/>
            <a:ext cx="5486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1E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800" b="1" dirty="0">
                <a:solidFill>
                  <a:srgbClr val="1F2937"/>
                </a:solidFill>
                <a:latin typeface="Kh Battambang"/>
                <a:cs typeface="Kh Battambang"/>
              </a:rPr>
              <a:t>20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Shape 23"/>
              <p:cNvSpPr/>
              <p:nvPr/>
            </p:nvSpPr>
            <p:spPr>
              <a:xfrm>
                <a:off x="8092440" y="4334256"/>
                <a:ext cx="1188720" cy="603504"/>
              </a:xfrm>
              <a:prstGeom prst="rect">
                <a:avLst/>
              </a:prstGeom>
              <a:solidFill>
                <a:srgbClr val="2E7D4F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sz="17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7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17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r>
                        <a:rPr lang="en-US" sz="1700" b="1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+���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3" name="Shape 23"/>
              <p:cNvSpPr/>
              <p:nvPr/>
            </p:nvSpPr>
            <p:spPr>
              <a:xfrm>
                <a:off x="8092440" y="4334256"/>
                <a:ext cx="1188720" cy="603504"/>
              </a:xfrm>
              <a:prstGeom prst="rect">
                <a:avLst/>
              </a:prstGeom>
              <a:solidFill>
                <a:srgbClr val="2E7D4F"/>
              </a:solidFill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700" b="1" i="1" dirty="0">
                    <a:solidFill>
                      <a:srgbClr val="FFFFFF"/>
                    </a:solidFill>
                    <a:latin typeface="Cambria Math"/>
                    <a:cs typeface="Cambria Math"/>
                  </a:rPr>
                  <a:t>2ⁿ+n</a:t>
                </a:r>
                <a:endParaRPr lang="en-US" sz="2000" dirty="0"/>
              </a:p>
            </p:txBody>
          </p:sp>
        </mc:Fallback>
      </mc:AlternateContent>
      <p:sp>
        <p:nvSpPr>
          <p:cNvPr id="24" name="Shape 24"/>
          <p:cNvSpPr/>
          <p:nvPr/>
        </p:nvSpPr>
        <p:spPr>
          <a:xfrm>
            <a:off x="9326880" y="4334256"/>
            <a:ext cx="5486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1E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800" b="1" dirty="0">
                <a:solidFill>
                  <a:srgbClr val="1F2937"/>
                </a:solidFill>
                <a:latin typeface="Kh Battambang"/>
                <a:cs typeface="Kh Battambang"/>
              </a:rPr>
              <a:t>3</a:t>
            </a:r>
            <a:endParaRPr lang="en-US" sz="1800" dirty="0"/>
          </a:p>
        </p:txBody>
      </p:sp>
      <p:sp>
        <p:nvSpPr>
          <p:cNvPr id="25" name="Shape 25"/>
          <p:cNvSpPr/>
          <p:nvPr/>
        </p:nvSpPr>
        <p:spPr>
          <a:xfrm>
            <a:off x="9912096" y="4334256"/>
            <a:ext cx="5486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1E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800" b="1" dirty="0">
                <a:solidFill>
                  <a:srgbClr val="1F2937"/>
                </a:solidFill>
                <a:latin typeface="Kh Battambang"/>
                <a:cs typeface="Kh Battambang"/>
              </a:rPr>
              <a:t>6</a:t>
            </a:r>
            <a:endParaRPr lang="en-US" sz="1800" dirty="0"/>
          </a:p>
        </p:txBody>
      </p:sp>
      <p:sp>
        <p:nvSpPr>
          <p:cNvPr id="26" name="Shape 26"/>
          <p:cNvSpPr/>
          <p:nvPr/>
        </p:nvSpPr>
        <p:spPr>
          <a:xfrm>
            <a:off x="10497312" y="4334256"/>
            <a:ext cx="5486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1E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800" b="1" dirty="0">
                <a:solidFill>
                  <a:srgbClr val="1F2937"/>
                </a:solidFill>
                <a:latin typeface="Kh Battambang"/>
                <a:cs typeface="Kh Battambang"/>
              </a:rPr>
              <a:t>11</a:t>
            </a:r>
            <a:endParaRPr lang="en-US" sz="1800" dirty="0"/>
          </a:p>
        </p:txBody>
      </p:sp>
      <p:sp>
        <p:nvSpPr>
          <p:cNvPr id="27" name="Shape 27"/>
          <p:cNvSpPr/>
          <p:nvPr/>
        </p:nvSpPr>
        <p:spPr>
          <a:xfrm>
            <a:off x="11082528" y="4334256"/>
            <a:ext cx="54864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5E1EA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800" b="1" dirty="0">
                <a:solidFill>
                  <a:srgbClr val="1F2937"/>
                </a:solidFill>
                <a:latin typeface="Kh Battambang"/>
                <a:cs typeface="Kh Battambang"/>
              </a:rPr>
              <a:t>20</a:t>
            </a:r>
            <a:endParaRPr lang="en-US" sz="1800" dirty="0"/>
          </a:p>
        </p:txBody>
      </p:sp>
      <p:sp>
        <p:nvSpPr>
          <p:cNvPr id="28" name="Shape 28"/>
          <p:cNvSpPr txBox="1"/>
          <p:nvPr/>
        </p:nvSpPr>
        <p:spPr>
          <a:xfrm>
            <a:off x="8092440" y="5029200"/>
            <a:ext cx="35661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800" b="1" dirty="0">
                <a:solidFill>
                  <a:srgbClr val="2E7D4F"/>
                </a:solidFill>
                <a:latin typeface="Kh Battambang"/>
                <a:cs typeface="Kh Battambang"/>
              </a:rPr>
              <a:t>✔ ត្រូវគ្នាគ្រប់តួ</a:t>
            </a:r>
            <a:endParaRPr lang="en-US" sz="18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0084B-1DEA-7030-C43D-E371CDD2F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m-KH" dirty="0"/>
              <a:t>១. កំណត់តួទី </a:t>
            </a:r>
            <a:r>
              <a:rPr lang="en-US" dirty="0"/>
              <a:t>n </a:t>
            </a:r>
            <a:r>
              <a:rPr lang="km-KH" dirty="0"/>
              <a:t>ដោយប្រើស្វ៊ីតជំនួយ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B62DE2A-A683-4E70-1768-1978AF903DDD}"/>
                  </a:ext>
                </a:extLst>
              </p:cNvPr>
              <p:cNvSpPr txBox="1"/>
              <p:nvPr/>
            </p:nvSpPr>
            <p:spPr>
              <a:xfrm>
                <a:off x="1364059" y="1423934"/>
                <a:ext cx="10244667" cy="45677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m-KH" sz="2400" b="1" dirty="0">
                    <a:solidFill>
                      <a:srgbClr val="FF0000"/>
                    </a:solidFill>
                    <a:effectLst/>
                    <a:latin typeface="Kh Battambang" panose="02000500000000000000" pitchFamily="2" charset="77"/>
                    <a:cs typeface="Kh Battambang" panose="02000500000000000000" pitchFamily="2" charset="77"/>
                  </a:rPr>
                  <a:t>លំហាត់គំរូ</a:t>
                </a:r>
                <a:r>
                  <a:rPr lang="km-KH" sz="2400" b="1" dirty="0">
                    <a:effectLst/>
                    <a:latin typeface="Kh Battambang" panose="02000500000000000000" pitchFamily="2" charset="77"/>
                    <a:cs typeface="Kh Battambang" panose="02000500000000000000" pitchFamily="2" charset="77"/>
                  </a:rPr>
                  <a:t>៖  កំណត់តួទី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effectLst/>
                        <a:latin typeface="Cambria Math" panose="02040503050406030204" pitchFamily="18" charset="0"/>
                        <a:cs typeface="Khmer OS Wat Phnom" panose="02000506000000020004" pitchFamily="2" charset="0"/>
                      </a:rPr>
                      <m:t>𝒏</m:t>
                    </m:r>
                  </m:oMath>
                </a14:m>
                <a:r>
                  <a:rPr lang="en-US" sz="2400" b="1" dirty="0">
                    <a:effectLst/>
                    <a:latin typeface="Kh Battambang" panose="02000500000000000000" pitchFamily="2" charset="77"/>
                    <a:cs typeface="Kh Battambang" panose="02000500000000000000" pitchFamily="2" charset="77"/>
                  </a:rPr>
                  <a:t> </a:t>
                </a:r>
                <a:r>
                  <a:rPr lang="km-KH" sz="2400" b="1" dirty="0">
                    <a:effectLst/>
                    <a:latin typeface="Kh Battambang" panose="02000500000000000000" pitchFamily="2" charset="77"/>
                    <a:cs typeface="Kh Battambang" panose="02000500000000000000" pitchFamily="2" charset="77"/>
                  </a:rPr>
                  <a:t>នៃស្វ</a:t>
                </a:r>
                <a:r>
                  <a:rPr lang="km-KH" sz="2400" b="1" dirty="0">
                    <a:latin typeface="Kh Battambang" panose="02000500000000000000" pitchFamily="2" charset="77"/>
                    <a:cs typeface="Kh Battambang" panose="02000500000000000000" pitchFamily="2" charset="77"/>
                  </a:rPr>
                  <a:t>៊ីត</a:t>
                </a:r>
                <a:r>
                  <a:rPr lang="km-KH" sz="2400" b="1" dirty="0">
                    <a:effectLst/>
                    <a:latin typeface="Kh Battambang" panose="02000500000000000000" pitchFamily="2" charset="77"/>
                    <a:cs typeface="Kh Battambang" panose="02000500000000000000" pitchFamily="2" charset="77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1" i="1" smtClean="0">
                                <a:effectLst/>
                                <a:latin typeface="Cambria Math" panose="02040503050406030204" pitchFamily="18" charset="0"/>
                                <a:cs typeface="Khmer OS Wat Phnom" panose="02000506000000020004" pitchFamily="2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effectLst/>
                                <a:latin typeface="Cambria Math" panose="02040503050406030204" pitchFamily="18" charset="0"/>
                                <a:cs typeface="Khmer OS Wat Phnom" panose="02000506000000020004" pitchFamily="2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400" b="1" i="1" smtClean="0">
                                <a:effectLst/>
                                <a:latin typeface="Cambria Math" panose="02040503050406030204" pitchFamily="18" charset="0"/>
                                <a:cs typeface="Khmer OS Wat Phnom" panose="02000506000000020004" pitchFamily="2" charset="0"/>
                              </a:rPr>
                              <m:t>𝒏</m:t>
                            </m:r>
                          </m:sub>
                        </m:sSub>
                      </m:e>
                    </m:d>
                    <m:r>
                      <a:rPr lang="en-US" sz="2400" b="1" i="1" smtClean="0">
                        <a:effectLst/>
                        <a:latin typeface="Cambria Math" panose="02040503050406030204" pitchFamily="18" charset="0"/>
                        <a:cs typeface="Khmer OS Wat Phnom" panose="02000506000000020004" pitchFamily="2" charset="0"/>
                      </a:rPr>
                      <m:t>: </m:t>
                    </m:r>
                    <m:sSub>
                      <m:sSubPr>
                        <m:ctrlP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  <m:t>𝒂</m:t>
                        </m:r>
                      </m:e>
                      <m:sub>
                        <m: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  <m:t>𝟏</m:t>
                        </m:r>
                      </m:sub>
                    </m:sSub>
                    <m:r>
                      <a:rPr lang="en-US" sz="2400" b="1" i="1" smtClean="0">
                        <a:effectLst/>
                        <a:latin typeface="Cambria Math" panose="02040503050406030204" pitchFamily="18" charset="0"/>
                        <a:cs typeface="Khmer OS Wat Phnom" panose="02000506000000020004" pitchFamily="2" charset="0"/>
                      </a:rPr>
                      <m:t>=</m:t>
                    </m:r>
                    <m:r>
                      <a:rPr lang="en-US" sz="2400" b="1" i="1" smtClean="0">
                        <a:effectLst/>
                        <a:latin typeface="Cambria Math" panose="02040503050406030204" pitchFamily="18" charset="0"/>
                        <a:cs typeface="Khmer OS Wat Phnom" panose="02000506000000020004" pitchFamily="2" charset="0"/>
                      </a:rPr>
                      <m:t>𝟏</m:t>
                    </m:r>
                    <m:r>
                      <a:rPr lang="en-US" sz="2400" b="1" i="1" smtClean="0">
                        <a:effectLst/>
                        <a:latin typeface="Cambria Math" panose="02040503050406030204" pitchFamily="18" charset="0"/>
                        <a:cs typeface="Khmer OS Wat Phnom" panose="02000506000000020004" pitchFamily="2" charset="0"/>
                      </a:rPr>
                      <m:t>,  </m:t>
                    </m:r>
                    <m:sSub>
                      <m:sSubPr>
                        <m:ctrlP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  <m:t>𝒂</m:t>
                        </m:r>
                      </m:e>
                      <m:sub>
                        <m: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  <m:t>𝒏</m:t>
                        </m:r>
                        <m: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  <m:t>+</m:t>
                        </m:r>
                        <m: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  <m:t>𝟏</m:t>
                        </m:r>
                      </m:sub>
                    </m:sSub>
                    <m:r>
                      <a:rPr lang="en-US" sz="2400" b="1" i="1" smtClean="0">
                        <a:effectLst/>
                        <a:latin typeface="Cambria Math" panose="02040503050406030204" pitchFamily="18" charset="0"/>
                        <a:cs typeface="Khmer OS Wat Phnom" panose="02000506000000020004" pitchFamily="2" charset="0"/>
                      </a:rPr>
                      <m:t>=</m:t>
                    </m:r>
                    <m:sSub>
                      <m:sSubPr>
                        <m:ctrlP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  <m:t>𝒂</m:t>
                        </m:r>
                      </m:e>
                      <m:sub>
                        <m: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  <m:t>𝒏</m:t>
                        </m:r>
                      </m:sub>
                    </m:sSub>
                    <m:r>
                      <a:rPr lang="en-US" sz="2400" b="1" i="1" smtClean="0">
                        <a:effectLst/>
                        <a:latin typeface="Cambria Math" panose="02040503050406030204" pitchFamily="18" charset="0"/>
                        <a:cs typeface="Khmer OS Wat Phnom" panose="02000506000000020004" pitchFamily="2" charset="0"/>
                      </a:rPr>
                      <m:t>+</m:t>
                    </m:r>
                    <m:r>
                      <a:rPr lang="en-US" sz="2400" b="1" i="1" smtClean="0">
                        <a:effectLst/>
                        <a:latin typeface="Cambria Math" panose="02040503050406030204" pitchFamily="18" charset="0"/>
                        <a:cs typeface="Khmer OS Wat Phnom" panose="02000506000000020004" pitchFamily="2" charset="0"/>
                      </a:rPr>
                      <m:t>𝒏</m:t>
                    </m:r>
                  </m:oMath>
                </a14:m>
                <a:r>
                  <a:rPr lang="en-US" sz="2400" b="1" dirty="0">
                    <a:effectLst/>
                    <a:latin typeface="Kh Battambang" panose="02000500000000000000" pitchFamily="2" charset="77"/>
                    <a:cs typeface="Kh Battambang" panose="02000500000000000000" pitchFamily="2" charset="77"/>
                  </a:rPr>
                  <a:t> </a:t>
                </a:r>
                <a:r>
                  <a:rPr lang="km-KH" sz="2400" b="1" dirty="0">
                    <a:effectLst/>
                    <a:latin typeface="Kh Battambang" panose="02000500000000000000" pitchFamily="2" charset="77"/>
                    <a:cs typeface="Kh Battambang" panose="02000500000000000000" pitchFamily="2" charset="77"/>
                  </a:rPr>
                  <a:t>។</a:t>
                </a:r>
              </a:p>
              <a:p>
                <a:pPr>
                  <a:lnSpc>
                    <a:spcPct val="150000"/>
                  </a:lnSpc>
                </a:pPr>
                <a:r>
                  <a:rPr lang="km-KH" sz="2400" b="1" dirty="0">
                    <a:solidFill>
                      <a:srgbClr val="FF0000"/>
                    </a:solidFill>
                    <a:latin typeface="Kh Battambang" panose="02000500000000000000" pitchFamily="2" charset="77"/>
                    <a:cs typeface="Kh Battambang" panose="02000500000000000000" pitchFamily="2" charset="77"/>
                  </a:rPr>
                  <a:t>ចម្លើយ</a:t>
                </a:r>
                <a:r>
                  <a:rPr lang="km-KH" sz="2400" b="1" dirty="0">
                    <a:latin typeface="Kh Battambang" panose="02000500000000000000" pitchFamily="2" charset="77"/>
                    <a:cs typeface="Kh Battambang" panose="02000500000000000000" pitchFamily="2" charset="77"/>
                  </a:rPr>
                  <a:t>៖ </a:t>
                </a:r>
                <a:r>
                  <a:rPr lang="km-KH" sz="2400" b="1" dirty="0">
                    <a:effectLst/>
                    <a:latin typeface="Kh Battambang" panose="02000500000000000000" pitchFamily="2" charset="77"/>
                    <a:cs typeface="Kh Battambang" panose="02000500000000000000" pitchFamily="2" charset="77"/>
                  </a:rPr>
                  <a:t>កំណត់តួទី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effectLst/>
                        <a:latin typeface="Cambria Math" panose="02040503050406030204" pitchFamily="18" charset="0"/>
                        <a:cs typeface="Khmer OS Wat Phnom" panose="02000506000000020004" pitchFamily="2" charset="0"/>
                      </a:rPr>
                      <m:t>𝒏</m:t>
                    </m:r>
                  </m:oMath>
                </a14:m>
                <a:r>
                  <a:rPr lang="en-US" sz="2400" b="1" dirty="0">
                    <a:effectLst/>
                    <a:latin typeface="Kh Battambang" panose="02000500000000000000" pitchFamily="2" charset="77"/>
                    <a:cs typeface="Kh Battambang" panose="02000500000000000000" pitchFamily="2" charset="77"/>
                  </a:rPr>
                  <a:t> </a:t>
                </a:r>
                <a:r>
                  <a:rPr lang="km-KH" sz="2400" b="1" dirty="0">
                    <a:effectLst/>
                    <a:latin typeface="Kh Battambang" panose="02000500000000000000" pitchFamily="2" charset="77"/>
                    <a:cs typeface="Kh Battambang" panose="02000500000000000000" pitchFamily="2" charset="77"/>
                  </a:rPr>
                  <a:t>នៃស្វ៊ីត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1" i="1" smtClean="0">
                                <a:effectLst/>
                                <a:latin typeface="Cambria Math" panose="02040503050406030204" pitchFamily="18" charset="0"/>
                                <a:cs typeface="Khmer OS Wat Phnom" panose="02000506000000020004" pitchFamily="2" charset="0"/>
                              </a:rPr>
                            </m:ctrlPr>
                          </m:sSubPr>
                          <m:e>
                            <m:r>
                              <a:rPr lang="en-US" sz="2400" b="1" i="1" smtClean="0">
                                <a:effectLst/>
                                <a:latin typeface="Cambria Math" panose="02040503050406030204" pitchFamily="18" charset="0"/>
                                <a:cs typeface="Khmer OS Wat Phnom" panose="02000506000000020004" pitchFamily="2" charset="0"/>
                              </a:rPr>
                              <m:t>𝒂</m:t>
                            </m:r>
                          </m:e>
                          <m:sub>
                            <m:r>
                              <a:rPr lang="en-US" sz="2400" b="1" i="1" smtClean="0">
                                <a:effectLst/>
                                <a:latin typeface="Cambria Math" panose="02040503050406030204" pitchFamily="18" charset="0"/>
                                <a:cs typeface="Khmer OS Wat Phnom" panose="02000506000000020004" pitchFamily="2" charset="0"/>
                              </a:rPr>
                              <m:t>𝒏</m:t>
                            </m:r>
                          </m:sub>
                        </m:sSub>
                      </m:e>
                    </m:d>
                  </m:oMath>
                </a14:m>
                <a:endParaRPr lang="km-KH" sz="2400" b="1" dirty="0">
                  <a:latin typeface="Kh Battambang" panose="02000500000000000000" pitchFamily="2" charset="77"/>
                  <a:cs typeface="Kh Battambang" panose="02000500000000000000" pitchFamily="2" charset="7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m-KH" sz="2400" b="1" dirty="0">
                    <a:latin typeface="Kh Battambang" panose="02000500000000000000" pitchFamily="2" charset="77"/>
                    <a:cs typeface="Kh Battambang" panose="02000500000000000000" pitchFamily="2" charset="77"/>
                  </a:rPr>
                  <a:t>            មាន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  <m:t>𝒂</m:t>
                        </m:r>
                      </m:e>
                      <m:sub>
                        <m: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  <m:t>𝒏</m:t>
                        </m:r>
                        <m: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  <m:t>+</m:t>
                        </m:r>
                        <m: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  <m:t>𝟏</m:t>
                        </m:r>
                      </m:sub>
                    </m:sSub>
                    <m:r>
                      <a:rPr lang="en-US" sz="2400" b="1" i="1" smtClean="0">
                        <a:effectLst/>
                        <a:latin typeface="Cambria Math" panose="02040503050406030204" pitchFamily="18" charset="0"/>
                        <a:cs typeface="Khmer OS Wat Phnom" panose="02000506000000020004" pitchFamily="2" charset="0"/>
                      </a:rPr>
                      <m:t>=</m:t>
                    </m:r>
                    <m:sSub>
                      <m:sSubPr>
                        <m:ctrlP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  <m:t>𝒂</m:t>
                        </m:r>
                      </m:e>
                      <m:sub>
                        <m: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  <m:t>𝒏</m:t>
                        </m:r>
                      </m:sub>
                    </m:sSub>
                    <m:r>
                      <a:rPr lang="en-US" sz="2400" b="1" i="1" smtClean="0">
                        <a:effectLst/>
                        <a:latin typeface="Cambria Math" panose="02040503050406030204" pitchFamily="18" charset="0"/>
                        <a:cs typeface="Khmer OS Wat Phnom" panose="02000506000000020004" pitchFamily="2" charset="0"/>
                      </a:rPr>
                      <m:t>+</m:t>
                    </m:r>
                    <m:r>
                      <a:rPr lang="en-US" sz="2400" b="1" i="1" smtClean="0">
                        <a:effectLst/>
                        <a:latin typeface="Cambria Math" panose="02040503050406030204" pitchFamily="18" charset="0"/>
                        <a:cs typeface="Khmer OS Wat Phnom" panose="02000506000000020004" pitchFamily="2" charset="0"/>
                      </a:rPr>
                      <m:t>𝒏</m:t>
                    </m:r>
                  </m:oMath>
                </a14:m>
                <a:r>
                  <a:rPr lang="en-US" sz="2400" b="1" dirty="0">
                    <a:effectLst/>
                    <a:latin typeface="Kh Battambang" panose="02000500000000000000" pitchFamily="2" charset="77"/>
                    <a:cs typeface="Kh Battambang" panose="02000500000000000000" pitchFamily="2" charset="77"/>
                  </a:rPr>
                  <a:t> </a:t>
                </a:r>
                <a:endParaRPr lang="km-KH" sz="2400" b="1" dirty="0">
                  <a:effectLst/>
                  <a:latin typeface="Kh Battambang" panose="02000500000000000000" pitchFamily="2" charset="77"/>
                  <a:cs typeface="Kh Battambang" panose="02000500000000000000" pitchFamily="2" charset="7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km-KH" sz="2400" b="1" dirty="0">
                    <a:latin typeface="Kh Battambang" panose="02000500000000000000" pitchFamily="2" charset="77"/>
                    <a:cs typeface="Kh Battambang" panose="02000500000000000000" pitchFamily="2" charset="77"/>
                  </a:rPr>
                  <a:t>                 </a:t>
                </a:r>
                <a14:m>
                  <m:oMath xmlns:m="http://schemas.openxmlformats.org/officeDocument/2006/math">
                    <m:r>
                      <a:rPr lang="km-KH" sz="2400" b="1" i="0" smtClean="0">
                        <a:effectLst/>
                        <a:latin typeface="Cambria Math" panose="02040503050406030204" pitchFamily="18" charset="0"/>
                        <a:cs typeface="Khmer OS Wat Phnom" panose="02000506000000020004" pitchFamily="2" charset="0"/>
                      </a:rPr>
                      <m:t>  </m:t>
                    </m:r>
                    <m:sSub>
                      <m:sSubPr>
                        <m:ctrlP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  <m:t>𝒂</m:t>
                        </m:r>
                      </m:e>
                      <m:sub>
                        <m: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  <m:t>𝒏</m:t>
                        </m:r>
                        <m: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  <m:t>+</m:t>
                        </m:r>
                        <m:r>
                          <a:rPr lang="en-US" sz="2400" b="1" i="1" smtClean="0">
                            <a:effectLst/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2400" b="1" i="1" smtClean="0"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  <m:t>−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  <m:t>𝒂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  <m:t>𝒏</m:t>
                        </m:r>
                      </m:sub>
                    </m:sSub>
                    <m:r>
                      <a:rPr lang="en-US" sz="2400" b="1" i="1">
                        <a:latin typeface="Cambria Math" panose="02040503050406030204" pitchFamily="18" charset="0"/>
                        <a:cs typeface="Khmer OS Wat Phnom" panose="02000506000000020004" pitchFamily="2" charset="0"/>
                      </a:rPr>
                      <m:t>=</m:t>
                    </m:r>
                    <m:r>
                      <a:rPr lang="en-US" sz="2400" b="1" i="1" smtClean="0">
                        <a:effectLst/>
                        <a:latin typeface="Cambria Math" panose="02040503050406030204" pitchFamily="18" charset="0"/>
                        <a:cs typeface="Khmer OS Wat Phnom" panose="02000506000000020004" pitchFamily="2" charset="0"/>
                      </a:rPr>
                      <m:t>𝒏</m:t>
                    </m:r>
                  </m:oMath>
                </a14:m>
                <a:endParaRPr lang="en-US" sz="2400" b="1" dirty="0">
                  <a:latin typeface="Kh Battambang" panose="02000500000000000000" pitchFamily="2" charset="77"/>
                  <a:cs typeface="Kh Battambang" panose="02000500000000000000" pitchFamily="2" charset="7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400" b="1" dirty="0">
                    <a:latin typeface="Kh Battambang" panose="02000500000000000000" pitchFamily="2" charset="77"/>
                    <a:cs typeface="Kh Battambang" panose="02000500000000000000" pitchFamily="2" charset="77"/>
                  </a:rPr>
                  <a:t>        </a:t>
                </a:r>
                <a:r>
                  <a:rPr lang="km-KH" sz="2400" b="1" dirty="0">
                    <a:latin typeface="Kh Battambang" panose="02000500000000000000" pitchFamily="2" charset="77"/>
                    <a:cs typeface="Kh Battambang" panose="02000500000000000000" pitchFamily="2" charset="77"/>
                  </a:rPr>
                  <a:t>គេបាន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  <m:t>𝒂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  <m:t>𝒏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Khmer OS Wat Phnom" panose="02000506000000020004" pitchFamily="2" charset="0"/>
                      </a:rPr>
                      <m:t>=</m:t>
                    </m:r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  <m:t>𝒂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  <m:t>𝟏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Khmer OS Wat Phnom" panose="02000506000000020004" pitchFamily="2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  <m:t>𝒌</m:t>
                        </m:r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  <m:t>=</m:t>
                        </m:r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  <m:t>𝟏</m:t>
                        </m:r>
                      </m:sub>
                      <m:sup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  <m:t>𝒏</m:t>
                        </m:r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  <m:t>−</m:t>
                        </m:r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  <m:t>𝟏</m:t>
                        </m:r>
                      </m:sup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  <m:t>𝒌</m:t>
                        </m:r>
                      </m:e>
                    </m:nary>
                  </m:oMath>
                </a14:m>
                <a:endParaRPr lang="en-US" sz="2400" b="1" dirty="0">
                  <a:latin typeface="Kh Battambang" panose="02000500000000000000" pitchFamily="2" charset="77"/>
                  <a:cs typeface="Kh Battambang" panose="02000500000000000000" pitchFamily="2" charset="7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400" b="1" dirty="0">
                    <a:solidFill>
                      <a:schemeClr val="tx1"/>
                    </a:solidFill>
                    <a:latin typeface="Kh Battambang" panose="02000500000000000000" pitchFamily="2" charset="77"/>
                    <a:cs typeface="Kh Battambang" panose="02000500000000000000" pitchFamily="2" charset="77"/>
                  </a:rPr>
                  <a:t>    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  <m:t>𝒂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  <m:t>𝒏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Khmer OS Wat Phnom" panose="02000506000000020004" pitchFamily="2" charset="0"/>
                      </a:rPr>
                      <m:t>=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Khmer OS Wat Phnom" panose="02000506000000020004" pitchFamily="2" charset="0"/>
                      </a:rPr>
                      <m:t>𝟏</m:t>
                    </m:r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Khmer OS Wat Phnom" panose="02000506000000020004" pitchFamily="2" charset="0"/>
                      </a:rPr>
                      <m:t>+</m:t>
                    </m:r>
                    <m:f>
                      <m:f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</m:ctrlPr>
                      </m:fPr>
                      <m:num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  <m:t>𝒏</m:t>
                        </m:r>
                        <m:d>
                          <m:dPr>
                            <m:ctrlP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Khmer OS Wat Phnom" panose="02000506000000020004" pitchFamily="2" charset="0"/>
                              </a:rPr>
                            </m:ctrlPr>
                          </m:dPr>
                          <m:e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Khmer OS Wat Phnom" panose="02000506000000020004" pitchFamily="2" charset="0"/>
                              </a:rPr>
                              <m:t>𝒏</m:t>
                            </m:r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Khmer OS Wat Phnom" panose="02000506000000020004" pitchFamily="2" charset="0"/>
                              </a:rPr>
                              <m:t>−</m:t>
                            </m:r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Khmer OS Wat Phnom" panose="02000506000000020004" pitchFamily="2" charset="0"/>
                              </a:rPr>
                              <m:t>𝟏</m:t>
                            </m:r>
                          </m:e>
                        </m:d>
                      </m:num>
                      <m:den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  <m:t>𝟐</m:t>
                        </m:r>
                      </m:den>
                    </m:f>
                  </m:oMath>
                </a14:m>
                <a:endParaRPr lang="km-KH" sz="2400" b="1" dirty="0">
                  <a:latin typeface="Kh Battambang" panose="02000500000000000000" pitchFamily="2" charset="77"/>
                  <a:cs typeface="Kh Battambang" panose="02000500000000000000" pitchFamily="2" charset="77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2400" b="1" dirty="0">
                    <a:effectLst/>
                    <a:latin typeface="Kh Battambang" panose="02000500000000000000" pitchFamily="2" charset="77"/>
                    <a:cs typeface="Kh Battambang" panose="02000500000000000000" pitchFamily="2" charset="77"/>
                  </a:rPr>
                  <a:t>        </a:t>
                </a:r>
                <a:r>
                  <a:rPr lang="km-KH" sz="2400" b="1" dirty="0">
                    <a:effectLst/>
                    <a:latin typeface="Kh Battambang" panose="02000500000000000000" pitchFamily="2" charset="77"/>
                    <a:cs typeface="Kh Battambang" panose="02000500000000000000" pitchFamily="2" charset="77"/>
                  </a:rPr>
                  <a:t>ដូចនេះ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  <m:t>𝒂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  <m:t>𝒏</m:t>
                        </m:r>
                      </m:sub>
                    </m:sSub>
                    <m:r>
                      <a:rPr lang="en-US" sz="24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Khmer OS Wat Phnom" panose="02000506000000020004" pitchFamily="2" charset="0"/>
                      </a:rPr>
                      <m:t>=</m:t>
                    </m:r>
                    <m:f>
                      <m:fPr>
                        <m:ctrlP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Khmer OS Wat Phnom" panose="02000506000000020004" pitchFamily="2" charset="0"/>
                              </a:rPr>
                            </m:ctrlPr>
                          </m:sSupPr>
                          <m:e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Khmer OS Wat Phnom" panose="02000506000000020004" pitchFamily="2" charset="0"/>
                              </a:rPr>
                              <m:t>𝒏</m:t>
                            </m:r>
                          </m:e>
                          <m:sup>
                            <m:r>
                              <a:rPr lang="en-US" sz="2400" b="1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Khmer OS Wat Phnom" panose="02000506000000020004" pitchFamily="2" charset="0"/>
                              </a:rPr>
                              <m:t>𝟐</m:t>
                            </m:r>
                          </m:sup>
                        </m:sSup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  <m:t>−</m:t>
                        </m:r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  <m:t>𝒏</m:t>
                        </m:r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  <m:t>+</m:t>
                        </m:r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  <m:t>𝟐</m:t>
                        </m:r>
                      </m:num>
                      <m:den>
                        <m:r>
                          <a:rPr lang="en-US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Khmer OS Wat Phnom" panose="02000506000000020004" pitchFamily="2" charset="0"/>
                          </a:rPr>
                          <m:t>𝟐</m:t>
                        </m:r>
                      </m:den>
                    </m:f>
                  </m:oMath>
                </a14:m>
                <a:r>
                  <a:rPr lang="en-US" sz="2400" b="1" dirty="0">
                    <a:effectLst/>
                    <a:latin typeface="Kh Battambang" panose="02000500000000000000" pitchFamily="2" charset="77"/>
                    <a:cs typeface="Kh Battambang" panose="02000500000000000000" pitchFamily="2" charset="77"/>
                  </a:rPr>
                  <a:t> </a:t>
                </a:r>
                <a:r>
                  <a:rPr lang="km-KH" sz="2400" b="1" dirty="0">
                    <a:effectLst/>
                    <a:latin typeface="Kh Battambang" panose="02000500000000000000" pitchFamily="2" charset="77"/>
                    <a:cs typeface="Kh Battambang" panose="02000500000000000000" pitchFamily="2" charset="77"/>
                  </a:rPr>
                  <a:t>។</a:t>
                </a:r>
                <a:endParaRPr lang="en-US" sz="2400" b="1" dirty="0">
                  <a:effectLst/>
                  <a:latin typeface="Kh Battambang" panose="02000500000000000000" pitchFamily="2" charset="77"/>
                  <a:cs typeface="Kh Battambang" panose="02000500000000000000" pitchFamily="2" charset="77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B62DE2A-A683-4E70-1768-1978AF903D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4059" y="1423934"/>
                <a:ext cx="10244667" cy="4567725"/>
              </a:xfrm>
              <a:prstGeom prst="rect">
                <a:avLst/>
              </a:prstGeom>
              <a:blipFill>
                <a:blip r:embed="rId2"/>
                <a:stretch>
                  <a:fillRect l="-952" b="-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8511110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m-KH" dirty="0"/>
              <a:t>១. កំណត់តួទី </a:t>
            </a:r>
            <a:r>
              <a:rPr lang="en-US" dirty="0"/>
              <a:t>n</a:t>
            </a:r>
            <a:r>
              <a:rPr lang="km-KH" dirty="0"/>
              <a:t> ដោយប្រើស្វ៊ីតជំនួយ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hape 3"/>
              <p:cNvSpPr/>
              <p:nvPr/>
            </p:nvSpPr>
            <p:spPr>
              <a:xfrm>
                <a:off x="548640" y="1417320"/>
                <a:ext cx="11091672" cy="868680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2377440" tIns="73152" rIns="228600" bIns="73152" rtlCol="0" anchor="ctr">
                <a:noAutofit/>
              </a:bodyPr>
              <a:lstStyle/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កំណត់តួទី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នៃស្វ៊ីត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កំណត់ដោយ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=5 , 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=2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−���</m:t>
                    </m:r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។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Shape 3"/>
              <p:cNvSpPr/>
              <p:nvPr/>
            </p:nvSpPr>
            <p:spPr>
              <a:xfrm>
                <a:off x="548640" y="1417320"/>
                <a:ext cx="11091672" cy="868680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2377440" tIns="73152" rIns="228600" bIns="73152" rtlCol="0" anchor="ctr">
                <a:noAutofit/>
              </a:bodyPr>
              <a:lstStyle/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កំណត់តួទី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n</a:t>
                </a: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នៃស្វ៊ីត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(aₙ)</a:t>
                </a: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កំណត់ដោយ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a₁=5 , aₙ=2aₙ₋₁−n</a:t>
                </a: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។</a:t>
                </a:r>
                <a:endParaRPr lang="en-US" sz="2000" dirty="0"/>
              </a:p>
            </p:txBody>
          </p:sp>
        </mc:Fallback>
      </mc:AlternateContent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600200"/>
            <a:ext cx="502920" cy="502920"/>
          </a:xfrm>
          <a:prstGeom prst="rect">
            <a:avLst/>
          </a:prstGeom>
        </p:spPr>
      </p:pic>
      <p:sp>
        <p:nvSpPr>
          <p:cNvPr id="5" name="Shape 5"/>
          <p:cNvSpPr/>
          <p:nvPr/>
        </p:nvSpPr>
        <p:spPr>
          <a:xfrm>
            <a:off x="1298448" y="1641348"/>
            <a:ext cx="1645920" cy="420624"/>
          </a:xfrm>
          <a:prstGeom prst="roundRect">
            <a:avLst>
              <a:gd name="adj" fmla="val 50000"/>
            </a:avLst>
          </a:prstGeom>
          <a:solidFill>
            <a:srgbClr val="0F5174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600" b="1" dirty="0">
                <a:solidFill>
                  <a:srgbClr val="FFFFFF"/>
                </a:solidFill>
                <a:latin typeface="Kh Battambang"/>
                <a:cs typeface="Kh Battambang"/>
              </a:rPr>
              <a:t>ប្រតិបត្តិ</a:t>
            </a:r>
            <a:endParaRPr lang="en-US" sz="1600" dirty="0"/>
          </a:p>
        </p:txBody>
      </p:sp>
      <p:sp>
        <p:nvSpPr>
          <p:cNvPr id="6" name="Shape 6"/>
          <p:cNvSpPr/>
          <p:nvPr/>
        </p:nvSpPr>
        <p:spPr>
          <a:xfrm>
            <a:off x="548640" y="2560320"/>
            <a:ext cx="7223760" cy="2606040"/>
          </a:xfrm>
          <a:prstGeom prst="roundRect">
            <a:avLst>
              <a:gd name="adj" fmla="val 9000"/>
            </a:avLst>
          </a:prstGeom>
          <a:solidFill>
            <a:srgbClr val="FFF6DC"/>
          </a:solidFill>
          <a:ln w="12700">
            <a:solidFill>
              <a:srgbClr val="F1D58A"/>
            </a:solidFill>
          </a:ln>
          <a:effectLst>
            <a:outerShdw blurRad="88900" dist="25400" dir="5400000" algn="t" rotWithShape="0">
              <a:srgbClr val="0F2A3D">
                <a:alpha val="20000"/>
              </a:srgbClr>
            </a:outerShdw>
          </a:effectLst>
        </p:spPr>
        <p:txBody>
          <a:bodyPr wrap="square" lIns="182880" tIns="109728" rIns="182880" bIns="109728" rtlCol="0" anchor="t">
            <a:noAutofit/>
          </a:bodyPr>
          <a:lstStyle/>
          <a:p>
            <a:endParaRPr lang="en-US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697480"/>
            <a:ext cx="457200" cy="457200"/>
          </a:xfrm>
          <a:prstGeom prst="rect">
            <a:avLst/>
          </a:prstGeom>
        </p:spPr>
      </p:pic>
      <p:sp>
        <p:nvSpPr>
          <p:cNvPr id="8" name="Shape 8"/>
          <p:cNvSpPr txBox="1"/>
          <p:nvPr/>
        </p:nvSpPr>
        <p:spPr>
          <a:xfrm>
            <a:off x="1325880" y="269748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800" b="1" dirty="0">
                <a:solidFill>
                  <a:srgbClr val="8A6200"/>
                </a:solidFill>
                <a:latin typeface="Kh Battambang"/>
                <a:cs typeface="Kh Battambang"/>
              </a:rPr>
              <a:t>ជំនួយ (ចុចម្តងមួយជំហាន)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Shape 9"/>
              <p:cNvSpPr txBox="1"/>
              <p:nvPr/>
            </p:nvSpPr>
            <p:spPr>
              <a:xfrm>
                <a:off x="914400" y="3291840"/>
                <a:ext cx="6675120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១. សរសេរឡើងវិញ៖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=2</m:t>
                    </m:r>
                    <m:sSub>
                      <m:sSub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−(���+1)</m:t>
                    </m:r>
                  </m:oMath>
                </a14:m>
                <a:endParaRPr lang="en-US" sz="1900" dirty="0"/>
              </a:p>
            </p:txBody>
          </p:sp>
        </mc:Choice>
        <mc:Fallback xmlns="">
          <p:sp>
            <p:nvSpPr>
              <p:cNvPr id="9" name="Shape 9"/>
              <p:cNvSpPr txBox="1"/>
              <p:nvPr/>
            </p:nvSpPr>
            <p:spPr>
              <a:xfrm>
                <a:off x="914400" y="3291840"/>
                <a:ext cx="6675120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១. សរសេរឡើងវិញ៖ </a:t>
                </a:r>
                <a:r>
                  <a:rPr lang="km-KH" sz="19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aₙ₊₁=2aₙ−(n+1)</a:t>
                </a:r>
                <a:endParaRPr lang="en-US" sz="19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Shape 10"/>
              <p:cNvSpPr txBox="1"/>
              <p:nvPr/>
            </p:nvSpPr>
            <p:spPr>
              <a:xfrm>
                <a:off x="914400" y="3886200"/>
                <a:ext cx="6675120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២. តាង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=������+���</m:t>
                    </m:r>
                  </m:oMath>
                </a14:m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⇒ </a:t>
                </a:r>
                <a14:m>
                  <m:oMath xmlns:m="http://schemas.openxmlformats.org/officeDocument/2006/math"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=1 , ���=2</m:t>
                    </m:r>
                  </m:oMath>
                </a14:m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=���+2</m:t>
                    </m:r>
                  </m:oMath>
                </a14:m>
                <a:endParaRPr lang="en-US" sz="1900" dirty="0"/>
              </a:p>
            </p:txBody>
          </p:sp>
        </mc:Choice>
        <mc:Fallback xmlns="">
          <p:sp>
            <p:nvSpPr>
              <p:cNvPr id="10" name="Shape 10"/>
              <p:cNvSpPr txBox="1"/>
              <p:nvPr/>
            </p:nvSpPr>
            <p:spPr>
              <a:xfrm>
                <a:off x="914400" y="3886200"/>
                <a:ext cx="6675120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២. តាង </a:t>
                </a:r>
                <a:r>
                  <a:rPr lang="km-KH" sz="19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rₙ=αn+β</a:t>
                </a: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⇒ </a:t>
                </a:r>
                <a:r>
                  <a:rPr lang="km-KH" sz="19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α=1 , β=2</a:t>
                </a: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⇒ </a:t>
                </a:r>
                <a:r>
                  <a:rPr lang="km-KH" sz="19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rₙ=n+2</a:t>
                </a:r>
                <a:endParaRPr lang="en-US" sz="19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hape 11"/>
              <p:cNvSpPr txBox="1"/>
              <p:nvPr/>
            </p:nvSpPr>
            <p:spPr>
              <a:xfrm>
                <a:off x="914400" y="4480560"/>
                <a:ext cx="6675120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៣.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−(���+2)</m:t>
                    </m:r>
                  </m:oMath>
                </a14:m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ជាស្វ៊ីតធរណីមាត្រ </a:t>
                </a:r>
                <a14:m>
                  <m:oMath xmlns:m="http://schemas.openxmlformats.org/officeDocument/2006/math"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=2 , </m:t>
                    </m:r>
                    <m:sSub>
                      <m:sSub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sz="1900" dirty="0"/>
              </a:p>
            </p:txBody>
          </p:sp>
        </mc:Choice>
        <mc:Fallback xmlns="">
          <p:sp>
            <p:nvSpPr>
              <p:cNvPr id="11" name="Shape 11"/>
              <p:cNvSpPr txBox="1"/>
              <p:nvPr/>
            </p:nvSpPr>
            <p:spPr>
              <a:xfrm>
                <a:off x="914400" y="4480560"/>
                <a:ext cx="6675120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៣. </a:t>
                </a:r>
                <a:r>
                  <a:rPr lang="km-KH" sz="19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Vₙ=aₙ−(n+2)</a:t>
                </a: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ជាស្វ៊ីតធរណីមាត្រ </a:t>
                </a:r>
                <a:r>
                  <a:rPr lang="km-KH" sz="19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q=2 , V₁=2</a:t>
                </a:r>
                <a:endParaRPr lang="en-US" sz="19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Shape 12"/>
              <p:cNvSpPr/>
              <p:nvPr/>
            </p:nvSpPr>
            <p:spPr>
              <a:xfrm>
                <a:off x="548640" y="5440680"/>
                <a:ext cx="7223760" cy="914400"/>
              </a:xfrm>
              <a:prstGeom prst="roundRect">
                <a:avLst>
                  <a:gd name="adj" fmla="val 9000"/>
                </a:avLst>
              </a:prstGeom>
              <a:solidFill>
                <a:srgbClr val="E8F5EC"/>
              </a:solidFill>
              <a:ln w="19050">
                <a:solidFill>
                  <a:srgbClr val="9FD3B2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777240" tIns="54864" rIns="182880" bIns="54864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2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ចម្លើយ៖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2E7D4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n-US" sz="2400" b="1" i="1" dirty="0">
                        <a:solidFill>
                          <a:srgbClr val="2E7D4F"/>
                        </a:solidFill>
                        <a:latin typeface="Cambria Math" panose="02040503050406030204" pitchFamily="18" charset="0"/>
                      </a:rPr>
                      <m:t>+���+2</m:t>
                    </m:r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12" name="Shape 12"/>
              <p:cNvSpPr/>
              <p:nvPr/>
            </p:nvSpPr>
            <p:spPr>
              <a:xfrm>
                <a:off x="548640" y="5440680"/>
                <a:ext cx="7223760" cy="914400"/>
              </a:xfrm>
              <a:prstGeom prst="roundRect">
                <a:avLst>
                  <a:gd name="adj" fmla="val 9000"/>
                </a:avLst>
              </a:prstGeom>
              <a:solidFill>
                <a:srgbClr val="E8F5EC"/>
              </a:solidFill>
              <a:ln w="19050">
                <a:solidFill>
                  <a:srgbClr val="9FD3B2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777240" tIns="54864" rIns="182880" bIns="54864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2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ចម្លើយ៖  </a:t>
                </a:r>
                <a:r>
                  <a:rPr lang="km-KH" sz="2400" b="1" i="1" dirty="0">
                    <a:solidFill>
                      <a:srgbClr val="2E7D4F"/>
                    </a:solidFill>
                    <a:latin typeface="Cambria Math"/>
                    <a:cs typeface="Cambria Math"/>
                  </a:rPr>
                  <a:t>aₙ=2ⁿ+n+2</a:t>
                </a:r>
                <a:endParaRPr lang="en-US" sz="2200" dirty="0"/>
              </a:p>
            </p:txBody>
          </p:sp>
        </mc:Fallback>
      </mc:AlternateContent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669280"/>
            <a:ext cx="457200" cy="457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2606040"/>
            <a:ext cx="3108960" cy="3108960"/>
          </a:xfrm>
          <a:prstGeom prst="rect">
            <a:avLst/>
          </a:prstGeom>
        </p:spPr>
      </p:pic>
      <p:sp>
        <p:nvSpPr>
          <p:cNvPr id="15" name="Shape 15"/>
          <p:cNvSpPr txBox="1"/>
          <p:nvPr/>
        </p:nvSpPr>
        <p:spPr>
          <a:xfrm>
            <a:off x="8092440" y="5760720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700" dirty="0">
                <a:solidFill>
                  <a:srgbClr val="5B6B7A"/>
                </a:solidFill>
                <a:latin typeface="Kh Battambang"/>
                <a:cs typeface="Kh Battambang"/>
              </a:rPr>
              <a:t>ពិនិត្យ៖ a₁ = 2 + 1 + 2 = 5 ✔</a:t>
            </a:r>
            <a:endParaRPr lang="en-US" sz="17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 animBg="1"/>
      <p:bldP spid="10" grpId="0" animBg="1"/>
      <p:bldP spid="11" grpId="0" animBg="1"/>
      <p:bldP spid="12" grpId="0" animBg="1"/>
      <p:bldP spid="1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2509114" cy="6858000"/>
          </a:xfrm>
          <a:prstGeom prst="rect">
            <a:avLst/>
          </a:prstGeom>
          <a:solidFill>
            <a:srgbClr val="0F5174"/>
          </a:solidFill>
          <a:ln>
            <a:noFill/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pic>
        <p:nvPicPr>
          <p:cNvPr id="3" name="Picture 3" descr="E-School Cambodi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74" y="1057046"/>
            <a:ext cx="2003450" cy="200345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349301" y="4570171"/>
            <a:ext cx="1810512" cy="168250"/>
          </a:xfrm>
          <a:prstGeom prst="rect">
            <a:avLst/>
          </a:prstGeom>
        </p:spPr>
      </p:pic>
      <p:sp>
        <p:nvSpPr>
          <p:cNvPr id="5" name="Shape 5"/>
          <p:cNvSpPr/>
          <p:nvPr/>
        </p:nvSpPr>
        <p:spPr>
          <a:xfrm>
            <a:off x="3108960" y="914400"/>
            <a:ext cx="1143000" cy="1143000"/>
          </a:xfrm>
          <a:prstGeom prst="ellipse">
            <a:avLst/>
          </a:prstGeom>
          <a:solidFill>
            <a:srgbClr val="C0272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4000" b="1" dirty="0">
                <a:solidFill>
                  <a:srgbClr val="FFFFFF"/>
                </a:solidFill>
                <a:latin typeface="Kh Muol"/>
                <a:cs typeface="Kh Muol"/>
              </a:rPr>
              <a:t>២</a:t>
            </a:r>
            <a:endParaRPr lang="en-US" sz="4000" dirty="0"/>
          </a:p>
        </p:txBody>
      </p:sp>
      <p:sp>
        <p:nvSpPr>
          <p:cNvPr id="6" name="Shape 6"/>
          <p:cNvSpPr txBox="1"/>
          <p:nvPr/>
        </p:nvSpPr>
        <p:spPr>
          <a:xfrm>
            <a:off x="4526280" y="914400"/>
            <a:ext cx="7132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800" b="1" dirty="0">
                <a:solidFill>
                  <a:srgbClr val="C0272D"/>
                </a:solidFill>
                <a:latin typeface="Kh Battambang"/>
                <a:cs typeface="Kh Battambang"/>
              </a:rPr>
              <a:t>ផ្នែកទី ២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Shape 7"/>
              <p:cNvSpPr txBox="1"/>
              <p:nvPr/>
            </p:nvSpPr>
            <p:spPr>
              <a:xfrm>
                <a:off x="4526280" y="1371600"/>
                <a:ext cx="722376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>
                <a:noAutofit/>
              </a:bodyPr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800" dirty="0">
                    <a:solidFill>
                      <a:srgbClr val="0F5174"/>
                    </a:solidFill>
                    <a:latin typeface="Kh Muol"/>
                    <a:cs typeface="Kh Muol"/>
                  </a:rPr>
                  <a:t>ទំនាក់ទំនងរវាង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800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m-KH" sz="2800" dirty="0">
                    <a:solidFill>
                      <a:srgbClr val="0F5174"/>
                    </a:solidFill>
                    <a:latin typeface="Kh Muol"/>
                    <a:cs typeface="Kh Muol"/>
                  </a:rPr>
                  <a:t> និង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800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Shape 7"/>
              <p:cNvSpPr txBox="1"/>
              <p:nvPr/>
            </p:nvSpPr>
            <p:spPr>
              <a:xfrm>
                <a:off x="4526280" y="1371600"/>
                <a:ext cx="722376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>
                <a:noAutofit/>
              </a:bodyPr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800" dirty="0">
                    <a:solidFill>
                      <a:srgbClr val="0F5174"/>
                    </a:solidFill>
                    <a:latin typeface="Kh Muol"/>
                    <a:cs typeface="Kh Muol"/>
                  </a:rPr>
                  <a:t>ទំនាក់ទំនងរវាង </a:t>
                </a:r>
                <a:r>
                  <a:rPr lang="km-KH" sz="2800" i="1" dirty="0">
                    <a:solidFill>
                      <a:srgbClr val="0F5174"/>
                    </a:solidFill>
                    <a:latin typeface="Cambria Math"/>
                    <a:cs typeface="Cambria Math"/>
                  </a:rPr>
                  <a:t>aₙ</a:t>
                </a:r>
                <a:r>
                  <a:rPr lang="km-KH" sz="2800" dirty="0">
                    <a:solidFill>
                      <a:srgbClr val="0F5174"/>
                    </a:solidFill>
                    <a:latin typeface="Kh Muol"/>
                    <a:cs typeface="Kh Muol"/>
                  </a:rPr>
                  <a:t> និង </a:t>
                </a:r>
                <a:r>
                  <a:rPr lang="km-KH" sz="2800" i="1" dirty="0">
                    <a:solidFill>
                      <a:srgbClr val="0F5174"/>
                    </a:solidFill>
                    <a:latin typeface="Cambria Math"/>
                    <a:cs typeface="Cambria Math"/>
                  </a:rPr>
                  <a:t>Sₙ</a:t>
                </a:r>
                <a:endParaRPr lang="en-US" sz="28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Shape 8"/>
              <p:cNvSpPr/>
              <p:nvPr/>
            </p:nvSpPr>
            <p:spPr>
              <a:xfrm>
                <a:off x="3108960" y="2697480"/>
                <a:ext cx="8595360" cy="731520"/>
              </a:xfrm>
              <a:prstGeom prst="roundRect">
                <a:avLst>
                  <a:gd name="adj" fmla="val 9000"/>
                </a:avLst>
              </a:prstGeom>
              <a:solidFill>
                <a:srgbClr val="EAF2F8"/>
              </a:solidFill>
              <a:ln w="12700">
                <a:solidFill>
                  <a:srgbClr val="EAF2F8"/>
                </a:solidFill>
              </a:ln>
            </p:spPr>
            <p:txBody>
              <a:bodyPr wrap="square" lIns="274320" tIns="45720" rIns="182880" bIns="4572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គំនិតគន្លឹះ៖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+ តួចុងក្រោយ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Shape 8"/>
              <p:cNvSpPr/>
              <p:nvPr/>
            </p:nvSpPr>
            <p:spPr>
              <a:xfrm>
                <a:off x="3108960" y="2697480"/>
                <a:ext cx="8595360" cy="731520"/>
              </a:xfrm>
              <a:prstGeom prst="roundRect">
                <a:avLst>
                  <a:gd name="adj" fmla="val 9000"/>
                </a:avLst>
              </a:prstGeom>
              <a:solidFill>
                <a:srgbClr val="EAF2F8"/>
              </a:solidFill>
              <a:ln w="12700">
                <a:solidFill>
                  <a:srgbClr val="EAF2F8"/>
                </a:solidFill>
              </a:ln>
            </p:spPr>
            <p:txBody>
              <a:bodyPr wrap="square" lIns="274320" tIns="45720" rIns="182880" bIns="4572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គំនិតគន្លឹះ៖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Sₙ</a:t>
                </a: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=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Sₙ₋₁</a:t>
                </a: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+ តួចុងក្រោយ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aₙ</a:t>
                </a:r>
                <a:endParaRPr lang="en-US" sz="2000" dirty="0"/>
              </a:p>
            </p:txBody>
          </p:sp>
        </mc:Fallback>
      </mc:AlternateContent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0234" y="3611880"/>
            <a:ext cx="4072812" cy="2880360"/>
          </a:xfrm>
          <a:prstGeom prst="rect">
            <a:avLst/>
          </a:prstGeom>
        </p:spPr>
      </p:pic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m-KH" dirty="0"/>
              <a:t>២. ទំនាក់ទំនងរវាងតួ និងផលបូក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hape 3"/>
              <p:cNvSpPr/>
              <p:nvPr/>
            </p:nvSpPr>
            <p:spPr>
              <a:xfrm>
                <a:off x="1097280" y="2240280"/>
                <a:ext cx="1005840" cy="731520"/>
              </a:xfrm>
              <a:prstGeom prst="roundRect">
                <a:avLst>
                  <a:gd name="adj" fmla="val 18000"/>
                </a:avLst>
              </a:prstGeom>
              <a:solidFill>
                <a:srgbClr val="0F5174"/>
              </a:solidFill>
              <a:ln>
                <a:noFill/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20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Shape 3"/>
              <p:cNvSpPr/>
              <p:nvPr/>
            </p:nvSpPr>
            <p:spPr>
              <a:xfrm>
                <a:off x="1097280" y="2240280"/>
                <a:ext cx="1005840" cy="731520"/>
              </a:xfrm>
              <a:prstGeom prst="roundRect">
                <a:avLst>
                  <a:gd name="adj" fmla="val 18000"/>
                </a:avLst>
              </a:prstGeom>
              <a:solidFill>
                <a:srgbClr val="0F5174"/>
              </a:solidFill>
              <a:ln>
                <a:noFill/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b="1" i="1" dirty="0">
                    <a:solidFill>
                      <a:srgbClr val="FFFFFF"/>
                    </a:solidFill>
                    <a:latin typeface="Cambria Math"/>
                    <a:cs typeface="Cambria Math"/>
                  </a:rPr>
                  <a:t>a₁</a:t>
                </a:r>
                <a:endParaRPr lang="en-US" sz="20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Shape 4"/>
              <p:cNvSpPr/>
              <p:nvPr/>
            </p:nvSpPr>
            <p:spPr>
              <a:xfrm>
                <a:off x="2240280" y="2240280"/>
                <a:ext cx="1005840" cy="731520"/>
              </a:xfrm>
              <a:prstGeom prst="roundRect">
                <a:avLst>
                  <a:gd name="adj" fmla="val 18000"/>
                </a:avLst>
              </a:prstGeom>
              <a:solidFill>
                <a:srgbClr val="0F5174"/>
              </a:solidFill>
              <a:ln>
                <a:noFill/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20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Shape 4"/>
              <p:cNvSpPr/>
              <p:nvPr/>
            </p:nvSpPr>
            <p:spPr>
              <a:xfrm>
                <a:off x="2240280" y="2240280"/>
                <a:ext cx="1005840" cy="731520"/>
              </a:xfrm>
              <a:prstGeom prst="roundRect">
                <a:avLst>
                  <a:gd name="adj" fmla="val 18000"/>
                </a:avLst>
              </a:prstGeom>
              <a:solidFill>
                <a:srgbClr val="0F5174"/>
              </a:solidFill>
              <a:ln>
                <a:noFill/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b="1" i="1" dirty="0">
                    <a:solidFill>
                      <a:srgbClr val="FFFFFF"/>
                    </a:solidFill>
                    <a:latin typeface="Cambria Math"/>
                    <a:cs typeface="Cambria Math"/>
                  </a:rPr>
                  <a:t>a₂</a:t>
                </a:r>
                <a:endParaRPr lang="en-US" sz="20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Shape 5"/>
              <p:cNvSpPr/>
              <p:nvPr/>
            </p:nvSpPr>
            <p:spPr>
              <a:xfrm>
                <a:off x="3383280" y="2240280"/>
                <a:ext cx="1005840" cy="731520"/>
              </a:xfrm>
              <a:prstGeom prst="roundRect">
                <a:avLst>
                  <a:gd name="adj" fmla="val 18000"/>
                </a:avLst>
              </a:prstGeom>
              <a:solidFill>
                <a:srgbClr val="0F5174"/>
              </a:solidFill>
              <a:ln>
                <a:noFill/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20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Shape 5"/>
              <p:cNvSpPr/>
              <p:nvPr/>
            </p:nvSpPr>
            <p:spPr>
              <a:xfrm>
                <a:off x="3383280" y="2240280"/>
                <a:ext cx="1005840" cy="731520"/>
              </a:xfrm>
              <a:prstGeom prst="roundRect">
                <a:avLst>
                  <a:gd name="adj" fmla="val 18000"/>
                </a:avLst>
              </a:prstGeom>
              <a:solidFill>
                <a:srgbClr val="0F5174"/>
              </a:solidFill>
              <a:ln>
                <a:noFill/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b="1" i="1" dirty="0">
                    <a:solidFill>
                      <a:srgbClr val="FFFFFF"/>
                    </a:solidFill>
                    <a:latin typeface="Cambria Math"/>
                    <a:cs typeface="Cambria Math"/>
                  </a:rPr>
                  <a:t>a₃</a:t>
                </a:r>
                <a:endParaRPr lang="en-US" sz="20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Shape 6"/>
              <p:cNvSpPr/>
              <p:nvPr/>
            </p:nvSpPr>
            <p:spPr>
              <a:xfrm>
                <a:off x="4526280" y="2240280"/>
                <a:ext cx="1005840" cy="731520"/>
              </a:xfrm>
              <a:prstGeom prst="roundRect">
                <a:avLst>
                  <a:gd name="adj" fmla="val 18000"/>
                </a:avLst>
              </a:prstGeom>
              <a:solidFill>
                <a:srgbClr val="0F5174"/>
              </a:solidFill>
              <a:ln>
                <a:noFill/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000" b="1" i="1" dirty="0">
                          <a:solidFill>
                            <a:srgbClr val="FFFFFF"/>
                          </a:solidFill>
                          <a:latin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Shape 6"/>
              <p:cNvSpPr/>
              <p:nvPr/>
            </p:nvSpPr>
            <p:spPr>
              <a:xfrm>
                <a:off x="4526280" y="2240280"/>
                <a:ext cx="1005840" cy="731520"/>
              </a:xfrm>
              <a:prstGeom prst="roundRect">
                <a:avLst>
                  <a:gd name="adj" fmla="val 18000"/>
                </a:avLst>
              </a:prstGeom>
              <a:solidFill>
                <a:srgbClr val="0F5174"/>
              </a:solidFill>
              <a:ln>
                <a:noFill/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b="1" i="1" dirty="0">
                    <a:solidFill>
                      <a:srgbClr val="FFFFFF"/>
                    </a:solidFill>
                    <a:latin typeface="Cambria Math"/>
                    <a:cs typeface="Cambria Math"/>
                  </a:rPr>
                  <a:t>⋯</a:t>
                </a:r>
                <a:endParaRPr lang="en-US" sz="20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Shape 7"/>
              <p:cNvSpPr/>
              <p:nvPr/>
            </p:nvSpPr>
            <p:spPr>
              <a:xfrm>
                <a:off x="5669280" y="2240280"/>
                <a:ext cx="1005840" cy="731520"/>
              </a:xfrm>
              <a:prstGeom prst="roundRect">
                <a:avLst>
                  <a:gd name="adj" fmla="val 18000"/>
                </a:avLst>
              </a:prstGeom>
              <a:solidFill>
                <a:srgbClr val="0F5174"/>
              </a:solidFill>
              <a:ln>
                <a:noFill/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20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20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Shape 7"/>
              <p:cNvSpPr/>
              <p:nvPr/>
            </p:nvSpPr>
            <p:spPr>
              <a:xfrm>
                <a:off x="5669280" y="2240280"/>
                <a:ext cx="1005840" cy="731520"/>
              </a:xfrm>
              <a:prstGeom prst="roundRect">
                <a:avLst>
                  <a:gd name="adj" fmla="val 18000"/>
                </a:avLst>
              </a:prstGeom>
              <a:solidFill>
                <a:srgbClr val="0F5174"/>
              </a:solidFill>
              <a:ln>
                <a:noFill/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b="1" i="1" dirty="0">
                    <a:solidFill>
                      <a:srgbClr val="FFFFFF"/>
                    </a:solidFill>
                    <a:latin typeface="Cambria Math"/>
                    <a:cs typeface="Cambria Math"/>
                  </a:rPr>
                  <a:t>aₙ₋₁</a:t>
                </a:r>
                <a:endParaRPr lang="en-US" sz="20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Shape 8"/>
              <p:cNvSpPr/>
              <p:nvPr/>
            </p:nvSpPr>
            <p:spPr>
              <a:xfrm>
                <a:off x="6812280" y="2240280"/>
                <a:ext cx="1005840" cy="731520"/>
              </a:xfrm>
              <a:prstGeom prst="roundRect">
                <a:avLst>
                  <a:gd name="adj" fmla="val 18000"/>
                </a:avLst>
              </a:prstGeom>
              <a:solidFill>
                <a:srgbClr val="C0272D"/>
              </a:solidFill>
              <a:ln>
                <a:noFill/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2000" b="1" i="1" dirty="0">
                              <a:solidFill>
                                <a:srgbClr val="FFFFF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Shape 8"/>
              <p:cNvSpPr/>
              <p:nvPr/>
            </p:nvSpPr>
            <p:spPr>
              <a:xfrm>
                <a:off x="6812280" y="2240280"/>
                <a:ext cx="1005840" cy="731520"/>
              </a:xfrm>
              <a:prstGeom prst="roundRect">
                <a:avLst>
                  <a:gd name="adj" fmla="val 18000"/>
                </a:avLst>
              </a:prstGeom>
              <a:solidFill>
                <a:srgbClr val="C0272D"/>
              </a:solidFill>
              <a:ln>
                <a:noFill/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b="1" i="1" dirty="0">
                    <a:solidFill>
                      <a:srgbClr val="FFFFFF"/>
                    </a:solidFill>
                    <a:latin typeface="Cambria Math"/>
                    <a:cs typeface="Cambria Math"/>
                  </a:rPr>
                  <a:t>aₙ</a:t>
                </a:r>
                <a:endParaRPr lang="en-US" sz="2000" dirty="0"/>
              </a:p>
            </p:txBody>
          </p:sp>
        </mc:Fallback>
      </mc:AlternateContent>
      <p:cxnSp>
        <p:nvCxnSpPr>
          <p:cNvPr id="9" name="Connector 9"/>
          <p:cNvCxnSpPr/>
          <p:nvPr/>
        </p:nvCxnSpPr>
        <p:spPr>
          <a:xfrm>
            <a:off x="1097280" y="1874520"/>
            <a:ext cx="6766560" cy="0"/>
          </a:xfrm>
          <a:prstGeom prst="straightConnector1">
            <a:avLst/>
          </a:prstGeom>
          <a:ln w="31750">
            <a:solidFill>
              <a:srgbClr val="E0A100"/>
            </a:solidFill>
            <a:headEnd type="triangle" w="med" len="med"/>
            <a:tailEnd type="triangle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Shape 10"/>
              <p:cNvSpPr txBox="1"/>
              <p:nvPr/>
            </p:nvSpPr>
            <p:spPr>
              <a:xfrm>
                <a:off x="3840480" y="1417320"/>
                <a:ext cx="1280160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200" b="1" i="1" dirty="0">
                              <a:solidFill>
                                <a:srgbClr val="8A62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1" i="1" dirty="0">
                              <a:solidFill>
                                <a:srgbClr val="8A6200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200" b="1" i="1" dirty="0">
                              <a:solidFill>
                                <a:srgbClr val="8A62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Shape 10"/>
              <p:cNvSpPr txBox="1"/>
              <p:nvPr/>
            </p:nvSpPr>
            <p:spPr>
              <a:xfrm>
                <a:off x="3840480" y="1417320"/>
                <a:ext cx="1280160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200" b="1" i="1" dirty="0">
                    <a:solidFill>
                      <a:srgbClr val="8A6200"/>
                    </a:solidFill>
                    <a:latin typeface="Cambria Math"/>
                    <a:cs typeface="Cambria Math"/>
                  </a:rPr>
                  <a:t>Sₙ</a:t>
                </a:r>
                <a:endParaRPr lang="en-US" sz="2000" dirty="0"/>
              </a:p>
            </p:txBody>
          </p:sp>
        </mc:Fallback>
      </mc:AlternateContent>
      <p:cxnSp>
        <p:nvCxnSpPr>
          <p:cNvPr id="11" name="Connector 11"/>
          <p:cNvCxnSpPr/>
          <p:nvPr/>
        </p:nvCxnSpPr>
        <p:spPr>
          <a:xfrm>
            <a:off x="1097280" y="3291840"/>
            <a:ext cx="5623560" cy="0"/>
          </a:xfrm>
          <a:prstGeom prst="straightConnector1">
            <a:avLst/>
          </a:prstGeom>
          <a:ln w="28575">
            <a:solidFill>
              <a:srgbClr val="0F5174"/>
            </a:solidFill>
            <a:headEnd type="triangle" w="med" len="med"/>
            <a:tailEnd type="triangle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Shape 12"/>
              <p:cNvSpPr txBox="1"/>
              <p:nvPr/>
            </p:nvSpPr>
            <p:spPr>
              <a:xfrm>
                <a:off x="3291840" y="3383280"/>
                <a:ext cx="1463040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b="1" i="1" dirty="0">
                              <a:solidFill>
                                <a:srgbClr val="0F517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1" i="1" dirty="0">
                              <a:solidFill>
                                <a:srgbClr val="0F5174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000" b="1" i="1" dirty="0">
                              <a:solidFill>
                                <a:srgbClr val="0F5174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2000" b="1" i="1" dirty="0">
                              <a:solidFill>
                                <a:srgbClr val="0F5174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2" name="Shape 12"/>
              <p:cNvSpPr txBox="1"/>
              <p:nvPr/>
            </p:nvSpPr>
            <p:spPr>
              <a:xfrm>
                <a:off x="3291840" y="3383280"/>
                <a:ext cx="1463040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b="1" i="1" dirty="0">
                    <a:solidFill>
                      <a:srgbClr val="0F5174"/>
                    </a:solidFill>
                    <a:latin typeface="Cambria Math"/>
                    <a:cs typeface="Cambria Math"/>
                  </a:rPr>
                  <a:t>Sₙ₋₁</a:t>
                </a:r>
                <a:endParaRPr lang="en-US" sz="20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Shape 13"/>
              <p:cNvSpPr/>
              <p:nvPr/>
            </p:nvSpPr>
            <p:spPr>
              <a:xfrm>
                <a:off x="914400" y="4069080"/>
                <a:ext cx="7040880" cy="1143000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31750">
                <a:solidFill>
                  <a:srgbClr val="E0A100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182880" tIns="109728" rIns="182880" bIns="109728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1" i="1" dirty="0">
                            <a:solidFill>
                              <a:srgbClr val="C0272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1" i="1" dirty="0">
                            <a:solidFill>
                              <a:srgbClr val="C0272D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2600" b="1" i="1" dirty="0">
                            <a:solidFill>
                              <a:srgbClr val="C0272D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sz="2600" b="1" i="1" dirty="0">
                        <a:solidFill>
                          <a:srgbClr val="C0272D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600" b="1" i="1" dirty="0">
                            <a:solidFill>
                              <a:srgbClr val="C0272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1" i="1" dirty="0">
                            <a:solidFill>
                              <a:srgbClr val="C0272D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600" b="1" i="1" dirty="0">
                            <a:solidFill>
                              <a:srgbClr val="C0272D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sz="2600" b="1" i="1" dirty="0">
                        <a:solidFill>
                          <a:srgbClr val="C0272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600" b="1" i="1" dirty="0">
                            <a:solidFill>
                              <a:srgbClr val="C0272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1" i="1" dirty="0">
                            <a:solidFill>
                              <a:srgbClr val="C0272D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600" b="1" i="1" dirty="0">
                            <a:solidFill>
                              <a:srgbClr val="C0272D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2600" b="1" i="1" dirty="0">
                            <a:solidFill>
                              <a:srgbClr val="C0272D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600" b="1" i="1" dirty="0">
                        <a:solidFill>
                          <a:srgbClr val="C0272D"/>
                        </a:solidFill>
                        <a:latin typeface="Cambria Math" panose="02040503050406030204" pitchFamily="18" charset="0"/>
                      </a:rPr>
                      <m:t>  (���≥2)</m:t>
                    </m:r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    និង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1" i="1" dirty="0">
                            <a:solidFill>
                              <a:srgbClr val="C0272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1" i="1" dirty="0">
                            <a:solidFill>
                              <a:srgbClr val="C0272D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2600" b="1" i="1" dirty="0">
                            <a:solidFill>
                              <a:srgbClr val="C0272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600" b="1" i="1" dirty="0">
                        <a:solidFill>
                          <a:srgbClr val="C0272D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600" b="1" i="1" dirty="0">
                            <a:solidFill>
                              <a:srgbClr val="C0272D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1" i="1" dirty="0">
                            <a:solidFill>
                              <a:srgbClr val="C0272D"/>
                            </a:solidFill>
                            <a:latin typeface="Cambria Math" panose="02040503050406030204" pitchFamily="18" charset="0"/>
                          </a:rPr>
                          <m:t>𝑺</m:t>
                        </m:r>
                      </m:e>
                      <m:sub>
                        <m:r>
                          <a:rPr lang="en-US" sz="2600" b="1" i="1" dirty="0">
                            <a:solidFill>
                              <a:srgbClr val="C0272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3" name="Shape 13"/>
              <p:cNvSpPr/>
              <p:nvPr/>
            </p:nvSpPr>
            <p:spPr>
              <a:xfrm>
                <a:off x="914400" y="4069080"/>
                <a:ext cx="7040880" cy="1143000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31750">
                <a:solidFill>
                  <a:srgbClr val="E0A100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182880" tIns="109728" rIns="182880" bIns="109728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600" b="1" i="1" dirty="0">
                    <a:solidFill>
                      <a:srgbClr val="C0272D"/>
                    </a:solidFill>
                    <a:latin typeface="Cambria Math"/>
                    <a:cs typeface="Cambria Math"/>
                  </a:rPr>
                  <a:t>aₙ=Sₙ−Sₙ₋₁  (n≥2)</a:t>
                </a: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    និង     </a:t>
                </a:r>
                <a:r>
                  <a:rPr lang="km-KH" sz="2600" b="1" i="1" dirty="0">
                    <a:solidFill>
                      <a:srgbClr val="C0272D"/>
                    </a:solidFill>
                    <a:latin typeface="Cambria Math"/>
                    <a:cs typeface="Cambria Math"/>
                  </a:rPr>
                  <a:t>a₁=S₁</a:t>
                </a:r>
                <a:endParaRPr lang="en-US" sz="20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Shape 14"/>
              <p:cNvSpPr txBox="1"/>
              <p:nvPr/>
            </p:nvSpPr>
            <p:spPr>
              <a:xfrm>
                <a:off x="914400" y="5440680"/>
                <a:ext cx="7040880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900" b="1" dirty="0">
                    <a:solidFill>
                      <a:srgbClr val="0F5174"/>
                    </a:solidFill>
                    <a:latin typeface="Kh Battambang"/>
                    <a:cs typeface="Kh Battambang"/>
                  </a:rPr>
                  <a:t>សម្គាល់៖ </a:t>
                </a: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ដូចគ្នាដែរ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1900" dirty="0"/>
              </a:p>
            </p:txBody>
          </p:sp>
        </mc:Choice>
        <mc:Fallback xmlns="">
          <p:sp>
            <p:nvSpPr>
              <p:cNvPr id="14" name="Shape 14"/>
              <p:cNvSpPr txBox="1"/>
              <p:nvPr/>
            </p:nvSpPr>
            <p:spPr>
              <a:xfrm>
                <a:off x="914400" y="5440680"/>
                <a:ext cx="7040880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900" b="1" dirty="0">
                    <a:solidFill>
                      <a:srgbClr val="0F5174"/>
                    </a:solidFill>
                    <a:latin typeface="Kh Battambang"/>
                    <a:cs typeface="Kh Battambang"/>
                  </a:rPr>
                  <a:t>សម្គាល់៖ </a:t>
                </a: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ដូចគ្នាដែរ </a:t>
                </a:r>
                <a:r>
                  <a:rPr lang="km-KH" sz="19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aₙ₊₁=Sₙ₊₁−Sₙ</a:t>
                </a:r>
                <a:endParaRPr lang="en-US" sz="19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Shape 15"/>
              <p:cNvSpPr/>
              <p:nvPr/>
            </p:nvSpPr>
            <p:spPr>
              <a:xfrm>
                <a:off x="8412480" y="1600200"/>
                <a:ext cx="3246120" cy="4663440"/>
              </a:xfrm>
              <a:prstGeom prst="roundRect">
                <a:avLst>
                  <a:gd name="adj" fmla="val 9000"/>
                </a:avLst>
              </a:prstGeom>
              <a:solidFill>
                <a:srgbClr val="FCEDEE"/>
              </a:solidFill>
              <a:ln w="12700">
                <a:solidFill>
                  <a:srgbClr val="EBB3B6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228600" tIns="1097280" rIns="228600" bIns="137160" rtlCol="0" anchor="t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r>
                  <a:rPr lang="km-KH" sz="2200" b="1" dirty="0">
                    <a:solidFill>
                      <a:srgbClr val="C0272D"/>
                    </a:solidFill>
                    <a:latin typeface="Kh Battambang"/>
                    <a:cs typeface="Kh Battambang"/>
                  </a:rPr>
                  <a:t>កុំភ្លេច!</a:t>
                </a:r>
                <a:endParaRPr lang="en-US" sz="2200" dirty="0"/>
              </a:p>
              <a:p>
                <a:pPr algn="l">
                  <a:lnSpc>
                    <a:spcPct val="135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រូបមន្ត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ពិតតែចំពោះ </a:t>
                </a:r>
                <a14:m>
                  <m:oMath xmlns:m="http://schemas.openxmlformats.org/officeDocument/2006/math"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≥2</m:t>
                    </m:r>
                  </m:oMath>
                </a14:m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ប៉ុណ្ណោះ</a:t>
                </a:r>
                <a:endParaRPr lang="en-US" sz="1800" dirty="0"/>
              </a:p>
              <a:p>
                <a:pPr algn="l">
                  <a:lnSpc>
                    <a:spcPct val="13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ត្រូវគណនា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ដោយឡែក រួចពិនិត្យថាវាត្រូវនឹងរូបមន្តឬទេ</a:t>
                </a:r>
                <a:endParaRPr lang="en-US" sz="1800" dirty="0"/>
              </a:p>
            </p:txBody>
          </p:sp>
        </mc:Choice>
        <mc:Fallback xmlns="">
          <p:sp>
            <p:nvSpPr>
              <p:cNvPr id="15" name="Shape 15"/>
              <p:cNvSpPr/>
              <p:nvPr/>
            </p:nvSpPr>
            <p:spPr>
              <a:xfrm>
                <a:off x="8412480" y="1600200"/>
                <a:ext cx="3246120" cy="4663440"/>
              </a:xfrm>
              <a:prstGeom prst="roundRect">
                <a:avLst>
                  <a:gd name="adj" fmla="val 9000"/>
                </a:avLst>
              </a:prstGeom>
              <a:solidFill>
                <a:srgbClr val="FCEDEE"/>
              </a:solidFill>
              <a:ln w="12700">
                <a:solidFill>
                  <a:srgbClr val="EBB3B6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228600" tIns="1097280" rIns="228600" bIns="137160" rtlCol="0" anchor="t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r>
                  <a:rPr lang="km-KH" sz="2200" b="1" dirty="0">
                    <a:solidFill>
                      <a:srgbClr val="C0272D"/>
                    </a:solidFill>
                    <a:latin typeface="Kh Battambang"/>
                    <a:cs typeface="Kh Battambang"/>
                  </a:rPr>
                  <a:t>កុំភ្លេច!</a:t>
                </a:r>
                <a:endParaRPr lang="en-US" sz="2200" dirty="0"/>
              </a:p>
              <a:p>
                <a:pPr algn="l">
                  <a:lnSpc>
                    <a:spcPct val="135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រូបមន្ត </a:t>
                </a:r>
                <a:r>
                  <a:rPr lang="km-KH" sz="18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aₙ=Sₙ−Sₙ₋₁</a:t>
                </a: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ពិតតែចំពោះ </a:t>
                </a:r>
                <a:r>
                  <a:rPr lang="km-KH" sz="18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n≥2</a:t>
                </a: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ប៉ុណ្ណោះ</a:t>
                </a:r>
                <a:endParaRPr lang="en-US" sz="1800" dirty="0"/>
              </a:p>
              <a:p>
                <a:pPr algn="l">
                  <a:lnSpc>
                    <a:spcPct val="13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ត្រូវគណនា </a:t>
                </a:r>
                <a:r>
                  <a:rPr lang="km-KH" sz="18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a₁=S₁</a:t>
                </a: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ដោយឡែក រួចពិនិត្យថាវាត្រូវនឹងរូបមន្តឬទេ</a:t>
                </a:r>
                <a:endParaRPr lang="en-US" sz="1800" dirty="0"/>
              </a:p>
            </p:txBody>
          </p:sp>
        </mc:Fallback>
      </mc:AlternateContent>
      <p:pic>
        <p:nvPicPr>
          <p:cNvPr id="16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28" y="1783080"/>
            <a:ext cx="640080" cy="64008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0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m-KH" dirty="0"/>
              <a:t>២. ទំនាក់ទំនងរវាងតួ និងផលបូក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hape 3"/>
              <p:cNvSpPr/>
              <p:nvPr/>
            </p:nvSpPr>
            <p:spPr>
              <a:xfrm>
                <a:off x="548640" y="1417320"/>
                <a:ext cx="11091672" cy="868680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2148840" tIns="73152" rIns="228600" bIns="73152" rtlCol="0" anchor="ctr">
                <a:noAutofit/>
              </a:bodyPr>
              <a:lstStyle/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គេមានផលបូក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តួដំបូងនៃស្វ៊ីត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គឺ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+���</m:t>
                    </m:r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។ កំណត់តួទី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។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Shape 3"/>
              <p:cNvSpPr/>
              <p:nvPr/>
            </p:nvSpPr>
            <p:spPr>
              <a:xfrm>
                <a:off x="548640" y="1417320"/>
                <a:ext cx="11091672" cy="868680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2148840" tIns="73152" rIns="228600" bIns="73152" rtlCol="0" anchor="ctr">
                <a:noAutofit/>
              </a:bodyPr>
              <a:lstStyle/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គេមានផលបូក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n</a:t>
                </a: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តួដំបូងនៃស្វ៊ីត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(aₙ)</a:t>
                </a: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គឺ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Sₙ=n²+n</a:t>
                </a: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។ កំណត់តួទី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n</a:t>
                </a: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។</a:t>
                </a:r>
                <a:endParaRPr lang="en-US" sz="2000" dirty="0"/>
              </a:p>
            </p:txBody>
          </p:sp>
        </mc:Fallback>
      </mc:AlternateContent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600200"/>
            <a:ext cx="502920" cy="502920"/>
          </a:xfrm>
          <a:prstGeom prst="rect">
            <a:avLst/>
          </a:prstGeom>
        </p:spPr>
      </p:pic>
      <p:sp>
        <p:nvSpPr>
          <p:cNvPr id="5" name="Shape 5"/>
          <p:cNvSpPr/>
          <p:nvPr/>
        </p:nvSpPr>
        <p:spPr>
          <a:xfrm>
            <a:off x="1298448" y="1641348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C0272D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600" b="1" dirty="0">
                <a:solidFill>
                  <a:srgbClr val="FFFFFF"/>
                </a:solidFill>
                <a:latin typeface="Kh Battambang"/>
                <a:cs typeface="Kh Battambang"/>
              </a:rPr>
              <a:t>ឧទាហរណ៍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hape 6"/>
              <p:cNvSpPr txBox="1"/>
              <p:nvPr/>
            </p:nvSpPr>
            <p:spPr>
              <a:xfrm>
                <a:off x="822960" y="2514600"/>
                <a:ext cx="7040880" cy="6035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ចំពោះ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≥2</m:t>
                    </m:r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៖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+���−[(���−1</m:t>
                    </m:r>
                    <m:sSup>
                      <m:sSup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+(���−1)]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Shape 6"/>
              <p:cNvSpPr txBox="1"/>
              <p:nvPr/>
            </p:nvSpPr>
            <p:spPr>
              <a:xfrm>
                <a:off x="822960" y="2514600"/>
                <a:ext cx="7040880" cy="6035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ចំពោះ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n≥2</a:t>
                </a: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៖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aₙ=Sₙ−Sₙ₋₁=n²+n−[(n−1)²+(n−1)]</a:t>
                </a:r>
                <a:endParaRPr lang="en-US" sz="20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Shape 7"/>
              <p:cNvSpPr txBox="1"/>
              <p:nvPr/>
            </p:nvSpPr>
            <p:spPr>
              <a:xfrm>
                <a:off x="822960" y="3246120"/>
                <a:ext cx="7040880" cy="6035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+���−</m:t>
                      </m:r>
                      <m:sSup>
                        <m:sSupPr>
                          <m:ctrlP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0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0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+2���−1−���+1=2���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7" name="Shape 7"/>
              <p:cNvSpPr txBox="1"/>
              <p:nvPr/>
            </p:nvSpPr>
            <p:spPr>
              <a:xfrm>
                <a:off x="822960" y="3246120"/>
                <a:ext cx="7040880" cy="6035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aₙ=n²+n−n²+2n−1−n+1=2n</a:t>
                </a:r>
                <a:endParaRPr lang="en-US" sz="20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Shape 8"/>
              <p:cNvSpPr txBox="1"/>
              <p:nvPr/>
            </p:nvSpPr>
            <p:spPr>
              <a:xfrm>
                <a:off x="822960" y="3977640"/>
                <a:ext cx="7040880" cy="6035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ចំពោះ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៖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+1=2=2·1</m:t>
                    </m:r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 ✔ ពិត</a:t>
                </a:r>
                <a:endParaRPr lang="en-US" sz="2000" dirty="0"/>
              </a:p>
            </p:txBody>
          </p:sp>
        </mc:Choice>
        <mc:Fallback xmlns="">
          <p:sp>
            <p:nvSpPr>
              <p:cNvPr id="8" name="Shape 8"/>
              <p:cNvSpPr txBox="1"/>
              <p:nvPr/>
            </p:nvSpPr>
            <p:spPr>
              <a:xfrm>
                <a:off x="822960" y="3977640"/>
                <a:ext cx="7040880" cy="6035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ចំពោះ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n=1</a:t>
                </a: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៖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a₁=S₁=1²+1=2=2·1</a:t>
                </a: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 ✔ ពិត</a:t>
                </a:r>
                <a:endParaRPr lang="en-US" sz="20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Shape 9"/>
              <p:cNvSpPr/>
              <p:nvPr/>
            </p:nvSpPr>
            <p:spPr>
              <a:xfrm>
                <a:off x="822960" y="4937760"/>
                <a:ext cx="6766560" cy="914400"/>
              </a:xfrm>
              <a:prstGeom prst="roundRect">
                <a:avLst>
                  <a:gd name="adj" fmla="val 9000"/>
                </a:avLst>
              </a:prstGeom>
              <a:solidFill>
                <a:srgbClr val="E8F5EC"/>
              </a:solidFill>
              <a:ln w="19050">
                <a:solidFill>
                  <a:srgbClr val="9FD3B2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777240" tIns="54864" rIns="182880" bIns="54864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2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ដូច្នេះ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2E7D4F"/>
                        </a:solidFill>
                        <a:latin typeface="Cambria Math" panose="02040503050406030204" pitchFamily="18" charset="0"/>
                      </a:rPr>
                      <m:t>=2���</m:t>
                    </m:r>
                  </m:oMath>
                </a14:m>
                <a:r>
                  <a:rPr lang="km-KH" sz="22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 ចំពោះគ្រប់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9" name="Shape 9"/>
              <p:cNvSpPr/>
              <p:nvPr/>
            </p:nvSpPr>
            <p:spPr>
              <a:xfrm>
                <a:off x="822960" y="4937760"/>
                <a:ext cx="6766560" cy="914400"/>
              </a:xfrm>
              <a:prstGeom prst="roundRect">
                <a:avLst>
                  <a:gd name="adj" fmla="val 9000"/>
                </a:avLst>
              </a:prstGeom>
              <a:solidFill>
                <a:srgbClr val="E8F5EC"/>
              </a:solidFill>
              <a:ln w="19050">
                <a:solidFill>
                  <a:srgbClr val="9FD3B2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777240" tIns="54864" rIns="182880" bIns="54864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2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ដូច្នេះ  </a:t>
                </a:r>
                <a:r>
                  <a:rPr lang="km-KH" sz="2400" b="1" i="1" dirty="0">
                    <a:solidFill>
                      <a:srgbClr val="2E7D4F"/>
                    </a:solidFill>
                    <a:latin typeface="Cambria Math"/>
                    <a:cs typeface="Cambria Math"/>
                  </a:rPr>
                  <a:t>aₙ=2n</a:t>
                </a:r>
                <a:r>
                  <a:rPr lang="km-KH" sz="22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 ចំពោះគ្រប់ </a:t>
                </a:r>
                <a:r>
                  <a:rPr lang="km-KH" sz="22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n</a:t>
                </a:r>
                <a:endParaRPr lang="en-US" sz="2200" dirty="0"/>
              </a:p>
            </p:txBody>
          </p:sp>
        </mc:Fallback>
      </mc:AlternateContent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166360"/>
            <a:ext cx="457200" cy="457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hape 11"/>
              <p:cNvSpPr/>
              <p:nvPr/>
            </p:nvSpPr>
            <p:spPr>
              <a:xfrm>
                <a:off x="8092440" y="2514600"/>
                <a:ext cx="3566160" cy="3794760"/>
              </a:xfrm>
              <a:prstGeom prst="roundRect">
                <a:avLst>
                  <a:gd name="adj" fmla="val 9000"/>
                </a:avLst>
              </a:prstGeom>
              <a:solidFill>
                <a:srgbClr val="FCEDEE"/>
              </a:solidFill>
              <a:ln w="12700">
                <a:solidFill>
                  <a:srgbClr val="EBB3B6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228600" tIns="685800" rIns="182880" bIns="137160" rtlCol="0" anchor="t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km-KH" sz="2000" b="1" dirty="0">
                    <a:solidFill>
                      <a:srgbClr val="C0272D"/>
                    </a:solidFill>
                    <a:latin typeface="Kh Battambang"/>
                    <a:cs typeface="Kh Battambang"/>
                  </a:rPr>
                  <a:t>ករណីពិសេស</a:t>
                </a:r>
                <a:endParaRPr lang="en-US" sz="2000" dirty="0"/>
              </a:p>
              <a:p>
                <a:pPr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បើ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+���+1</m:t>
                    </m:r>
                  </m:oMath>
                </a14:m>
                <a:endParaRPr lang="en-US" sz="1800" dirty="0"/>
              </a:p>
              <a:p>
                <a:pPr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តែ </a:t>
                </a:r>
                <a14:m>
                  <m:oMath xmlns:m="http://schemas.openxmlformats.org/officeDocument/2006/math"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2·1=2</m:t>
                    </m:r>
                  </m:oMath>
                </a14:m>
                <a:endParaRPr lang="en-US" sz="1800" dirty="0"/>
              </a:p>
              <a:p>
                <a:pPr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ដូច្នេះ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800" i="1" dirty="0">
                                <a:solidFill>
                                  <a:srgbClr val="1F293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1800" i="1" dirty="0">
                                <a:solidFill>
                                  <a:srgbClr val="1F2937"/>
                                </a:solidFill>
                                <a:latin typeface="Cambria Math" panose="02040503050406030204" pitchFamily="18" charset="0"/>
                              </a:rPr>
                              <m:t>3 , ���=1</m:t>
                            </m:r>
                          </m:e>
                          <m:e>
                            <m:r>
                              <a:rPr lang="en-US" sz="1800" i="1" dirty="0">
                                <a:solidFill>
                                  <a:srgbClr val="1F2937"/>
                                </a:solidFill>
                                <a:latin typeface="Cambria Math" panose="02040503050406030204" pitchFamily="18" charset="0"/>
                              </a:rPr>
                              <m:t>2��� , ���≥2</m:t>
                            </m:r>
                          </m:e>
                        </m:eqArr>
                      </m:e>
                    </m:d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11" name="Shape 11"/>
              <p:cNvSpPr/>
              <p:nvPr/>
            </p:nvSpPr>
            <p:spPr>
              <a:xfrm>
                <a:off x="8092440" y="2514600"/>
                <a:ext cx="3566160" cy="3794760"/>
              </a:xfrm>
              <a:prstGeom prst="roundRect">
                <a:avLst>
                  <a:gd name="adj" fmla="val 9000"/>
                </a:avLst>
              </a:prstGeom>
              <a:solidFill>
                <a:srgbClr val="FCEDEE"/>
              </a:solidFill>
              <a:ln w="12700">
                <a:solidFill>
                  <a:srgbClr val="EBB3B6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228600" tIns="685800" rIns="182880" bIns="137160" rtlCol="0" anchor="t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600"/>
                  </a:spcAft>
                  <a:buNone/>
                </a:pPr>
                <a:r>
                  <a:rPr lang="km-KH" sz="2000" b="1" dirty="0">
                    <a:solidFill>
                      <a:srgbClr val="C0272D"/>
                    </a:solidFill>
                    <a:latin typeface="Kh Battambang"/>
                    <a:cs typeface="Kh Battambang"/>
                  </a:rPr>
                  <a:t>ករណីពិសេស</a:t>
                </a:r>
                <a:endParaRPr lang="en-US" sz="2000" dirty="0"/>
              </a:p>
              <a:p>
                <a:pPr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បើ </a:t>
                </a:r>
                <a:r>
                  <a:rPr lang="km-KH" sz="18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Sₙ=n²+n+1</a:t>
                </a:r>
                <a:endParaRPr lang="en-US" sz="1800" dirty="0"/>
              </a:p>
              <a:p>
                <a:pPr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a₁=S₁=3</a:t>
                </a: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តែ </a:t>
                </a:r>
                <a:r>
                  <a:rPr lang="km-KH" sz="18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2·1=2</a:t>
                </a:r>
                <a:endParaRPr lang="en-US" sz="1800" dirty="0"/>
              </a:p>
              <a:p>
                <a:pPr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ដូច្នេះ </a:t>
                </a:r>
                <a:r>
                  <a:rPr lang="km-KH" sz="18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aₙ={ 3 , n=1 ; 2n , n≥2</a:t>
                </a:r>
                <a:endParaRPr lang="en-US" sz="1800" dirty="0"/>
              </a:p>
            </p:txBody>
          </p:sp>
        </mc:Fallback>
      </mc:AlternateContent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606040"/>
            <a:ext cx="502920" cy="50292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m-KH" dirty="0"/>
              <a:t>២. ទំនាក់ទំនងរវាងតួ និងផលបូក</a:t>
            </a:r>
          </a:p>
        </p:txBody>
      </p:sp>
      <p:sp>
        <p:nvSpPr>
          <p:cNvPr id="3" name="Shape 3"/>
          <p:cNvSpPr/>
          <p:nvPr/>
        </p:nvSpPr>
        <p:spPr>
          <a:xfrm>
            <a:off x="548640" y="1463040"/>
            <a:ext cx="5486400" cy="48920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5E1EA"/>
            </a:solidFill>
          </a:ln>
          <a:effectLst>
            <a:outerShdw blurRad="88900" dist="25400" dir="5400000" algn="t" rotWithShape="0">
              <a:srgbClr val="0F2A3D">
                <a:alpha val="20000"/>
              </a:srgbClr>
            </a:outerShdw>
          </a:effectLst>
        </p:spPr>
        <p:txBody>
          <a:bodyPr wrap="square" lIns="182880" tIns="109728" rIns="182880" bIns="109728" rtlCol="0" anchor="t">
            <a:noAutofit/>
          </a:bodyPr>
          <a:lstStyle/>
          <a:p>
            <a:endParaRPr lang="en-US"/>
          </a:p>
        </p:txBody>
      </p:sp>
      <p:sp>
        <p:nvSpPr>
          <p:cNvPr id="4" name="Shape 4"/>
          <p:cNvSpPr/>
          <p:nvPr/>
        </p:nvSpPr>
        <p:spPr>
          <a:xfrm>
            <a:off x="777240" y="1627632"/>
            <a:ext cx="1737360" cy="420624"/>
          </a:xfrm>
          <a:prstGeom prst="roundRect">
            <a:avLst>
              <a:gd name="adj" fmla="val 50000"/>
            </a:avLst>
          </a:prstGeom>
          <a:solidFill>
            <a:srgbClr val="C0272D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600" b="1" dirty="0">
                <a:solidFill>
                  <a:srgbClr val="FFFFFF"/>
                </a:solidFill>
                <a:latin typeface="Kh Battambang"/>
                <a:cs typeface="Kh Battambang"/>
              </a:rPr>
              <a:t>លំហាត់គំរូ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hape 5"/>
              <p:cNvSpPr txBox="1"/>
              <p:nvPr/>
            </p:nvSpPr>
            <p:spPr>
              <a:xfrm>
                <a:off x="2651760" y="1600200"/>
                <a:ext cx="3291840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200" b="1" i="1" dirty="0">
                              <a:solidFill>
                                <a:srgbClr val="0F517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1" i="1" dirty="0">
                              <a:solidFill>
                                <a:srgbClr val="0F5174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US" sz="2200" b="1" i="1" dirty="0">
                              <a:solidFill>
                                <a:srgbClr val="0F5174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sz="2200" b="1" i="1" dirty="0">
                          <a:solidFill>
                            <a:srgbClr val="0F517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200" b="1" i="1" dirty="0">
                              <a:solidFill>
                                <a:srgbClr val="0F517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1" i="1" dirty="0">
                              <a:solidFill>
                                <a:srgbClr val="0F5174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sz="2200" b="1" i="1" dirty="0">
                              <a:solidFill>
                                <a:srgbClr val="0F5174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2200" b="1" i="1" dirty="0">
                          <a:solidFill>
                            <a:srgbClr val="0F5174"/>
                          </a:solidFill>
                          <a:latin typeface="Cambria Math" panose="02040503050406030204" pitchFamily="18" charset="0"/>
                        </a:rPr>
                        <m:t>+2���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5" name="Shape 5"/>
              <p:cNvSpPr txBox="1"/>
              <p:nvPr/>
            </p:nvSpPr>
            <p:spPr>
              <a:xfrm>
                <a:off x="2651760" y="1600200"/>
                <a:ext cx="3291840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200" b="1" i="1" dirty="0">
                    <a:solidFill>
                      <a:srgbClr val="0F5174"/>
                    </a:solidFill>
                    <a:latin typeface="Cambria Math"/>
                    <a:cs typeface="Cambria Math"/>
                  </a:rPr>
                  <a:t>Sₙ=n³+2n</a:t>
                </a:r>
                <a:endParaRPr lang="en-US" sz="22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Shape 6"/>
              <p:cNvSpPr txBox="1"/>
              <p:nvPr/>
            </p:nvSpPr>
            <p:spPr>
              <a:xfrm>
                <a:off x="822960" y="2331720"/>
                <a:ext cx="5120640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9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9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1900" dirty="0"/>
              </a:p>
            </p:txBody>
          </p:sp>
        </mc:Choice>
        <mc:Fallback xmlns="">
          <p:sp>
            <p:nvSpPr>
              <p:cNvPr id="6" name="Shape 6"/>
              <p:cNvSpPr txBox="1"/>
              <p:nvPr/>
            </p:nvSpPr>
            <p:spPr>
              <a:xfrm>
                <a:off x="822960" y="2331720"/>
                <a:ext cx="5120640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9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aₙ=Sₙ−Sₙ₋₁</a:t>
                </a:r>
                <a:endParaRPr lang="en-US" sz="19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Shape 7"/>
              <p:cNvSpPr txBox="1"/>
              <p:nvPr/>
            </p:nvSpPr>
            <p:spPr>
              <a:xfrm>
                <a:off x="822960" y="2953512"/>
                <a:ext cx="5120640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9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   =</m:t>
                      </m:r>
                      <m:sSup>
                        <m:sSupPr>
                          <m:ctrlP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19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+2���−(���−1</m:t>
                      </m:r>
                      <m:sSup>
                        <m:sSupPr>
                          <m:ctrlP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sz="19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−2(���−1)</m:t>
                      </m:r>
                    </m:oMath>
                  </m:oMathPara>
                </a14:m>
                <a:endParaRPr lang="en-US" sz="1900" dirty="0"/>
              </a:p>
            </p:txBody>
          </p:sp>
        </mc:Choice>
        <mc:Fallback xmlns="">
          <p:sp>
            <p:nvSpPr>
              <p:cNvPr id="7" name="Shape 7"/>
              <p:cNvSpPr txBox="1"/>
              <p:nvPr/>
            </p:nvSpPr>
            <p:spPr>
              <a:xfrm>
                <a:off x="822960" y="2953512"/>
                <a:ext cx="5120640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9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   =n³+2n−(n−1)³−2(n−1)</a:t>
                </a:r>
                <a:endParaRPr lang="en-US" sz="19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Shape 8"/>
              <p:cNvSpPr txBox="1"/>
              <p:nvPr/>
            </p:nvSpPr>
            <p:spPr>
              <a:xfrm>
                <a:off x="822960" y="3575304"/>
                <a:ext cx="5120640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19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   =3</m:t>
                      </m:r>
                      <m:sSup>
                        <m:sSupPr>
                          <m:ctrlP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9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−3���+3  (���≥2)</m:t>
                      </m:r>
                    </m:oMath>
                  </m:oMathPara>
                </a14:m>
                <a:endParaRPr lang="en-US" sz="1900" dirty="0"/>
              </a:p>
            </p:txBody>
          </p:sp>
        </mc:Choice>
        <mc:Fallback xmlns="">
          <p:sp>
            <p:nvSpPr>
              <p:cNvPr id="8" name="Shape 8"/>
              <p:cNvSpPr txBox="1"/>
              <p:nvPr/>
            </p:nvSpPr>
            <p:spPr>
              <a:xfrm>
                <a:off x="822960" y="3575304"/>
                <a:ext cx="5120640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9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   =3n²−3n+3  (n≥2)</a:t>
                </a:r>
                <a:endParaRPr lang="en-US" sz="19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Shape 9"/>
              <p:cNvSpPr txBox="1"/>
              <p:nvPr/>
            </p:nvSpPr>
            <p:spPr>
              <a:xfrm>
                <a:off x="822960" y="4197096"/>
                <a:ext cx="5120640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=3=3−3+3</m:t>
                    </m:r>
                  </m:oMath>
                </a14:m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✔</a:t>
                </a:r>
                <a:endParaRPr lang="en-US" sz="1900" dirty="0"/>
              </a:p>
            </p:txBody>
          </p:sp>
        </mc:Choice>
        <mc:Fallback xmlns="">
          <p:sp>
            <p:nvSpPr>
              <p:cNvPr id="9" name="Shape 9"/>
              <p:cNvSpPr txBox="1"/>
              <p:nvPr/>
            </p:nvSpPr>
            <p:spPr>
              <a:xfrm>
                <a:off x="822960" y="4197096"/>
                <a:ext cx="5120640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9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a₁=S₁=3=3−3+3</a:t>
                </a: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✔</a:t>
                </a:r>
                <a:endParaRPr lang="en-US" sz="19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Shape 10"/>
              <p:cNvSpPr/>
              <p:nvPr/>
            </p:nvSpPr>
            <p:spPr>
              <a:xfrm>
                <a:off x="777240" y="5029200"/>
                <a:ext cx="5029200" cy="914400"/>
              </a:xfrm>
              <a:prstGeom prst="roundRect">
                <a:avLst>
                  <a:gd name="adj" fmla="val 9000"/>
                </a:avLst>
              </a:prstGeom>
              <a:solidFill>
                <a:srgbClr val="E8F5EC"/>
              </a:solidFill>
              <a:ln w="19050">
                <a:solidFill>
                  <a:srgbClr val="9FD3B2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777240" tIns="54864" rIns="182880" bIns="54864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200" b="1" i="1" dirty="0">
                              <a:solidFill>
                                <a:srgbClr val="2E7D4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1" i="1" dirty="0">
                              <a:solidFill>
                                <a:srgbClr val="2E7D4F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2200" b="1" i="1" dirty="0">
                              <a:solidFill>
                                <a:srgbClr val="2E7D4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sz="2200" b="1" i="1" dirty="0">
                          <a:solidFill>
                            <a:srgbClr val="2E7D4F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US" sz="2200" b="1" i="1" dirty="0">
                              <a:solidFill>
                                <a:srgbClr val="2E7D4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200" b="1" i="1" dirty="0">
                              <a:solidFill>
                                <a:srgbClr val="2E7D4F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e>
                        <m:sup>
                          <m:r>
                            <a:rPr lang="en-US" sz="2200" b="1" i="1" dirty="0">
                              <a:solidFill>
                                <a:srgbClr val="2E7D4F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200" b="1" i="1" dirty="0">
                          <a:solidFill>
                            <a:srgbClr val="2E7D4F"/>
                          </a:solidFill>
                          <a:latin typeface="Cambria Math" panose="02040503050406030204" pitchFamily="18" charset="0"/>
                        </a:rPr>
                        <m:t>−3���+3</m:t>
                      </m:r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10" name="Shape 10"/>
              <p:cNvSpPr/>
              <p:nvPr/>
            </p:nvSpPr>
            <p:spPr>
              <a:xfrm>
                <a:off x="777240" y="5029200"/>
                <a:ext cx="5029200" cy="914400"/>
              </a:xfrm>
              <a:prstGeom prst="roundRect">
                <a:avLst>
                  <a:gd name="adj" fmla="val 9000"/>
                </a:avLst>
              </a:prstGeom>
              <a:solidFill>
                <a:srgbClr val="E8F5EC"/>
              </a:solidFill>
              <a:ln w="19050">
                <a:solidFill>
                  <a:srgbClr val="9FD3B2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777240" tIns="54864" rIns="182880" bIns="54864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200" b="1" i="1" dirty="0">
                    <a:solidFill>
                      <a:srgbClr val="2E7D4F"/>
                    </a:solidFill>
                    <a:latin typeface="Cambria Math"/>
                    <a:cs typeface="Cambria Math"/>
                  </a:rPr>
                  <a:t>aₙ=3n²−3n+3</a:t>
                </a:r>
                <a:endParaRPr lang="en-US" sz="2200" dirty="0"/>
              </a:p>
            </p:txBody>
          </p:sp>
        </mc:Fallback>
      </mc:AlternateContent>
      <p:pic>
        <p:nvPicPr>
          <p:cNvPr id="11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5257800"/>
            <a:ext cx="457200" cy="457200"/>
          </a:xfrm>
          <a:prstGeom prst="rect">
            <a:avLst/>
          </a:prstGeom>
        </p:spPr>
      </p:pic>
      <p:sp>
        <p:nvSpPr>
          <p:cNvPr id="12" name="Shape 12"/>
          <p:cNvSpPr/>
          <p:nvPr/>
        </p:nvSpPr>
        <p:spPr>
          <a:xfrm>
            <a:off x="6263640" y="1463040"/>
            <a:ext cx="5376672" cy="4892040"/>
          </a:xfrm>
          <a:prstGeom prst="roundRect">
            <a:avLst>
              <a:gd name="adj" fmla="val 9000"/>
            </a:avLst>
          </a:prstGeom>
          <a:solidFill>
            <a:srgbClr val="EAF2F8"/>
          </a:solidFill>
          <a:ln w="12700">
            <a:solidFill>
              <a:srgbClr val="EAF2F8"/>
            </a:solidFill>
          </a:ln>
          <a:effectLst>
            <a:outerShdw blurRad="88900" dist="25400" dir="5400000" algn="t" rotWithShape="0">
              <a:srgbClr val="0F2A3D">
                <a:alpha val="20000"/>
              </a:srgbClr>
            </a:outerShdw>
          </a:effectLst>
        </p:spPr>
        <p:txBody>
          <a:bodyPr wrap="square" lIns="182880" tIns="109728" rIns="182880" bIns="109728" rtlCol="0" anchor="t">
            <a:noAutofit/>
          </a:bodyPr>
          <a:lstStyle/>
          <a:p>
            <a:endParaRPr lang="en-US"/>
          </a:p>
        </p:txBody>
      </p:sp>
      <p:sp>
        <p:nvSpPr>
          <p:cNvPr id="13" name="Shape 13"/>
          <p:cNvSpPr/>
          <p:nvPr/>
        </p:nvSpPr>
        <p:spPr>
          <a:xfrm>
            <a:off x="6492240" y="1627632"/>
            <a:ext cx="1554480" cy="420624"/>
          </a:xfrm>
          <a:prstGeom prst="roundRect">
            <a:avLst>
              <a:gd name="adj" fmla="val 50000"/>
            </a:avLst>
          </a:prstGeom>
          <a:solidFill>
            <a:srgbClr val="0F5174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600" b="1" dirty="0">
                <a:solidFill>
                  <a:srgbClr val="FFFFFF"/>
                </a:solidFill>
                <a:latin typeface="Kh Battambang"/>
                <a:cs typeface="Kh Battambang"/>
              </a:rPr>
              <a:t>ប្រតិបត្តិ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Shape 14"/>
              <p:cNvSpPr txBox="1"/>
              <p:nvPr/>
            </p:nvSpPr>
            <p:spPr>
              <a:xfrm>
                <a:off x="6492240" y="2194560"/>
                <a:ext cx="4937760" cy="1188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>
                <a:noAutofit/>
              </a:bodyPr>
              <a:lstStyle/>
              <a:p>
                <a:pPr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គេមាន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=4−</m:t>
                    </m:r>
                    <m:sSub>
                      <m:sSub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1900" i="1" dirty="0">
                                <a:solidFill>
                                  <a:srgbClr val="1F293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900" i="1" dirty="0">
                                <a:solidFill>
                                  <a:srgbClr val="1F293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1900" i="1" dirty="0">
                                <a:solidFill>
                                  <a:srgbClr val="1F293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1900" i="1" dirty="0">
                                <a:solidFill>
                                  <a:srgbClr val="1F2937"/>
                                </a:solidFill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p>
                        </m:sSup>
                      </m:den>
                    </m:f>
                  </m:oMath>
                </a14:m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ជាផលបូក </a:t>
                </a:r>
                <a14:m>
                  <m:oMath xmlns:m="http://schemas.openxmlformats.org/officeDocument/2006/math"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តួដំបូងនៃ </a:t>
                </a:r>
                <a14:m>
                  <m:oMath xmlns:m="http://schemas.openxmlformats.org/officeDocument/2006/math"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។</a:t>
                </a:r>
                <a:endParaRPr lang="en-US" sz="1900" dirty="0"/>
              </a:p>
            </p:txBody>
          </p:sp>
        </mc:Choice>
        <mc:Fallback xmlns="">
          <p:sp>
            <p:nvSpPr>
              <p:cNvPr id="14" name="Shape 14"/>
              <p:cNvSpPr txBox="1"/>
              <p:nvPr/>
            </p:nvSpPr>
            <p:spPr>
              <a:xfrm>
                <a:off x="6492240" y="2194560"/>
                <a:ext cx="4937760" cy="11887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>
                <a:noAutofit/>
              </a:bodyPr>
              <a:lstStyle/>
              <a:p>
                <a:pPr algn="l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គេមាន </a:t>
                </a:r>
                <a:r>
                  <a:rPr lang="km-KH" sz="19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Sₙ=4−aₙ−1/(2ⁿ⁻²)</a:t>
                </a: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ជាផលបូក </a:t>
                </a:r>
                <a:r>
                  <a:rPr lang="km-KH" sz="19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n</a:t>
                </a: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តួដំបូងនៃ </a:t>
                </a:r>
                <a:r>
                  <a:rPr lang="km-KH" sz="19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(aₙ)</a:t>
                </a: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។</a:t>
                </a:r>
                <a:endParaRPr lang="en-US" sz="19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Shape 15"/>
              <p:cNvSpPr txBox="1"/>
              <p:nvPr/>
            </p:nvSpPr>
            <p:spPr>
              <a:xfrm>
                <a:off x="6492240" y="3429000"/>
                <a:ext cx="4937760" cy="9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>
                <a:noAutofit/>
              </a:bodyPr>
              <a:lstStyle/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ក. រកទំនាក់ទំនងរវាង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និង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1800" dirty="0"/>
              </a:p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ខ. កំណត់តួទី </a:t>
                </a:r>
                <a14:m>
                  <m:oMath xmlns:m="http://schemas.openxmlformats.org/officeDocument/2006/math"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នៃស្វ៊ីត</a:t>
                </a:r>
                <a:endParaRPr lang="en-US" sz="1800" dirty="0"/>
              </a:p>
            </p:txBody>
          </p:sp>
        </mc:Choice>
        <mc:Fallback xmlns="">
          <p:sp>
            <p:nvSpPr>
              <p:cNvPr id="15" name="Shape 15"/>
              <p:cNvSpPr txBox="1"/>
              <p:nvPr/>
            </p:nvSpPr>
            <p:spPr>
              <a:xfrm>
                <a:off x="6492240" y="3429000"/>
                <a:ext cx="4937760" cy="91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>
                <a:noAutofit/>
              </a:bodyPr>
              <a:lstStyle/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ក. រកទំនាក់ទំនងរវាង </a:t>
                </a:r>
                <a:r>
                  <a:rPr lang="km-KH" sz="18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aₙ₊₁</a:t>
                </a: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និង </a:t>
                </a:r>
                <a:r>
                  <a:rPr lang="km-KH" sz="18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aₙ</a:t>
                </a:r>
                <a:endParaRPr lang="en-US" sz="1800" dirty="0"/>
              </a:p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ខ. កំណត់តួទី </a:t>
                </a:r>
                <a:r>
                  <a:rPr lang="km-KH" sz="18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n</a:t>
                </a: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នៃស្វ៊ីត</a:t>
                </a:r>
                <a:endParaRPr lang="en-US" sz="18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Shape 16"/>
              <p:cNvSpPr txBox="1"/>
              <p:nvPr/>
            </p:nvSpPr>
            <p:spPr>
              <a:xfrm>
                <a:off x="6492240" y="4389120"/>
                <a:ext cx="493776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b="1" dirty="0">
                    <a:solidFill>
                      <a:srgbClr val="8A6200"/>
                    </a:solidFill>
                    <a:latin typeface="Kh Battambang"/>
                    <a:cs typeface="Kh Battambang"/>
                  </a:rPr>
                  <a:t>ជំនួយ៖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16" name="Shape 16"/>
              <p:cNvSpPr txBox="1"/>
              <p:nvPr/>
            </p:nvSpPr>
            <p:spPr>
              <a:xfrm>
                <a:off x="6492240" y="4389120"/>
                <a:ext cx="493776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b="1" dirty="0">
                    <a:solidFill>
                      <a:srgbClr val="8A6200"/>
                    </a:solidFill>
                    <a:latin typeface="Kh Battambang"/>
                    <a:cs typeface="Kh Battambang"/>
                  </a:rPr>
                  <a:t>ជំនួយ៖ </a:t>
                </a:r>
                <a:r>
                  <a:rPr lang="km-KH" sz="18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aₙ₊₁=Sₙ₊₁−Sₙ</a:t>
                </a:r>
                <a:endParaRPr lang="en-US" sz="18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Shape 17"/>
              <p:cNvSpPr/>
              <p:nvPr/>
            </p:nvSpPr>
            <p:spPr>
              <a:xfrm>
                <a:off x="6492240" y="4937760"/>
                <a:ext cx="4937760" cy="1234440"/>
              </a:xfrm>
              <a:prstGeom prst="roundRect">
                <a:avLst>
                  <a:gd name="adj" fmla="val 9000"/>
                </a:avLst>
              </a:prstGeom>
              <a:solidFill>
                <a:srgbClr val="E8F5EC"/>
              </a:solidFill>
              <a:ln w="12700">
                <a:solidFill>
                  <a:srgbClr val="9FD3B2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228600" tIns="45720" rIns="182880" bIns="45720" rtlCol="0" anchor="ctr">
                <a:noAutofit/>
              </a:bodyPr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ក. </a:t>
                </a:r>
                <a14:m>
                  <m:oMath xmlns:m="http://schemas.openxmlformats.org/officeDocument/2006/math">
                    <m:r>
                      <a:rPr lang="en-US" sz="1900" b="1" i="1" dirty="0">
                        <a:solidFill>
                          <a:srgbClr val="2E7D4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sz="19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19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19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900" b="1" i="1" dirty="0">
                        <a:solidFill>
                          <a:srgbClr val="2E7D4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9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19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sz="1900" b="1" i="1" dirty="0">
                        <a:solidFill>
                          <a:srgbClr val="2E7D4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19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sz="1900" b="1" i="1" dirty="0">
                                <a:solidFill>
                                  <a:srgbClr val="2E7D4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900" b="1" i="1" dirty="0">
                                <a:solidFill>
                                  <a:srgbClr val="2E7D4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1900" b="1" i="1" dirty="0">
                                <a:solidFill>
                                  <a:srgbClr val="2E7D4F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sz="1900" b="1" i="1" dirty="0">
                                <a:solidFill>
                                  <a:srgbClr val="2E7D4F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</m:oMath>
                </a14:m>
                <a:endParaRPr lang="en-US" sz="1900" dirty="0"/>
              </a:p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ខ.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19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sz="1900" b="1" i="1" dirty="0">
                        <a:solidFill>
                          <a:srgbClr val="2E7D4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9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2���</m:t>
                        </m:r>
                      </m:num>
                      <m:den>
                        <m:sSup>
                          <m:sSupPr>
                            <m:ctrlPr>
                              <a:rPr lang="en-US" sz="1900" b="1" i="1" dirty="0">
                                <a:solidFill>
                                  <a:srgbClr val="2E7D4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900" b="1" i="1" dirty="0">
                                <a:solidFill>
                                  <a:srgbClr val="2E7D4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1900" b="1" i="1" dirty="0">
                                <a:solidFill>
                                  <a:srgbClr val="2E7D4F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</m:sSup>
                      </m:den>
                    </m:f>
                    <m:r>
                      <a:rPr lang="en-US" sz="1900" b="1" i="1" dirty="0">
                        <a:solidFill>
                          <a:srgbClr val="2E7D4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9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num>
                      <m:den>
                        <m:sSup>
                          <m:sSupPr>
                            <m:ctrlPr>
                              <a:rPr lang="en-US" sz="1900" b="1" i="1" dirty="0">
                                <a:solidFill>
                                  <a:srgbClr val="2E7D4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900" b="1" i="1" dirty="0">
                                <a:solidFill>
                                  <a:srgbClr val="2E7D4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sz="1900" b="1" i="1" dirty="0">
                                <a:solidFill>
                                  <a:srgbClr val="2E7D4F"/>
                                </a:solidFill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sz="1900" b="1" i="1" dirty="0">
                                <a:solidFill>
                                  <a:srgbClr val="2E7D4F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</m:oMath>
                </a14:m>
                <a:endParaRPr lang="en-US" sz="1900" dirty="0"/>
              </a:p>
            </p:txBody>
          </p:sp>
        </mc:Choice>
        <mc:Fallback xmlns="">
          <p:sp>
            <p:nvSpPr>
              <p:cNvPr id="17" name="Shape 17"/>
              <p:cNvSpPr/>
              <p:nvPr/>
            </p:nvSpPr>
            <p:spPr>
              <a:xfrm>
                <a:off x="6492240" y="4937760"/>
                <a:ext cx="4937760" cy="1234440"/>
              </a:xfrm>
              <a:prstGeom prst="roundRect">
                <a:avLst>
                  <a:gd name="adj" fmla="val 9000"/>
                </a:avLst>
              </a:prstGeom>
              <a:solidFill>
                <a:srgbClr val="E8F5EC"/>
              </a:solidFill>
              <a:ln w="12700">
                <a:solidFill>
                  <a:srgbClr val="9FD3B2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228600" tIns="45720" rIns="182880" bIns="45720" rtlCol="0" anchor="ctr">
                <a:noAutofit/>
              </a:bodyPr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ក. </a:t>
                </a:r>
                <a:r>
                  <a:rPr lang="km-KH" sz="1900" b="1" i="1" dirty="0">
                    <a:solidFill>
                      <a:srgbClr val="2E7D4F"/>
                    </a:solidFill>
                    <a:latin typeface="Cambria Math"/>
                    <a:cs typeface="Cambria Math"/>
                  </a:rPr>
                  <a:t>2aₙ₊₁=aₙ+1/(2ⁿ⁻¹)</a:t>
                </a:r>
                <a:endParaRPr lang="en-US" sz="1900" dirty="0"/>
              </a:p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ខ. </a:t>
                </a:r>
                <a:r>
                  <a:rPr lang="km-KH" sz="1900" b="1" i="1" dirty="0">
                    <a:solidFill>
                      <a:srgbClr val="2E7D4F"/>
                    </a:solidFill>
                    <a:latin typeface="Cambria Math"/>
                    <a:cs typeface="Cambria Math"/>
                  </a:rPr>
                  <a:t>aₙ=2n/2ⁿ=n/(2ⁿ⁻¹)</a:t>
                </a:r>
                <a:endParaRPr lang="en-US" sz="1900" dirty="0"/>
              </a:p>
            </p:txBody>
          </p:sp>
        </mc:Fallback>
      </mc:AlternateContent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2509114" cy="6858000"/>
          </a:xfrm>
          <a:prstGeom prst="rect">
            <a:avLst/>
          </a:prstGeom>
          <a:solidFill>
            <a:srgbClr val="0F5174"/>
          </a:solidFill>
          <a:ln>
            <a:noFill/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pic>
        <p:nvPicPr>
          <p:cNvPr id="3" name="Picture 3" descr="E-School Cambodi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74" y="1057046"/>
            <a:ext cx="2003450" cy="200345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349301" y="4570171"/>
            <a:ext cx="1810512" cy="168250"/>
          </a:xfrm>
          <a:prstGeom prst="rect">
            <a:avLst/>
          </a:prstGeom>
        </p:spPr>
      </p:pic>
      <p:sp>
        <p:nvSpPr>
          <p:cNvPr id="5" name="Shape 5"/>
          <p:cNvSpPr/>
          <p:nvPr/>
        </p:nvSpPr>
        <p:spPr>
          <a:xfrm>
            <a:off x="3108960" y="914400"/>
            <a:ext cx="1143000" cy="1143000"/>
          </a:xfrm>
          <a:prstGeom prst="ellipse">
            <a:avLst/>
          </a:prstGeom>
          <a:solidFill>
            <a:srgbClr val="C0272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4000" b="1" dirty="0">
                <a:solidFill>
                  <a:srgbClr val="FFFFFF"/>
                </a:solidFill>
                <a:latin typeface="Kh Muol"/>
                <a:cs typeface="Kh Muol"/>
              </a:rPr>
              <a:t>៣</a:t>
            </a:r>
            <a:endParaRPr lang="en-US" sz="4000" dirty="0"/>
          </a:p>
        </p:txBody>
      </p:sp>
      <p:sp>
        <p:nvSpPr>
          <p:cNvPr id="6" name="Shape 6"/>
          <p:cNvSpPr txBox="1"/>
          <p:nvPr/>
        </p:nvSpPr>
        <p:spPr>
          <a:xfrm>
            <a:off x="4526280" y="914400"/>
            <a:ext cx="71323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800" b="1" dirty="0">
                <a:solidFill>
                  <a:srgbClr val="C0272D"/>
                </a:solidFill>
                <a:latin typeface="Kh Battambang"/>
                <a:cs typeface="Kh Battambang"/>
              </a:rPr>
              <a:t>ផ្នែកទី ៣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Shape 7"/>
              <p:cNvSpPr txBox="1"/>
              <p:nvPr/>
            </p:nvSpPr>
            <p:spPr>
              <a:xfrm>
                <a:off x="4526280" y="1371600"/>
                <a:ext cx="722376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>
                <a:noAutofit/>
              </a:bodyPr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800" dirty="0">
                    <a:solidFill>
                      <a:srgbClr val="0F5174"/>
                    </a:solidFill>
                    <a:latin typeface="Kh Muol"/>
                    <a:cs typeface="Kh Muol"/>
                  </a:rPr>
                  <a:t>ទំនាក់ទំនងកំណើន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600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600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en-US" sz="2600" i="1" dirty="0">
                        <a:solidFill>
                          <a:srgbClr val="0F5174"/>
                        </a:solidFill>
                        <a:latin typeface="Cambria Math" panose="02040503050406030204" pitchFamily="18" charset="0"/>
                      </a:rPr>
                      <m:t>+���</m:t>
                    </m:r>
                    <m:sSub>
                      <m:sSubPr>
                        <m:ctrlPr>
                          <a:rPr lang="en-US" sz="2600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600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600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600" i="1" dirty="0">
                        <a:solidFill>
                          <a:srgbClr val="0F5174"/>
                        </a:solidFill>
                        <a:latin typeface="Cambria Math" panose="02040503050406030204" pitchFamily="18" charset="0"/>
                      </a:rPr>
                      <m:t>+���</m:t>
                    </m:r>
                    <m:sSub>
                      <m:sSubPr>
                        <m:ctrlPr>
                          <a:rPr lang="en-US" sz="2600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600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600" i="1" dirty="0">
                        <a:solidFill>
                          <a:srgbClr val="0F5174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Shape 7"/>
              <p:cNvSpPr txBox="1"/>
              <p:nvPr/>
            </p:nvSpPr>
            <p:spPr>
              <a:xfrm>
                <a:off x="4526280" y="1371600"/>
                <a:ext cx="7223760" cy="1143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t">
                <a:noAutofit/>
              </a:bodyPr>
              <a:lstStyle/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800" dirty="0">
                    <a:solidFill>
                      <a:srgbClr val="0F5174"/>
                    </a:solidFill>
                    <a:latin typeface="Kh Muol"/>
                    <a:cs typeface="Kh Muol"/>
                  </a:rPr>
                  <a:t>ទំនាក់ទំនងកំណើន </a:t>
                </a:r>
                <a:r>
                  <a:rPr lang="km-KH" sz="2600" i="1" dirty="0">
                    <a:solidFill>
                      <a:srgbClr val="0F5174"/>
                    </a:solidFill>
                    <a:latin typeface="Cambria Math"/>
                    <a:cs typeface="Cambria Math"/>
                  </a:rPr>
                  <a:t>aₙ₊₂+paₙ₊₁+qaₙ=0</a:t>
                </a:r>
                <a:endParaRPr lang="en-US" sz="28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Shape 8"/>
              <p:cNvSpPr/>
              <p:nvPr/>
            </p:nvSpPr>
            <p:spPr>
              <a:xfrm>
                <a:off x="3108960" y="2697480"/>
                <a:ext cx="8595360" cy="731520"/>
              </a:xfrm>
              <a:prstGeom prst="roundRect">
                <a:avLst>
                  <a:gd name="adj" fmla="val 9000"/>
                </a:avLst>
              </a:prstGeom>
              <a:solidFill>
                <a:srgbClr val="EAF2F8"/>
              </a:solidFill>
              <a:ln w="12700">
                <a:solidFill>
                  <a:srgbClr val="EAF2F8"/>
                </a:solidFill>
              </a:ln>
            </p:spPr>
            <p:txBody>
              <a:bodyPr wrap="square" lIns="274320" tIns="45720" rIns="182880" bIns="4572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គន្លឹះ៖ ឫសនៃ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+���</m:t>
                    </m:r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+���=0</m:t>
                    </m:r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ជួយបំប្លែងទៅជាស្វ៊ីតធរណីមាត្រ</a:t>
                </a:r>
                <a:endParaRPr lang="en-US" sz="2000" dirty="0"/>
              </a:p>
            </p:txBody>
          </p:sp>
        </mc:Choice>
        <mc:Fallback xmlns="">
          <p:sp>
            <p:nvSpPr>
              <p:cNvPr id="8" name="Shape 8"/>
              <p:cNvSpPr/>
              <p:nvPr/>
            </p:nvSpPr>
            <p:spPr>
              <a:xfrm>
                <a:off x="3108960" y="2697480"/>
                <a:ext cx="8595360" cy="731520"/>
              </a:xfrm>
              <a:prstGeom prst="roundRect">
                <a:avLst>
                  <a:gd name="adj" fmla="val 9000"/>
                </a:avLst>
              </a:prstGeom>
              <a:solidFill>
                <a:srgbClr val="EAF2F8"/>
              </a:solidFill>
              <a:ln w="12700">
                <a:solidFill>
                  <a:srgbClr val="EAF2F8"/>
                </a:solidFill>
              </a:ln>
            </p:spPr>
            <p:txBody>
              <a:bodyPr wrap="square" lIns="274320" tIns="45720" rIns="182880" bIns="4572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គន្លឹះ៖ ឫសនៃ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x²+px+q=0</a:t>
                </a: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ជួយបំប្លែងទៅជាស្វ៊ីតធរណីមាត្រ</a:t>
                </a:r>
                <a:endParaRPr lang="en-US" sz="2000" dirty="0"/>
              </a:p>
            </p:txBody>
          </p:sp>
        </mc:Fallback>
      </mc:AlternateContent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0234" y="3611880"/>
            <a:ext cx="4072812" cy="2880360"/>
          </a:xfrm>
          <a:prstGeom prst="rect">
            <a:avLst/>
          </a:prstGeom>
        </p:spPr>
      </p:pic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8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m-KH" dirty="0"/>
              <a:t>៣. ទំនាក់ទំនងកំណើនបីតួជាប់គ្នា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hape 3"/>
              <p:cNvSpPr/>
              <p:nvPr/>
            </p:nvSpPr>
            <p:spPr>
              <a:xfrm>
                <a:off x="548640" y="1417320"/>
                <a:ext cx="11091672" cy="868680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2148840" tIns="73152" rIns="228600" bIns="73152" rtlCol="0" anchor="ctr">
                <a:noAutofit/>
              </a:bodyPr>
              <a:lstStyle/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កំណត់តួទី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នៃស្វ៊ីត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ដោយ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=1 , 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និង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=3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។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Shape 3"/>
              <p:cNvSpPr/>
              <p:nvPr/>
            </p:nvSpPr>
            <p:spPr>
              <a:xfrm>
                <a:off x="548640" y="1417320"/>
                <a:ext cx="11091672" cy="868680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2148840" tIns="73152" rIns="228600" bIns="73152" rtlCol="0" anchor="ctr">
                <a:noAutofit/>
              </a:bodyPr>
              <a:lstStyle/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កំណត់តួទី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n</a:t>
                </a: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នៃស្វ៊ីត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(aₙ)</a:t>
                </a: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ដោយ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a₁=1 , a₂=3</a:t>
                </a: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និង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aₙ₊₂=3aₙ₊₁−2aₙ</a:t>
                </a: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។</a:t>
                </a:r>
                <a:endParaRPr lang="en-US" sz="2000" dirty="0"/>
              </a:p>
            </p:txBody>
          </p:sp>
        </mc:Fallback>
      </mc:AlternateContent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600200"/>
            <a:ext cx="502920" cy="502920"/>
          </a:xfrm>
          <a:prstGeom prst="rect">
            <a:avLst/>
          </a:prstGeom>
        </p:spPr>
      </p:pic>
      <p:sp>
        <p:nvSpPr>
          <p:cNvPr id="5" name="Shape 5"/>
          <p:cNvSpPr/>
          <p:nvPr/>
        </p:nvSpPr>
        <p:spPr>
          <a:xfrm>
            <a:off x="1298448" y="1641348"/>
            <a:ext cx="1417320" cy="420624"/>
          </a:xfrm>
          <a:prstGeom prst="roundRect">
            <a:avLst>
              <a:gd name="adj" fmla="val 50000"/>
            </a:avLst>
          </a:prstGeom>
          <a:solidFill>
            <a:srgbClr val="C0272D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600" b="1" dirty="0">
                <a:solidFill>
                  <a:srgbClr val="FFFFFF"/>
                </a:solidFill>
                <a:latin typeface="Kh Battambang"/>
                <a:cs typeface="Kh Battambang"/>
              </a:rPr>
              <a:t>ឧទាហរណ៍</a:t>
            </a:r>
            <a:endParaRPr lang="en-US" sz="1600" dirty="0"/>
          </a:p>
        </p:txBody>
      </p:sp>
      <p:sp>
        <p:nvSpPr>
          <p:cNvPr id="6" name="Shape 6"/>
          <p:cNvSpPr/>
          <p:nvPr/>
        </p:nvSpPr>
        <p:spPr>
          <a:xfrm>
            <a:off x="777240" y="6062472"/>
            <a:ext cx="566928" cy="109728"/>
          </a:xfrm>
          <a:prstGeom prst="rect">
            <a:avLst/>
          </a:prstGeom>
          <a:solidFill>
            <a:srgbClr val="0F5174"/>
          </a:solidFill>
          <a:ln>
            <a:noFill/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7" name="Shape 7"/>
          <p:cNvSpPr txBox="1"/>
          <p:nvPr/>
        </p:nvSpPr>
        <p:spPr>
          <a:xfrm>
            <a:off x="640080" y="5678424"/>
            <a:ext cx="841248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600" b="1" dirty="0">
                <a:solidFill>
                  <a:srgbClr val="0F5174"/>
                </a:solidFill>
                <a:latin typeface="Kh Battambang"/>
                <a:cs typeface="Kh Battambang"/>
              </a:rPr>
              <a:t>1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Shape 8"/>
              <p:cNvSpPr txBox="1"/>
              <p:nvPr/>
            </p:nvSpPr>
            <p:spPr>
              <a:xfrm>
                <a:off x="685800" y="6217920"/>
                <a:ext cx="749808" cy="347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500" i="1" dirty="0">
                              <a:solidFill>
                                <a:srgbClr val="5B6B7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i="1" dirty="0">
                              <a:solidFill>
                                <a:srgbClr val="5B6B7A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500" i="1" dirty="0">
                              <a:solidFill>
                                <a:srgbClr val="5B6B7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8" name="Shape 8"/>
              <p:cNvSpPr txBox="1"/>
              <p:nvPr/>
            </p:nvSpPr>
            <p:spPr>
              <a:xfrm>
                <a:off x="685800" y="6217920"/>
                <a:ext cx="749808" cy="347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500" i="1" dirty="0">
                    <a:solidFill>
                      <a:srgbClr val="5B6B7A"/>
                    </a:solidFill>
                    <a:latin typeface="Cambria Math"/>
                    <a:cs typeface="Cambria Math"/>
                  </a:rPr>
                  <a:t>a₁</a:t>
                </a:r>
                <a:endParaRPr lang="en-US" sz="2000" dirty="0"/>
              </a:p>
            </p:txBody>
          </p:sp>
        </mc:Fallback>
      </mc:AlternateContent>
      <p:sp>
        <p:nvSpPr>
          <p:cNvPr id="9" name="Shape 9"/>
          <p:cNvSpPr/>
          <p:nvPr/>
        </p:nvSpPr>
        <p:spPr>
          <a:xfrm>
            <a:off x="1554480" y="6028509"/>
            <a:ext cx="566928" cy="143691"/>
          </a:xfrm>
          <a:prstGeom prst="rect">
            <a:avLst/>
          </a:prstGeom>
          <a:solidFill>
            <a:srgbClr val="0F5174"/>
          </a:solidFill>
          <a:ln>
            <a:noFill/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10" name="Shape 10"/>
          <p:cNvSpPr txBox="1"/>
          <p:nvPr/>
        </p:nvSpPr>
        <p:spPr>
          <a:xfrm>
            <a:off x="1417320" y="5644461"/>
            <a:ext cx="841248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600" b="1" dirty="0">
                <a:solidFill>
                  <a:srgbClr val="0F5174"/>
                </a:solidFill>
                <a:latin typeface="Kh Battambang"/>
                <a:cs typeface="Kh Battambang"/>
              </a:rPr>
              <a:t>3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hape 11"/>
              <p:cNvSpPr txBox="1"/>
              <p:nvPr/>
            </p:nvSpPr>
            <p:spPr>
              <a:xfrm>
                <a:off x="1463040" y="6217920"/>
                <a:ext cx="749808" cy="347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500" i="1" dirty="0">
                              <a:solidFill>
                                <a:srgbClr val="5B6B7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i="1" dirty="0">
                              <a:solidFill>
                                <a:srgbClr val="5B6B7A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500" i="1" dirty="0">
                              <a:solidFill>
                                <a:srgbClr val="5B6B7A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Shape 11"/>
              <p:cNvSpPr txBox="1"/>
              <p:nvPr/>
            </p:nvSpPr>
            <p:spPr>
              <a:xfrm>
                <a:off x="1463040" y="6217920"/>
                <a:ext cx="749808" cy="347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500" i="1" dirty="0">
                    <a:solidFill>
                      <a:srgbClr val="5B6B7A"/>
                    </a:solidFill>
                    <a:latin typeface="Cambria Math"/>
                    <a:cs typeface="Cambria Math"/>
                  </a:rPr>
                  <a:t>a₂</a:t>
                </a:r>
                <a:endParaRPr lang="en-US" sz="2000" dirty="0"/>
              </a:p>
            </p:txBody>
          </p:sp>
        </mc:Fallback>
      </mc:AlternateContent>
      <p:sp>
        <p:nvSpPr>
          <p:cNvPr id="12" name="Shape 12"/>
          <p:cNvSpPr/>
          <p:nvPr/>
        </p:nvSpPr>
        <p:spPr>
          <a:xfrm>
            <a:off x="2331720" y="5836920"/>
            <a:ext cx="566928" cy="335280"/>
          </a:xfrm>
          <a:prstGeom prst="rect">
            <a:avLst/>
          </a:prstGeom>
          <a:solidFill>
            <a:srgbClr val="0F5174"/>
          </a:solidFill>
          <a:ln>
            <a:noFill/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13" name="Shape 13"/>
          <p:cNvSpPr txBox="1"/>
          <p:nvPr/>
        </p:nvSpPr>
        <p:spPr>
          <a:xfrm>
            <a:off x="2194560" y="5452872"/>
            <a:ext cx="841248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600" b="1" dirty="0">
                <a:solidFill>
                  <a:srgbClr val="0F5174"/>
                </a:solidFill>
                <a:latin typeface="Kh Battambang"/>
                <a:cs typeface="Kh Battambang"/>
              </a:rPr>
              <a:t>7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Shape 14"/>
              <p:cNvSpPr txBox="1"/>
              <p:nvPr/>
            </p:nvSpPr>
            <p:spPr>
              <a:xfrm>
                <a:off x="2240280" y="6217920"/>
                <a:ext cx="749808" cy="347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500" i="1" dirty="0">
                              <a:solidFill>
                                <a:srgbClr val="5B6B7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i="1" dirty="0">
                              <a:solidFill>
                                <a:srgbClr val="5B6B7A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500" i="1" dirty="0">
                              <a:solidFill>
                                <a:srgbClr val="5B6B7A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" name="Shape 14"/>
              <p:cNvSpPr txBox="1"/>
              <p:nvPr/>
            </p:nvSpPr>
            <p:spPr>
              <a:xfrm>
                <a:off x="2240280" y="6217920"/>
                <a:ext cx="749808" cy="347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500" i="1" dirty="0">
                    <a:solidFill>
                      <a:srgbClr val="5B6B7A"/>
                    </a:solidFill>
                    <a:latin typeface="Cambria Math"/>
                    <a:cs typeface="Cambria Math"/>
                  </a:rPr>
                  <a:t>a₃</a:t>
                </a:r>
                <a:endParaRPr lang="en-US" sz="2000" dirty="0"/>
              </a:p>
            </p:txBody>
          </p:sp>
        </mc:Fallback>
      </mc:AlternateContent>
      <p:sp>
        <p:nvSpPr>
          <p:cNvPr id="15" name="Shape 15"/>
          <p:cNvSpPr/>
          <p:nvPr/>
        </p:nvSpPr>
        <p:spPr>
          <a:xfrm>
            <a:off x="3108960" y="5453743"/>
            <a:ext cx="566928" cy="718457"/>
          </a:xfrm>
          <a:prstGeom prst="rect">
            <a:avLst/>
          </a:prstGeom>
          <a:solidFill>
            <a:srgbClr val="0F5174"/>
          </a:solidFill>
          <a:ln>
            <a:noFill/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16" name="Shape 16"/>
          <p:cNvSpPr txBox="1"/>
          <p:nvPr/>
        </p:nvSpPr>
        <p:spPr>
          <a:xfrm>
            <a:off x="2971800" y="5069695"/>
            <a:ext cx="841248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600" b="1" dirty="0">
                <a:solidFill>
                  <a:srgbClr val="0F5174"/>
                </a:solidFill>
                <a:latin typeface="Kh Battambang"/>
                <a:cs typeface="Kh Battambang"/>
              </a:rPr>
              <a:t>15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Shape 17"/>
              <p:cNvSpPr txBox="1"/>
              <p:nvPr/>
            </p:nvSpPr>
            <p:spPr>
              <a:xfrm>
                <a:off x="3017520" y="6217920"/>
                <a:ext cx="749808" cy="347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500" i="1" dirty="0">
                              <a:solidFill>
                                <a:srgbClr val="5B6B7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i="1" dirty="0">
                              <a:solidFill>
                                <a:srgbClr val="5B6B7A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500" i="1" dirty="0">
                              <a:solidFill>
                                <a:srgbClr val="5B6B7A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7" name="Shape 17"/>
              <p:cNvSpPr txBox="1"/>
              <p:nvPr/>
            </p:nvSpPr>
            <p:spPr>
              <a:xfrm>
                <a:off x="3017520" y="6217920"/>
                <a:ext cx="749808" cy="347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500" i="1" dirty="0">
                    <a:solidFill>
                      <a:srgbClr val="5B6B7A"/>
                    </a:solidFill>
                    <a:latin typeface="Cambria Math"/>
                    <a:cs typeface="Cambria Math"/>
                  </a:rPr>
                  <a:t>a₄</a:t>
                </a:r>
                <a:endParaRPr lang="en-US" sz="2000" dirty="0"/>
              </a:p>
            </p:txBody>
          </p:sp>
        </mc:Fallback>
      </mc:AlternateContent>
      <p:sp>
        <p:nvSpPr>
          <p:cNvPr id="18" name="Shape 18"/>
          <p:cNvSpPr/>
          <p:nvPr/>
        </p:nvSpPr>
        <p:spPr>
          <a:xfrm>
            <a:off x="3886200" y="4687389"/>
            <a:ext cx="566928" cy="1484811"/>
          </a:xfrm>
          <a:prstGeom prst="rect">
            <a:avLst/>
          </a:prstGeom>
          <a:solidFill>
            <a:srgbClr val="0F5174"/>
          </a:solidFill>
          <a:ln>
            <a:noFill/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19" name="Shape 19"/>
          <p:cNvSpPr txBox="1"/>
          <p:nvPr/>
        </p:nvSpPr>
        <p:spPr>
          <a:xfrm>
            <a:off x="3749040" y="4303341"/>
            <a:ext cx="841248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600" b="1" dirty="0">
                <a:solidFill>
                  <a:srgbClr val="0F5174"/>
                </a:solidFill>
                <a:latin typeface="Kh Battambang"/>
                <a:cs typeface="Kh Battambang"/>
              </a:rPr>
              <a:t>31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Shape 20"/>
              <p:cNvSpPr txBox="1"/>
              <p:nvPr/>
            </p:nvSpPr>
            <p:spPr>
              <a:xfrm>
                <a:off x="3794760" y="6217920"/>
                <a:ext cx="749808" cy="347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500" i="1" dirty="0">
                              <a:solidFill>
                                <a:srgbClr val="5B6B7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i="1" dirty="0">
                              <a:solidFill>
                                <a:srgbClr val="5B6B7A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500" i="1" dirty="0">
                              <a:solidFill>
                                <a:srgbClr val="5B6B7A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0" name="Shape 20"/>
              <p:cNvSpPr txBox="1"/>
              <p:nvPr/>
            </p:nvSpPr>
            <p:spPr>
              <a:xfrm>
                <a:off x="3794760" y="6217920"/>
                <a:ext cx="749808" cy="347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500" i="1" dirty="0">
                    <a:solidFill>
                      <a:srgbClr val="5B6B7A"/>
                    </a:solidFill>
                    <a:latin typeface="Cambria Math"/>
                    <a:cs typeface="Cambria Math"/>
                  </a:rPr>
                  <a:t>a₅</a:t>
                </a:r>
                <a:endParaRPr lang="en-US" sz="2000" dirty="0"/>
              </a:p>
            </p:txBody>
          </p:sp>
        </mc:Fallback>
      </mc:AlternateContent>
      <p:sp>
        <p:nvSpPr>
          <p:cNvPr id="21" name="Shape 21"/>
          <p:cNvSpPr/>
          <p:nvPr/>
        </p:nvSpPr>
        <p:spPr>
          <a:xfrm>
            <a:off x="4663440" y="3154680"/>
            <a:ext cx="566928" cy="3017520"/>
          </a:xfrm>
          <a:prstGeom prst="rect">
            <a:avLst/>
          </a:prstGeom>
          <a:solidFill>
            <a:srgbClr val="C0272D"/>
          </a:solidFill>
          <a:ln>
            <a:noFill/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sp>
        <p:nvSpPr>
          <p:cNvPr id="22" name="Shape 22"/>
          <p:cNvSpPr txBox="1"/>
          <p:nvPr/>
        </p:nvSpPr>
        <p:spPr>
          <a:xfrm>
            <a:off x="4526280" y="2770632"/>
            <a:ext cx="841248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600" b="1" dirty="0">
                <a:solidFill>
                  <a:srgbClr val="C0272D"/>
                </a:solidFill>
                <a:latin typeface="Kh Battambang"/>
                <a:cs typeface="Kh Battambang"/>
              </a:rPr>
              <a:t>63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Shape 23"/>
              <p:cNvSpPr txBox="1"/>
              <p:nvPr/>
            </p:nvSpPr>
            <p:spPr>
              <a:xfrm>
                <a:off x="4572000" y="6217920"/>
                <a:ext cx="749808" cy="347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500" i="1" dirty="0">
                              <a:solidFill>
                                <a:srgbClr val="5B6B7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500" i="1" dirty="0">
                              <a:solidFill>
                                <a:srgbClr val="5B6B7A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500" i="1" dirty="0">
                              <a:solidFill>
                                <a:srgbClr val="5B6B7A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3" name="Shape 23"/>
              <p:cNvSpPr txBox="1"/>
              <p:nvPr/>
            </p:nvSpPr>
            <p:spPr>
              <a:xfrm>
                <a:off x="4572000" y="6217920"/>
                <a:ext cx="749808" cy="3474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500" i="1" dirty="0">
                    <a:solidFill>
                      <a:srgbClr val="5B6B7A"/>
                    </a:solidFill>
                    <a:latin typeface="Cambria Math"/>
                    <a:cs typeface="Cambria Math"/>
                  </a:rPr>
                  <a:t>a₆</a:t>
                </a:r>
                <a:endParaRPr lang="en-US" sz="2000" dirty="0"/>
              </a:p>
            </p:txBody>
          </p:sp>
        </mc:Fallback>
      </mc:AlternateContent>
      <p:cxnSp>
        <p:nvCxnSpPr>
          <p:cNvPr id="24" name="Connector 24"/>
          <p:cNvCxnSpPr/>
          <p:nvPr/>
        </p:nvCxnSpPr>
        <p:spPr>
          <a:xfrm>
            <a:off x="640080" y="6172200"/>
            <a:ext cx="4754880" cy="0"/>
          </a:xfrm>
          <a:prstGeom prst="straightConnector1">
            <a:avLst/>
          </a:prstGeom>
          <a:ln w="19050">
            <a:solidFill>
              <a:srgbClr val="9DB4C6"/>
            </a:solidFill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Shape 25"/>
              <p:cNvSpPr txBox="1"/>
              <p:nvPr/>
            </p:nvSpPr>
            <p:spPr>
              <a:xfrm>
                <a:off x="5806440" y="2514600"/>
                <a:ext cx="5852160" cy="6035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ផលសង៖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= 2, 4, 8, 16, 32, …</a:t>
                </a:r>
                <a:endParaRPr lang="en-US" sz="1900" dirty="0"/>
              </a:p>
            </p:txBody>
          </p:sp>
        </mc:Choice>
        <mc:Fallback xmlns="">
          <p:sp>
            <p:nvSpPr>
              <p:cNvPr id="25" name="Shape 25"/>
              <p:cNvSpPr txBox="1"/>
              <p:nvPr/>
            </p:nvSpPr>
            <p:spPr>
              <a:xfrm>
                <a:off x="5806440" y="2514600"/>
                <a:ext cx="5852160" cy="6035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ផលសង៖ </a:t>
                </a:r>
                <a:r>
                  <a:rPr lang="km-KH" sz="19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aₙ₊₁−aₙ</a:t>
                </a: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= 2, 4, 8, 16, 32, …</a:t>
                </a:r>
                <a:endParaRPr lang="en-US" sz="19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Shape 26"/>
              <p:cNvSpPr txBox="1"/>
              <p:nvPr/>
            </p:nvSpPr>
            <p:spPr>
              <a:xfrm>
                <a:off x="5806440" y="3227832"/>
                <a:ext cx="5852160" cy="6035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US" sz="19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9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=2(</m:t>
                      </m:r>
                      <m:sSub>
                        <m:sSubPr>
                          <m:ctrlP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9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9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900" dirty="0"/>
              </a:p>
            </p:txBody>
          </p:sp>
        </mc:Choice>
        <mc:Fallback xmlns="">
          <p:sp>
            <p:nvSpPr>
              <p:cNvPr id="26" name="Shape 26"/>
              <p:cNvSpPr txBox="1"/>
              <p:nvPr/>
            </p:nvSpPr>
            <p:spPr>
              <a:xfrm>
                <a:off x="5806440" y="3227832"/>
                <a:ext cx="5852160" cy="6035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9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aₙ₊₂−aₙ₊₁=2(aₙ₊₁−aₙ)</a:t>
                </a:r>
                <a:endParaRPr lang="en-US" sz="19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Shape 27"/>
              <p:cNvSpPr txBox="1"/>
              <p:nvPr/>
            </p:nvSpPr>
            <p:spPr>
              <a:xfrm>
                <a:off x="5806440" y="3941064"/>
                <a:ext cx="5852160" cy="6035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តាង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=2 , ���=2</m:t>
                    </m:r>
                  </m:oMath>
                </a14:m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⇒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sz="1900" dirty="0"/>
              </a:p>
            </p:txBody>
          </p:sp>
        </mc:Choice>
        <mc:Fallback xmlns="">
          <p:sp>
            <p:nvSpPr>
              <p:cNvPr id="27" name="Shape 27"/>
              <p:cNvSpPr txBox="1"/>
              <p:nvPr/>
            </p:nvSpPr>
            <p:spPr>
              <a:xfrm>
                <a:off x="5806440" y="3941064"/>
                <a:ext cx="5852160" cy="6035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តាង </a:t>
                </a:r>
                <a:r>
                  <a:rPr lang="km-KH" sz="19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bₙ=aₙ₊₁−aₙ</a:t>
                </a: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⇒ </a:t>
                </a:r>
                <a:r>
                  <a:rPr lang="km-KH" sz="19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b₁=2 , q=2</a:t>
                </a: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⇒ </a:t>
                </a:r>
                <a:r>
                  <a:rPr lang="km-KH" sz="19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bₙ=2ⁿ</a:t>
                </a:r>
                <a:endParaRPr lang="en-US" sz="19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Shape 28"/>
              <p:cNvSpPr txBox="1"/>
              <p:nvPr/>
            </p:nvSpPr>
            <p:spPr>
              <a:xfrm>
                <a:off x="5806440" y="4654296"/>
                <a:ext cx="5852160" cy="6035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9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9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p>
                            <m:sSupPr>
                              <m:ctrlPr>
                                <a:rPr lang="en-US" sz="1900" i="1" dirty="0">
                                  <a:solidFill>
                                    <a:srgbClr val="1F293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900" i="1" dirty="0">
                                  <a:solidFill>
                                    <a:srgbClr val="1F2937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1900" i="1" dirty="0">
                                  <a:solidFill>
                                    <a:srgbClr val="1F2937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  <m:r>
                        <a:rPr lang="en-US" sz="19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=1+2+</m:t>
                      </m:r>
                      <m:sSup>
                        <m:sSupPr>
                          <m:ctrlP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19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+⋯+</m:t>
                      </m:r>
                      <m:sSup>
                        <m:sSupPr>
                          <m:ctrlP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1900" dirty="0"/>
              </a:p>
            </p:txBody>
          </p:sp>
        </mc:Choice>
        <mc:Fallback xmlns="">
          <p:sp>
            <p:nvSpPr>
              <p:cNvPr id="28" name="Shape 28"/>
              <p:cNvSpPr txBox="1"/>
              <p:nvPr/>
            </p:nvSpPr>
            <p:spPr>
              <a:xfrm>
                <a:off x="5806440" y="4654296"/>
                <a:ext cx="5852160" cy="6035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9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aₙ=a₁+Σ[k=1→n−1] 2ᵏ=1+2+2²+⋯+2ⁿ⁻¹</a:t>
                </a:r>
                <a:endParaRPr lang="en-US" sz="19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Shape 29"/>
              <p:cNvSpPr/>
              <p:nvPr/>
            </p:nvSpPr>
            <p:spPr>
              <a:xfrm>
                <a:off x="5806440" y="5440680"/>
                <a:ext cx="5833872" cy="868680"/>
              </a:xfrm>
              <a:prstGeom prst="roundRect">
                <a:avLst>
                  <a:gd name="adj" fmla="val 9000"/>
                </a:avLst>
              </a:prstGeom>
              <a:solidFill>
                <a:srgbClr val="E8F5EC"/>
              </a:solidFill>
              <a:ln w="19050">
                <a:solidFill>
                  <a:srgbClr val="9FD3B2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777240" tIns="54864" rIns="182880" bIns="54864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2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ដូច្នេះ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2E7D4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n-US" sz="2400" b="1" i="1" dirty="0">
                        <a:solidFill>
                          <a:srgbClr val="2E7D4F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29" name="Shape 29"/>
              <p:cNvSpPr/>
              <p:nvPr/>
            </p:nvSpPr>
            <p:spPr>
              <a:xfrm>
                <a:off x="5806440" y="5440680"/>
                <a:ext cx="5833872" cy="868680"/>
              </a:xfrm>
              <a:prstGeom prst="roundRect">
                <a:avLst>
                  <a:gd name="adj" fmla="val 9000"/>
                </a:avLst>
              </a:prstGeom>
              <a:solidFill>
                <a:srgbClr val="E8F5EC"/>
              </a:solidFill>
              <a:ln w="19050">
                <a:solidFill>
                  <a:srgbClr val="9FD3B2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777240" tIns="54864" rIns="182880" bIns="54864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2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ដូច្នេះ  </a:t>
                </a:r>
                <a:r>
                  <a:rPr lang="km-KH" sz="2400" b="1" i="1" dirty="0">
                    <a:solidFill>
                      <a:srgbClr val="2E7D4F"/>
                    </a:solidFill>
                    <a:latin typeface="Cambria Math"/>
                    <a:cs typeface="Cambria Math"/>
                  </a:rPr>
                  <a:t>aₙ=2ⁿ−1</a:t>
                </a:r>
                <a:endParaRPr lang="en-US" sz="2200" dirty="0"/>
              </a:p>
            </p:txBody>
          </p:sp>
        </mc:Fallback>
      </mc:AlternateContent>
      <p:pic>
        <p:nvPicPr>
          <p:cNvPr id="30" name="Picture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5646420"/>
            <a:ext cx="457200" cy="45720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6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6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6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6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m-KH" dirty="0"/>
              <a:t>៣. ទំនាក់ទំនងកំណើនបីតួជាប់គ្នា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hape 3"/>
              <p:cNvSpPr/>
              <p:nvPr/>
            </p:nvSpPr>
            <p:spPr>
              <a:xfrm>
                <a:off x="548640" y="1463040"/>
                <a:ext cx="6400800" cy="749808"/>
              </a:xfrm>
              <a:prstGeom prst="roundRect">
                <a:avLst>
                  <a:gd name="adj" fmla="val 9000"/>
                </a:avLst>
              </a:prstGeom>
              <a:solidFill>
                <a:srgbClr val="EAF2F8"/>
              </a:solidFill>
              <a:ln w="12700">
                <a:solidFill>
                  <a:srgbClr val="A9C7DE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182880" tIns="109728" rIns="182880" bIns="109728" rtlCol="0" anchor="ctr">
                <a:noAutofit/>
              </a:bodyPr>
              <a:lstStyle/>
              <a:p>
                <a:pPr algn="ctr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900" b="1" i="1" dirty="0">
                              <a:solidFill>
                                <a:srgbClr val="0F517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1" i="1" dirty="0">
                              <a:solidFill>
                                <a:srgbClr val="0F5174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1900" b="1" i="1" dirty="0">
                              <a:solidFill>
                                <a:srgbClr val="0F5174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1900" b="1" i="1" dirty="0">
                              <a:solidFill>
                                <a:srgbClr val="0F5174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US" sz="1900" b="1" i="1" dirty="0">
                          <a:solidFill>
                            <a:srgbClr val="0F5174"/>
                          </a:solidFill>
                          <a:latin typeface="Cambria Math" panose="02040503050406030204" pitchFamily="18" charset="0"/>
                        </a:rPr>
                        <m:t>+���</m:t>
                      </m:r>
                      <m:sSub>
                        <m:sSubPr>
                          <m:ctrlPr>
                            <a:rPr lang="en-US" sz="1900" b="1" i="1" dirty="0">
                              <a:solidFill>
                                <a:srgbClr val="0F517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1" i="1" dirty="0">
                              <a:solidFill>
                                <a:srgbClr val="0F5174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1900" b="1" i="1" dirty="0">
                              <a:solidFill>
                                <a:srgbClr val="0F5174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lang="en-US" sz="1900" b="1" i="1" dirty="0">
                              <a:solidFill>
                                <a:srgbClr val="0F5174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900" b="1" i="1" dirty="0">
                          <a:solidFill>
                            <a:srgbClr val="0F5174"/>
                          </a:solidFill>
                          <a:latin typeface="Cambria Math" panose="02040503050406030204" pitchFamily="18" charset="0"/>
                        </a:rPr>
                        <m:t>+���</m:t>
                      </m:r>
                      <m:sSub>
                        <m:sSubPr>
                          <m:ctrlPr>
                            <a:rPr lang="en-US" sz="1900" b="1" i="1" dirty="0">
                              <a:solidFill>
                                <a:srgbClr val="0F517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b="1" i="1" dirty="0">
                              <a:solidFill>
                                <a:srgbClr val="0F5174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1900" b="1" i="1" dirty="0">
                              <a:solidFill>
                                <a:srgbClr val="0F5174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sz="1900" b="1" i="1" dirty="0">
                          <a:solidFill>
                            <a:srgbClr val="0F5174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900" dirty="0"/>
              </a:p>
            </p:txBody>
          </p:sp>
        </mc:Choice>
        <mc:Fallback xmlns="">
          <p:sp>
            <p:nvSpPr>
              <p:cNvPr id="3" name="Shape 3"/>
              <p:cNvSpPr/>
              <p:nvPr/>
            </p:nvSpPr>
            <p:spPr>
              <a:xfrm>
                <a:off x="548640" y="1463040"/>
                <a:ext cx="6400800" cy="749808"/>
              </a:xfrm>
              <a:prstGeom prst="roundRect">
                <a:avLst>
                  <a:gd name="adj" fmla="val 9000"/>
                </a:avLst>
              </a:prstGeom>
              <a:solidFill>
                <a:srgbClr val="EAF2F8"/>
              </a:solidFill>
              <a:ln w="12700">
                <a:solidFill>
                  <a:srgbClr val="A9C7DE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182880" tIns="109728" rIns="182880" bIns="109728" rtlCol="0" anchor="ctr">
                <a:noAutofit/>
              </a:bodyPr>
              <a:lstStyle/>
              <a:p>
                <a:pPr algn="ctr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900" b="1" i="1" dirty="0">
                    <a:solidFill>
                      <a:srgbClr val="0F5174"/>
                    </a:solidFill>
                    <a:latin typeface="Cambria Math"/>
                    <a:cs typeface="Cambria Math"/>
                  </a:rPr>
                  <a:t>aₙ₊₂+paₙ₊₁+qaₙ=0</a:t>
                </a:r>
                <a:endParaRPr lang="en-US" sz="19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Shape 4"/>
              <p:cNvSpPr/>
              <p:nvPr/>
            </p:nvSpPr>
            <p:spPr>
              <a:xfrm>
                <a:off x="548640" y="2487168"/>
                <a:ext cx="6400800" cy="749808"/>
              </a:xfrm>
              <a:prstGeom prst="roundRect">
                <a:avLst>
                  <a:gd name="adj" fmla="val 9000"/>
                </a:avLst>
              </a:prstGeom>
              <a:solidFill>
                <a:srgbClr val="FCEDEE"/>
              </a:solidFill>
              <a:ln w="12700">
                <a:solidFill>
                  <a:srgbClr val="EBB3B6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182880" tIns="109728" rIns="182880" bIns="109728" rtlCol="0" anchor="ctr">
                <a:noAutofit/>
              </a:bodyPr>
              <a:lstStyle/>
              <a:p>
                <a:pPr algn="ctr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សមីការសម្គាល់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900" b="1" i="1" dirty="0">
                            <a:solidFill>
                              <a:srgbClr val="C0272D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900" b="1" i="1" dirty="0">
                            <a:solidFill>
                              <a:srgbClr val="C0272D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1900" b="1" i="1" dirty="0">
                            <a:solidFill>
                              <a:srgbClr val="C0272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900" b="1" i="1" dirty="0">
                        <a:solidFill>
                          <a:srgbClr val="C0272D"/>
                        </a:solidFill>
                        <a:latin typeface="Cambria Math" panose="02040503050406030204" pitchFamily="18" charset="0"/>
                      </a:rPr>
                      <m:t>+���</m:t>
                    </m:r>
                    <m:r>
                      <a:rPr lang="en-US" sz="1900" b="1" i="1" dirty="0">
                        <a:solidFill>
                          <a:srgbClr val="C0272D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1900" b="1" i="1" dirty="0">
                        <a:solidFill>
                          <a:srgbClr val="C0272D"/>
                        </a:solidFill>
                        <a:latin typeface="Cambria Math" panose="02040503050406030204" pitchFamily="18" charset="0"/>
                      </a:rPr>
                      <m:t>+���=0</m:t>
                    </m:r>
                  </m:oMath>
                </a14:m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 មានឫស </a:t>
                </a:r>
                <a14:m>
                  <m:oMath xmlns:m="http://schemas.openxmlformats.org/officeDocument/2006/math"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 , ���</m:t>
                    </m:r>
                  </m:oMath>
                </a14:m>
                <a:endParaRPr lang="en-US" sz="1900" dirty="0"/>
              </a:p>
            </p:txBody>
          </p:sp>
        </mc:Choice>
        <mc:Fallback xmlns="">
          <p:sp>
            <p:nvSpPr>
              <p:cNvPr id="4" name="Shape 4"/>
              <p:cNvSpPr/>
              <p:nvPr/>
            </p:nvSpPr>
            <p:spPr>
              <a:xfrm>
                <a:off x="548640" y="2487168"/>
                <a:ext cx="6400800" cy="749808"/>
              </a:xfrm>
              <a:prstGeom prst="roundRect">
                <a:avLst>
                  <a:gd name="adj" fmla="val 9000"/>
                </a:avLst>
              </a:prstGeom>
              <a:solidFill>
                <a:srgbClr val="FCEDEE"/>
              </a:solidFill>
              <a:ln w="12700">
                <a:solidFill>
                  <a:srgbClr val="EBB3B6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182880" tIns="109728" rIns="182880" bIns="109728" rtlCol="0" anchor="ctr">
                <a:noAutofit/>
              </a:bodyPr>
              <a:lstStyle/>
              <a:p>
                <a:pPr algn="ctr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សមីការសម្គាល់  </a:t>
                </a:r>
                <a:r>
                  <a:rPr lang="km-KH" sz="1900" b="1" i="1" dirty="0">
                    <a:solidFill>
                      <a:srgbClr val="C0272D"/>
                    </a:solidFill>
                    <a:latin typeface="Cambria Math"/>
                    <a:cs typeface="Cambria Math"/>
                  </a:rPr>
                  <a:t>x²+px+q=0</a:t>
                </a: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 មានឫស </a:t>
                </a:r>
                <a:r>
                  <a:rPr lang="km-KH" sz="19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α , β</a:t>
                </a:r>
                <a:endParaRPr lang="en-US" sz="19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Shape 5"/>
              <p:cNvSpPr/>
              <p:nvPr/>
            </p:nvSpPr>
            <p:spPr>
              <a:xfrm>
                <a:off x="548640" y="3511296"/>
                <a:ext cx="6400800" cy="658368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</p:spPr>
            <p:txBody>
              <a:bodyPr wrap="square" lIns="182880" tIns="109728" rIns="182880" bIns="109728" rtlCol="0" anchor="ctr">
                <a:noAutofit/>
              </a:bodyPr>
              <a:lstStyle/>
              <a:p>
                <a:pPr algn="ctr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US" sz="19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−���</m:t>
                      </m:r>
                      <m:sSub>
                        <m:sSubPr>
                          <m:ctrlP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9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=���(</m:t>
                      </m:r>
                      <m:sSub>
                        <m:sSubPr>
                          <m:ctrlP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9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−���</m:t>
                      </m:r>
                      <m:sSub>
                        <m:sSubPr>
                          <m:ctrlP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9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900" dirty="0"/>
              </a:p>
            </p:txBody>
          </p:sp>
        </mc:Choice>
        <mc:Fallback xmlns="">
          <p:sp>
            <p:nvSpPr>
              <p:cNvPr id="5" name="Shape 5"/>
              <p:cNvSpPr/>
              <p:nvPr/>
            </p:nvSpPr>
            <p:spPr>
              <a:xfrm>
                <a:off x="548640" y="3511296"/>
                <a:ext cx="6400800" cy="658368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</p:spPr>
            <p:txBody>
              <a:bodyPr wrap="square" lIns="182880" tIns="109728" rIns="182880" bIns="109728" rtlCol="0" anchor="ctr">
                <a:noAutofit/>
              </a:bodyPr>
              <a:lstStyle/>
              <a:p>
                <a:pPr algn="ctr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9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aₙ₊₂−αaₙ₊₁=β(aₙ₊₁−αaₙ)</a:t>
                </a:r>
                <a:endParaRPr lang="en-US" sz="19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Shape 6"/>
              <p:cNvSpPr/>
              <p:nvPr/>
            </p:nvSpPr>
            <p:spPr>
              <a:xfrm>
                <a:off x="548640" y="4261104"/>
                <a:ext cx="6400800" cy="658368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</p:spPr>
            <p:txBody>
              <a:bodyPr wrap="square" lIns="182880" tIns="109728" rIns="182880" bIns="109728" rtlCol="0" anchor="ctr">
                <a:noAutofit/>
              </a:bodyPr>
              <a:lstStyle/>
              <a:p>
                <a:pPr algn="ctr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US" sz="19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−���</m:t>
                      </m:r>
                      <m:sSub>
                        <m:sSubPr>
                          <m:ctrlP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9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=���(</m:t>
                      </m:r>
                      <m:sSub>
                        <m:sSubPr>
                          <m:ctrlP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9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−���</m:t>
                      </m:r>
                      <m:sSub>
                        <m:sSubPr>
                          <m:ctrlP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9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900" dirty="0"/>
              </a:p>
            </p:txBody>
          </p:sp>
        </mc:Choice>
        <mc:Fallback xmlns="">
          <p:sp>
            <p:nvSpPr>
              <p:cNvPr id="6" name="Shape 6"/>
              <p:cNvSpPr/>
              <p:nvPr/>
            </p:nvSpPr>
            <p:spPr>
              <a:xfrm>
                <a:off x="548640" y="4261104"/>
                <a:ext cx="6400800" cy="658368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</p:spPr>
            <p:txBody>
              <a:bodyPr wrap="square" lIns="182880" tIns="109728" rIns="182880" bIns="109728" rtlCol="0" anchor="ctr">
                <a:noAutofit/>
              </a:bodyPr>
              <a:lstStyle/>
              <a:p>
                <a:pPr algn="ctr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9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aₙ₊₂−βaₙ₊₁=α(aₙ₊₁−βaₙ)</a:t>
                </a:r>
                <a:endParaRPr lang="en-US" sz="19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Shape 7"/>
              <p:cNvSpPr/>
              <p:nvPr/>
            </p:nvSpPr>
            <p:spPr>
              <a:xfrm>
                <a:off x="548640" y="5285232"/>
                <a:ext cx="6400800" cy="749808"/>
              </a:xfrm>
              <a:prstGeom prst="roundRect">
                <a:avLst>
                  <a:gd name="adj" fmla="val 9000"/>
                </a:avLst>
              </a:prstGeom>
              <a:solidFill>
                <a:srgbClr val="E8F5EC"/>
              </a:solidFill>
              <a:ln w="12700">
                <a:solidFill>
                  <a:srgbClr val="9FD3B2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182880" tIns="109728" rIns="182880" bIns="109728" rtlCol="0" anchor="ctr">
                <a:noAutofit/>
              </a:bodyPr>
              <a:lstStyle/>
              <a:p>
                <a:pPr algn="ctr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ស្វ៊ីតធរណីមាត្រពីរ ⇒ ដកប្រព័ន្ធ រក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1900" dirty="0"/>
              </a:p>
            </p:txBody>
          </p:sp>
        </mc:Choice>
        <mc:Fallback xmlns="">
          <p:sp>
            <p:nvSpPr>
              <p:cNvPr id="7" name="Shape 7"/>
              <p:cNvSpPr/>
              <p:nvPr/>
            </p:nvSpPr>
            <p:spPr>
              <a:xfrm>
                <a:off x="548640" y="5285232"/>
                <a:ext cx="6400800" cy="749808"/>
              </a:xfrm>
              <a:prstGeom prst="roundRect">
                <a:avLst>
                  <a:gd name="adj" fmla="val 9000"/>
                </a:avLst>
              </a:prstGeom>
              <a:solidFill>
                <a:srgbClr val="E8F5EC"/>
              </a:solidFill>
              <a:ln w="12700">
                <a:solidFill>
                  <a:srgbClr val="9FD3B2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182880" tIns="109728" rIns="182880" bIns="109728" rtlCol="0" anchor="ctr">
                <a:noAutofit/>
              </a:bodyPr>
              <a:lstStyle/>
              <a:p>
                <a:pPr algn="ctr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ស្វ៊ីតធរណីមាត្រពីរ ⇒ ដកប្រព័ន្ធ រក </a:t>
                </a:r>
                <a:r>
                  <a:rPr lang="km-KH" sz="19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aₙ</a:t>
                </a:r>
                <a:endParaRPr lang="en-US" sz="1900" dirty="0"/>
              </a:p>
            </p:txBody>
          </p:sp>
        </mc:Fallback>
      </mc:AlternateContent>
      <p:cxnSp>
        <p:nvCxnSpPr>
          <p:cNvPr id="8" name="Connector 8"/>
          <p:cNvCxnSpPr/>
          <p:nvPr/>
        </p:nvCxnSpPr>
        <p:spPr>
          <a:xfrm>
            <a:off x="3749040" y="2231136"/>
            <a:ext cx="0" cy="237744"/>
          </a:xfrm>
          <a:prstGeom prst="straightConnector1">
            <a:avLst/>
          </a:prstGeom>
          <a:ln w="25400">
            <a:solidFill>
              <a:srgbClr val="5B6B7A"/>
            </a:solidFill>
            <a:tailEnd type="triangle" w="med" len="med"/>
          </a:ln>
        </p:spPr>
      </p:cxnSp>
      <p:cxnSp>
        <p:nvCxnSpPr>
          <p:cNvPr id="9" name="Connector 9"/>
          <p:cNvCxnSpPr/>
          <p:nvPr/>
        </p:nvCxnSpPr>
        <p:spPr>
          <a:xfrm>
            <a:off x="3749040" y="3255264"/>
            <a:ext cx="0" cy="237744"/>
          </a:xfrm>
          <a:prstGeom prst="straightConnector1">
            <a:avLst/>
          </a:prstGeom>
          <a:ln w="25400">
            <a:solidFill>
              <a:srgbClr val="5B6B7A"/>
            </a:solidFill>
            <a:tailEnd type="triangle" w="med" len="med"/>
          </a:ln>
        </p:spPr>
      </p:cxnSp>
      <p:cxnSp>
        <p:nvCxnSpPr>
          <p:cNvPr id="10" name="Connector 10"/>
          <p:cNvCxnSpPr/>
          <p:nvPr/>
        </p:nvCxnSpPr>
        <p:spPr>
          <a:xfrm>
            <a:off x="3749040" y="4937760"/>
            <a:ext cx="0" cy="329184"/>
          </a:xfrm>
          <a:prstGeom prst="straightConnector1">
            <a:avLst/>
          </a:prstGeom>
          <a:ln w="25400">
            <a:solidFill>
              <a:srgbClr val="5B6B7A"/>
            </a:solidFill>
            <a:tailEnd type="triangle" w="med" len="med"/>
          </a:ln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Shape 11"/>
              <p:cNvSpPr txBox="1"/>
              <p:nvPr/>
            </p:nvSpPr>
            <p:spPr>
              <a:xfrm>
                <a:off x="548640" y="6172200"/>
                <a:ext cx="6400800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700" dirty="0">
                    <a:solidFill>
                      <a:srgbClr val="5B6B7A"/>
                    </a:solidFill>
                    <a:latin typeface="Kh Battambang"/>
                    <a:cs typeface="Kh Battambang"/>
                  </a:rPr>
                  <a:t>ព្រោះ (វ្យែត)៖ </a:t>
                </a:r>
                <a14:m>
                  <m:oMath xmlns:m="http://schemas.openxmlformats.org/officeDocument/2006/math">
                    <m:r>
                      <a:rPr lang="en-US" sz="1700" i="1" dirty="0">
                        <a:solidFill>
                          <a:srgbClr val="5B6B7A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700" i="1" dirty="0">
                        <a:solidFill>
                          <a:srgbClr val="5B6B7A"/>
                        </a:solidFill>
                        <a:latin typeface="Cambria Math" panose="02040503050406030204" pitchFamily="18" charset="0"/>
                      </a:rPr>
                      <m:t>+���=−��� , ���</m:t>
                    </m:r>
                    <m:r>
                      <a:rPr lang="en-US" sz="1700" i="1" dirty="0">
                        <a:solidFill>
                          <a:srgbClr val="5B6B7A"/>
                        </a:solidFill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sz="1700" i="1" dirty="0">
                        <a:solidFill>
                          <a:srgbClr val="5B6B7A"/>
                        </a:solidFill>
                        <a:latin typeface="Cambria Math" panose="02040503050406030204" pitchFamily="18" charset="0"/>
                      </a:rPr>
                      <m:t>=���</m:t>
                    </m:r>
                  </m:oMath>
                </a14:m>
                <a:endParaRPr lang="en-US" sz="1700" dirty="0"/>
              </a:p>
            </p:txBody>
          </p:sp>
        </mc:Choice>
        <mc:Fallback xmlns="">
          <p:sp>
            <p:nvSpPr>
              <p:cNvPr id="11" name="Shape 11"/>
              <p:cNvSpPr txBox="1"/>
              <p:nvPr/>
            </p:nvSpPr>
            <p:spPr>
              <a:xfrm>
                <a:off x="548640" y="6172200"/>
                <a:ext cx="6400800" cy="4114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700" dirty="0">
                    <a:solidFill>
                      <a:srgbClr val="5B6B7A"/>
                    </a:solidFill>
                    <a:latin typeface="Kh Battambang"/>
                    <a:cs typeface="Kh Battambang"/>
                  </a:rPr>
                  <a:t>ព្រោះ (វ្យែត)៖ </a:t>
                </a:r>
                <a:r>
                  <a:rPr lang="km-KH" sz="1700" i="1" dirty="0">
                    <a:solidFill>
                      <a:srgbClr val="5B6B7A"/>
                    </a:solidFill>
                    <a:latin typeface="Cambria Math"/>
                    <a:cs typeface="Cambria Math"/>
                  </a:rPr>
                  <a:t>α+β=−p , αβ=q</a:t>
                </a:r>
                <a:endParaRPr lang="en-US" sz="17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Shape 12"/>
              <p:cNvSpPr/>
              <p:nvPr/>
            </p:nvSpPr>
            <p:spPr>
              <a:xfrm>
                <a:off x="7315200" y="1463040"/>
                <a:ext cx="4325112" cy="4892040"/>
              </a:xfrm>
              <a:prstGeom prst="roundRect">
                <a:avLst>
                  <a:gd name="adj" fmla="val 9000"/>
                </a:avLst>
              </a:prstGeom>
              <a:solidFill>
                <a:srgbClr val="FFF6DC"/>
              </a:solidFill>
              <a:ln w="12700">
                <a:solidFill>
                  <a:srgbClr val="F1D58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274320" tIns="960120" rIns="274320" bIns="137160" rtlCol="0" anchor="t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r>
                  <a:rPr lang="km-KH" sz="2100" b="1" dirty="0">
                    <a:solidFill>
                      <a:srgbClr val="8A6200"/>
                    </a:solidFill>
                    <a:latin typeface="Kh Battambang"/>
                    <a:cs typeface="Kh Battambang"/>
                  </a:rPr>
                  <a:t>គន្លឹះរហ័ស</a:t>
                </a:r>
                <a:endParaRPr lang="en-US" sz="2100" dirty="0"/>
              </a:p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បើ </a:t>
                </a:r>
                <a14:m>
                  <m:oMath xmlns:m="http://schemas.openxmlformats.org/officeDocument/2006/math"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≠���</m:t>
                    </m:r>
                  </m:oMath>
                </a14:m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៖</a:t>
                </a:r>
                <a:endParaRPr lang="en-US" sz="1800" dirty="0"/>
              </a:p>
              <a:p>
                <a:pPr algn="ctr">
                  <a:lnSpc>
                    <a:spcPct val="140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100" b="1" i="1" dirty="0">
                              <a:solidFill>
                                <a:srgbClr val="C0272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b="1" i="1" dirty="0">
                              <a:solidFill>
                                <a:srgbClr val="C0272D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2100" b="1" i="1" dirty="0">
                              <a:solidFill>
                                <a:srgbClr val="C0272D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sz="2100" b="1" i="1" dirty="0">
                          <a:solidFill>
                            <a:srgbClr val="C0272D"/>
                          </a:solidFill>
                          <a:latin typeface="Cambria Math" panose="02040503050406030204" pitchFamily="18" charset="0"/>
                        </a:rPr>
                        <m:t>=���</m:t>
                      </m:r>
                      <m:sSup>
                        <m:sSupPr>
                          <m:ctrlPr>
                            <a:rPr lang="en-US" sz="2100" b="1" i="1" dirty="0">
                              <a:solidFill>
                                <a:srgbClr val="C0272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b="1" i="1" dirty="0">
                              <a:solidFill>
                                <a:srgbClr val="C0272D"/>
                              </a:solidFill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  <m:sup>
                          <m:r>
                            <a:rPr lang="en-US" sz="2100" b="1" i="1" dirty="0">
                              <a:solidFill>
                                <a:srgbClr val="C0272D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  <m:r>
                        <a:rPr lang="en-US" sz="2100" b="1" i="1" dirty="0">
                          <a:solidFill>
                            <a:srgbClr val="C0272D"/>
                          </a:solidFill>
                          <a:latin typeface="Cambria Math" panose="02040503050406030204" pitchFamily="18" charset="0"/>
                        </a:rPr>
                        <m:t>+���</m:t>
                      </m:r>
                      <m:sSup>
                        <m:sSupPr>
                          <m:ctrlPr>
                            <a:rPr lang="en-US" sz="2100" b="1" i="1" dirty="0">
                              <a:solidFill>
                                <a:srgbClr val="C0272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b="1" i="1" dirty="0">
                              <a:solidFill>
                                <a:srgbClr val="C0272D"/>
                              </a:solidFill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p>
                          <m:r>
                            <a:rPr lang="en-US" sz="2100" b="1" i="1" dirty="0">
                              <a:solidFill>
                                <a:srgbClr val="C0272D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n-US" sz="2100" dirty="0"/>
              </a:p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បើ </a:t>
                </a:r>
                <a14:m>
                  <m:oMath xmlns:m="http://schemas.openxmlformats.org/officeDocument/2006/math"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=���</m:t>
                    </m:r>
                  </m:oMath>
                </a14:m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(ឫសឌុប) ៖</a:t>
                </a:r>
                <a:endParaRPr lang="en-US" sz="1800" dirty="0"/>
              </a:p>
              <a:p>
                <a:pPr algn="ctr">
                  <a:lnSpc>
                    <a:spcPct val="140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100" b="1" i="1" dirty="0">
                              <a:solidFill>
                                <a:srgbClr val="C0272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100" b="1" i="1" dirty="0">
                              <a:solidFill>
                                <a:srgbClr val="C0272D"/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b>
                          <m:r>
                            <a:rPr lang="en-US" sz="2100" b="1" i="1" dirty="0">
                              <a:solidFill>
                                <a:srgbClr val="C0272D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sz="2100" b="1" i="1" dirty="0">
                          <a:solidFill>
                            <a:srgbClr val="C0272D"/>
                          </a:solidFill>
                          <a:latin typeface="Cambria Math" panose="02040503050406030204" pitchFamily="18" charset="0"/>
                        </a:rPr>
                        <m:t>=(���+���</m:t>
                      </m:r>
                      <m:r>
                        <a:rPr lang="en-US" sz="2100" b="1" i="1" dirty="0">
                          <a:solidFill>
                            <a:srgbClr val="C0272D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sz="2100" b="1" i="1" dirty="0">
                          <a:solidFill>
                            <a:srgbClr val="C0272D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sz="2100" b="1" i="1" dirty="0">
                              <a:solidFill>
                                <a:srgbClr val="C0272D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b="1" i="1" dirty="0">
                              <a:solidFill>
                                <a:srgbClr val="C0272D"/>
                              </a:solidFill>
                              <a:latin typeface="Cambria Math" panose="02040503050406030204" pitchFamily="18" charset="0"/>
                            </a:rPr>
                            <m:t>𝜶</m:t>
                          </m:r>
                        </m:e>
                        <m:sup>
                          <m:r>
                            <a:rPr lang="en-US" sz="2100" b="1" i="1" dirty="0">
                              <a:solidFill>
                                <a:srgbClr val="C0272D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</m:sSup>
                    </m:oMath>
                  </m:oMathPara>
                </a14:m>
                <a:endParaRPr lang="en-US" sz="2100" dirty="0"/>
              </a:p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រកចំនួនថេរ </a:t>
                </a:r>
                <a14:m>
                  <m:oMath xmlns:m="http://schemas.openxmlformats.org/officeDocument/2006/math"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 , ���</m:t>
                    </m:r>
                  </m:oMath>
                </a14:m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ពី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 , 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12" name="Shape 12"/>
              <p:cNvSpPr/>
              <p:nvPr/>
            </p:nvSpPr>
            <p:spPr>
              <a:xfrm>
                <a:off x="7315200" y="1463040"/>
                <a:ext cx="4325112" cy="4892040"/>
              </a:xfrm>
              <a:prstGeom prst="roundRect">
                <a:avLst>
                  <a:gd name="adj" fmla="val 9000"/>
                </a:avLst>
              </a:prstGeom>
              <a:solidFill>
                <a:srgbClr val="FFF6DC"/>
              </a:solidFill>
              <a:ln w="12700">
                <a:solidFill>
                  <a:srgbClr val="F1D58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274320" tIns="960120" rIns="274320" bIns="137160" rtlCol="0" anchor="t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r>
                  <a:rPr lang="km-KH" sz="2100" b="1" dirty="0">
                    <a:solidFill>
                      <a:srgbClr val="8A6200"/>
                    </a:solidFill>
                    <a:latin typeface="Kh Battambang"/>
                    <a:cs typeface="Kh Battambang"/>
                  </a:rPr>
                  <a:t>គន្លឹះរហ័ស</a:t>
                </a:r>
                <a:endParaRPr lang="en-US" sz="2100" dirty="0"/>
              </a:p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បើ </a:t>
                </a:r>
                <a:r>
                  <a:rPr lang="km-KH" sz="18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α≠β</a:t>
                </a: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៖</a:t>
                </a:r>
                <a:endParaRPr lang="en-US" sz="1800" dirty="0"/>
              </a:p>
              <a:p>
                <a:pPr algn="ctr">
                  <a:lnSpc>
                    <a:spcPct val="140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r>
                  <a:rPr lang="km-KH" sz="2100" b="1" i="1" dirty="0">
                    <a:solidFill>
                      <a:srgbClr val="C0272D"/>
                    </a:solidFill>
                    <a:latin typeface="Cambria Math"/>
                    <a:cs typeface="Cambria Math"/>
                  </a:rPr>
                  <a:t>aₙ=Aαⁿ+Bβⁿ</a:t>
                </a:r>
                <a:endParaRPr lang="en-US" sz="2100" dirty="0"/>
              </a:p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បើ </a:t>
                </a:r>
                <a:r>
                  <a:rPr lang="km-KH" sz="18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α=β</a:t>
                </a: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(ឫសឌុប) ៖</a:t>
                </a:r>
                <a:endParaRPr lang="en-US" sz="1800" dirty="0"/>
              </a:p>
              <a:p>
                <a:pPr algn="ctr">
                  <a:lnSpc>
                    <a:spcPct val="140000"/>
                  </a:lnSpc>
                  <a:spcBef>
                    <a:spcPts val="0"/>
                  </a:spcBef>
                  <a:spcAft>
                    <a:spcPts val="800"/>
                  </a:spcAft>
                  <a:buNone/>
                </a:pPr>
                <a:r>
                  <a:rPr lang="km-KH" sz="2100" b="1" i="1" dirty="0">
                    <a:solidFill>
                      <a:srgbClr val="C0272D"/>
                    </a:solidFill>
                    <a:latin typeface="Cambria Math"/>
                    <a:cs typeface="Cambria Math"/>
                  </a:rPr>
                  <a:t>aₙ=(A+Bn)αⁿ</a:t>
                </a:r>
                <a:endParaRPr lang="en-US" sz="2100" dirty="0"/>
              </a:p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រកចំនួនថេរ </a:t>
                </a:r>
                <a:r>
                  <a:rPr lang="km-KH" sz="18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 , B</a:t>
                </a: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ពី </a:t>
                </a:r>
                <a:r>
                  <a:rPr lang="km-KH" sz="18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a₁ , a₂</a:t>
                </a:r>
                <a:endParaRPr lang="en-US" sz="1800" dirty="0"/>
              </a:p>
            </p:txBody>
          </p:sp>
        </mc:Fallback>
      </mc:AlternateContent>
      <p:pic>
        <p:nvPicPr>
          <p:cNvPr id="13" name="Pictur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627632"/>
            <a:ext cx="640080" cy="640080"/>
          </a:xfrm>
          <a:prstGeom prst="rect">
            <a:avLst/>
          </a:prstGeom>
        </p:spPr>
      </p:pic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11" grpId="0" animBg="1"/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m-KH" dirty="0"/>
              <a:t>៣. ទំនាក់ទំនងកំណើនបីតួជាប់គ្នា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hape 3"/>
              <p:cNvSpPr/>
              <p:nvPr/>
            </p:nvSpPr>
            <p:spPr>
              <a:xfrm>
                <a:off x="548640" y="1417320"/>
                <a:ext cx="11091672" cy="868680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2286000" tIns="73152" rIns="228600" bIns="73152" rtlCol="0" anchor="ctr">
                <a:noAutofit/>
              </a:bodyPr>
              <a:lstStyle/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ស្វ៊ីត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កំណត់ដោយ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=1 , 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=13 , 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។ កំណត់តួទី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។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Shape 3"/>
              <p:cNvSpPr/>
              <p:nvPr/>
            </p:nvSpPr>
            <p:spPr>
              <a:xfrm>
                <a:off x="548640" y="1417320"/>
                <a:ext cx="11091672" cy="868680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2286000" tIns="73152" rIns="228600" bIns="73152" rtlCol="0" anchor="ctr">
                <a:noAutofit/>
              </a:bodyPr>
              <a:lstStyle/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ស្វ៊ីត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(aₙ)</a:t>
                </a: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កំណត់ដោយ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a₁=1 , a₂=13 , aₙ₊₂=aₙ₊₁+6aₙ</a:t>
                </a: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។ កំណត់តួទី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n</a:t>
                </a: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។</a:t>
                </a:r>
                <a:endParaRPr lang="en-US" sz="2000" dirty="0"/>
              </a:p>
            </p:txBody>
          </p:sp>
        </mc:Fallback>
      </mc:AlternateContent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600200"/>
            <a:ext cx="502920" cy="502920"/>
          </a:xfrm>
          <a:prstGeom prst="rect">
            <a:avLst/>
          </a:prstGeom>
        </p:spPr>
      </p:pic>
      <p:sp>
        <p:nvSpPr>
          <p:cNvPr id="5" name="Shape 5"/>
          <p:cNvSpPr/>
          <p:nvPr/>
        </p:nvSpPr>
        <p:spPr>
          <a:xfrm>
            <a:off x="1298448" y="1641348"/>
            <a:ext cx="1554480" cy="420624"/>
          </a:xfrm>
          <a:prstGeom prst="roundRect">
            <a:avLst>
              <a:gd name="adj" fmla="val 50000"/>
            </a:avLst>
          </a:prstGeom>
          <a:solidFill>
            <a:srgbClr val="C0272D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600" b="1" dirty="0">
                <a:solidFill>
                  <a:srgbClr val="FFFFFF"/>
                </a:solidFill>
                <a:latin typeface="Kh Battambang"/>
                <a:cs typeface="Kh Battambang"/>
              </a:rPr>
              <a:t>លំហាត់គំរូ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hape 6"/>
              <p:cNvSpPr/>
              <p:nvPr/>
            </p:nvSpPr>
            <p:spPr>
              <a:xfrm>
                <a:off x="548640" y="2450592"/>
                <a:ext cx="11091672" cy="640080"/>
              </a:xfrm>
              <a:prstGeom prst="roundRect">
                <a:avLst>
                  <a:gd name="adj" fmla="val 9000"/>
                </a:avLst>
              </a:prstGeom>
              <a:solidFill>
                <a:srgbClr val="FCEDEE"/>
              </a:solidFill>
              <a:ln w="12700">
                <a:solidFill>
                  <a:srgbClr val="EBB3B6"/>
                </a:solidFill>
              </a:ln>
            </p:spPr>
            <p:txBody>
              <a:bodyPr wrap="square" lIns="182880" tIns="109728" rIns="182880" bIns="109728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សមីការសម្គាល់៖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dirty="0">
                            <a:solidFill>
                              <a:srgbClr val="C0272D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1" i="1" dirty="0">
                            <a:solidFill>
                              <a:srgbClr val="C0272D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US" sz="2000" b="1" i="1" dirty="0">
                            <a:solidFill>
                              <a:srgbClr val="C0272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1" i="1" dirty="0">
                        <a:solidFill>
                          <a:srgbClr val="C0272D"/>
                        </a:solidFill>
                        <a:latin typeface="Cambria Math" panose="02040503050406030204" pitchFamily="18" charset="0"/>
                      </a:rPr>
                      <m:t>−���−6=0</m:t>
                    </m:r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 ⇒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000" b="1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 ឬ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sz="2000" b="1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6" name="Shape 6"/>
              <p:cNvSpPr/>
              <p:nvPr/>
            </p:nvSpPr>
            <p:spPr>
              <a:xfrm>
                <a:off x="548640" y="2450592"/>
                <a:ext cx="11091672" cy="640080"/>
              </a:xfrm>
              <a:prstGeom prst="roundRect">
                <a:avLst>
                  <a:gd name="adj" fmla="val 9000"/>
                </a:avLst>
              </a:prstGeom>
              <a:solidFill>
                <a:srgbClr val="FCEDEE"/>
              </a:solidFill>
              <a:ln w="12700">
                <a:solidFill>
                  <a:srgbClr val="EBB3B6"/>
                </a:solidFill>
              </a:ln>
            </p:spPr>
            <p:txBody>
              <a:bodyPr wrap="square" lIns="182880" tIns="109728" rIns="182880" bIns="109728" rtlCol="0" anchor="ctr">
                <a:noAutofit/>
              </a:bodyPr>
              <a:lstStyle/>
              <a:p>
                <a:pPr algn="ctr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សមីការសម្គាល់៖ </a:t>
                </a:r>
                <a:r>
                  <a:rPr lang="km-KH" sz="2000" b="1" i="1" dirty="0">
                    <a:solidFill>
                      <a:srgbClr val="C0272D"/>
                    </a:solidFill>
                    <a:latin typeface="Cambria Math"/>
                    <a:cs typeface="Cambria Math"/>
                  </a:rPr>
                  <a:t>x²−x−6=0</a:t>
                </a: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 ⇒  </a:t>
                </a:r>
                <a:r>
                  <a:rPr lang="km-KH" sz="2000" b="1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x=3</a:t>
                </a: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 ឬ  </a:t>
                </a:r>
                <a:r>
                  <a:rPr lang="km-KH" sz="2000" b="1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x=−2</a:t>
                </a:r>
                <a:endParaRPr lang="en-US" sz="20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Shape 7"/>
              <p:cNvSpPr/>
              <p:nvPr/>
            </p:nvSpPr>
            <p:spPr>
              <a:xfrm>
                <a:off x="548640" y="3291840"/>
                <a:ext cx="5440680" cy="1874520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228600" tIns="137160" rIns="182880" bIns="91440" rtlCol="0" anchor="t">
                <a:noAutofit/>
              </a:bodyPr>
              <a:lstStyle/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30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(i)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=3(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/>
              </a:p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3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៖ </a:t>
                </a:r>
                <a14:m>
                  <m:oMath xmlns:m="http://schemas.openxmlformats.org/officeDocument/2006/math"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=3 , 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endParaRPr lang="en-US" sz="1800" dirty="0"/>
              </a:p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1800" b="1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1800" b="1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800" b="1" i="1" dirty="0">
                        <a:solidFill>
                          <a:srgbClr val="0F5174"/>
                        </a:solidFill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en-US" sz="1800" b="1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1800" b="1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sz="1800" b="1" i="1" dirty="0">
                        <a:solidFill>
                          <a:srgbClr val="0F5174"/>
                        </a:solidFill>
                        <a:latin typeface="Cambria Math" panose="02040503050406030204" pitchFamily="18" charset="0"/>
                      </a:rPr>
                      <m:t>=15·</m:t>
                    </m:r>
                    <m:sSup>
                      <m:sSupPr>
                        <m:ctrlPr>
                          <a:rPr lang="en-US" sz="1800" b="1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1800" b="1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1800" b="1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  (1)</a:t>
                </a:r>
                <a:endParaRPr lang="en-US" sz="1800" dirty="0"/>
              </a:p>
            </p:txBody>
          </p:sp>
        </mc:Choice>
        <mc:Fallback xmlns="">
          <p:sp>
            <p:nvSpPr>
              <p:cNvPr id="7" name="Shape 7"/>
              <p:cNvSpPr/>
              <p:nvPr/>
            </p:nvSpPr>
            <p:spPr>
              <a:xfrm>
                <a:off x="548640" y="3291840"/>
                <a:ext cx="5440680" cy="1874520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228600" tIns="137160" rIns="182880" bIns="91440" rtlCol="0" anchor="t">
                <a:noAutofit/>
              </a:bodyPr>
              <a:lstStyle/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30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(i)  </a:t>
                </a:r>
                <a:r>
                  <a:rPr lang="km-KH" sz="18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aₙ₊₂+2aₙ₊₁=3(aₙ₊₁+2aₙ)</a:t>
                </a:r>
                <a:endParaRPr lang="en-US" sz="1800" dirty="0"/>
              </a:p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300"/>
                  </a:spcAft>
                  <a:buNone/>
                </a:pPr>
                <a:r>
                  <a:rPr lang="km-KH" sz="18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bₙ=aₙ₊₁+2aₙ</a:t>
                </a: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៖ </a:t>
                </a:r>
                <a:r>
                  <a:rPr lang="km-KH" sz="18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q=3 , b₁=15</a:t>
                </a:r>
                <a:endParaRPr lang="en-US" sz="1800" dirty="0"/>
              </a:p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b="1" i="1" dirty="0">
                    <a:solidFill>
                      <a:srgbClr val="0F5174"/>
                    </a:solidFill>
                    <a:latin typeface="Cambria Math"/>
                    <a:cs typeface="Cambria Math"/>
                  </a:rPr>
                  <a:t>aₙ₊₁+2aₙ=15·3ⁿ⁻¹</a:t>
                </a: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  (1)</a:t>
                </a:r>
                <a:endParaRPr lang="en-US" sz="18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Shape 8"/>
              <p:cNvSpPr/>
              <p:nvPr/>
            </p:nvSpPr>
            <p:spPr>
              <a:xfrm>
                <a:off x="6199632" y="3291840"/>
                <a:ext cx="5440680" cy="1874520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228600" tIns="137160" rIns="182880" bIns="91440" rtlCol="0" anchor="t">
                <a:noAutofit/>
              </a:bodyPr>
              <a:lstStyle/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30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(ii)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−3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=−2(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−3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800" dirty="0"/>
              </a:p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30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−3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៖ </a:t>
                </a:r>
                <a14:m>
                  <m:oMath xmlns:m="http://schemas.openxmlformats.org/officeDocument/2006/math"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=−2 , 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sz="1800" dirty="0"/>
              </a:p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1800" b="1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1800" b="1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800" b="1" i="1" dirty="0">
                        <a:solidFill>
                          <a:srgbClr val="0F5174"/>
                        </a:solidFill>
                        <a:latin typeface="Cambria Math" panose="02040503050406030204" pitchFamily="18" charset="0"/>
                      </a:rPr>
                      <m:t>−3</m:t>
                    </m:r>
                    <m:sSub>
                      <m:sSubPr>
                        <m:ctrlPr>
                          <a:rPr lang="en-US" sz="1800" b="1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1800" b="1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sz="1800" b="1" i="1" dirty="0">
                        <a:solidFill>
                          <a:srgbClr val="0F5174"/>
                        </a:solidFill>
                        <a:latin typeface="Cambria Math" panose="02040503050406030204" pitchFamily="18" charset="0"/>
                      </a:rPr>
                      <m:t>=10·(−2</m:t>
                    </m:r>
                    <m:sSup>
                      <m:sSupPr>
                        <m:ctrlPr>
                          <a:rPr lang="en-US" sz="1800" b="1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1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1800" b="1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sz="1800" b="1" i="1" dirty="0">
                            <a:solidFill>
                              <a:srgbClr val="0F5174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  (2)</a:t>
                </a:r>
                <a:endParaRPr lang="en-US" sz="1800" dirty="0"/>
              </a:p>
            </p:txBody>
          </p:sp>
        </mc:Choice>
        <mc:Fallback xmlns="">
          <p:sp>
            <p:nvSpPr>
              <p:cNvPr id="8" name="Shape 8"/>
              <p:cNvSpPr/>
              <p:nvPr/>
            </p:nvSpPr>
            <p:spPr>
              <a:xfrm>
                <a:off x="6199632" y="3291840"/>
                <a:ext cx="5440680" cy="1874520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228600" tIns="137160" rIns="182880" bIns="91440" rtlCol="0" anchor="t">
                <a:noAutofit/>
              </a:bodyPr>
              <a:lstStyle/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30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(ii)  </a:t>
                </a:r>
                <a:r>
                  <a:rPr lang="km-KH" sz="18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aₙ₊₂−3aₙ₊₁=−2(aₙ₊₁−3aₙ)</a:t>
                </a:r>
                <a:endParaRPr lang="en-US" sz="1800" dirty="0"/>
              </a:p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300"/>
                  </a:spcAft>
                  <a:buNone/>
                </a:pPr>
                <a:r>
                  <a:rPr lang="km-KH" sz="18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cₙ=aₙ₊₁−3aₙ</a:t>
                </a: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៖ </a:t>
                </a:r>
                <a:r>
                  <a:rPr lang="km-KH" sz="18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q=−2 , c₁=10</a:t>
                </a:r>
                <a:endParaRPr lang="en-US" sz="1800" dirty="0"/>
              </a:p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b="1" i="1" dirty="0">
                    <a:solidFill>
                      <a:srgbClr val="0F5174"/>
                    </a:solidFill>
                    <a:latin typeface="Cambria Math"/>
                    <a:cs typeface="Cambria Math"/>
                  </a:rPr>
                  <a:t>aₙ₊₁−3aₙ=10·(−2)ⁿ⁻¹</a:t>
                </a: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  (2)</a:t>
                </a:r>
                <a:endParaRPr lang="en-US" sz="18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Shape 9"/>
              <p:cNvSpPr txBox="1"/>
              <p:nvPr/>
            </p:nvSpPr>
            <p:spPr>
              <a:xfrm>
                <a:off x="548640" y="5285232"/>
                <a:ext cx="6035040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(1) − (2) ៖ </a:t>
                </a:r>
                <a14:m>
                  <m:oMath xmlns:m="http://schemas.openxmlformats.org/officeDocument/2006/math"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b>
                      <m:sSub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=15·</m:t>
                    </m:r>
                    <m:sSup>
                      <m:sSup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−10·(−2</m:t>
                    </m:r>
                    <m:sSup>
                      <m:sSup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en-US" sz="1900" dirty="0"/>
              </a:p>
            </p:txBody>
          </p:sp>
        </mc:Choice>
        <mc:Fallback xmlns="">
          <p:sp>
            <p:nvSpPr>
              <p:cNvPr id="9" name="Shape 9"/>
              <p:cNvSpPr txBox="1"/>
              <p:nvPr/>
            </p:nvSpPr>
            <p:spPr>
              <a:xfrm>
                <a:off x="548640" y="5285232"/>
                <a:ext cx="6035040" cy="5029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(1) − (2) ៖ </a:t>
                </a:r>
                <a:r>
                  <a:rPr lang="km-KH" sz="19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5aₙ=15·3ⁿ⁻¹−10·(−2)ⁿ⁻¹</a:t>
                </a:r>
                <a:endParaRPr lang="en-US" sz="19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Shape 10"/>
              <p:cNvSpPr/>
              <p:nvPr/>
            </p:nvSpPr>
            <p:spPr>
              <a:xfrm>
                <a:off x="6675120" y="5349240"/>
                <a:ext cx="4965192" cy="914400"/>
              </a:xfrm>
              <a:prstGeom prst="roundRect">
                <a:avLst>
                  <a:gd name="adj" fmla="val 9000"/>
                </a:avLst>
              </a:prstGeom>
              <a:solidFill>
                <a:srgbClr val="E8F5EC"/>
              </a:solidFill>
              <a:ln w="19050">
                <a:solidFill>
                  <a:srgbClr val="9FD3B2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777240" tIns="54864" rIns="182880" bIns="54864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2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ដូច្នេះ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23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sz="2300" b="1" i="1" dirty="0">
                        <a:solidFill>
                          <a:srgbClr val="2E7D4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3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3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23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n-US" sz="2300" b="1" i="1" dirty="0">
                        <a:solidFill>
                          <a:srgbClr val="2E7D4F"/>
                        </a:solidFill>
                        <a:latin typeface="Cambria Math" panose="02040503050406030204" pitchFamily="18" charset="0"/>
                      </a:rPr>
                      <m:t>+(−2</m:t>
                    </m:r>
                    <m:sSup>
                      <m:sSupPr>
                        <m:ctrlPr>
                          <a:rPr lang="en-US" sz="23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3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3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10" name="Shape 10"/>
              <p:cNvSpPr/>
              <p:nvPr/>
            </p:nvSpPr>
            <p:spPr>
              <a:xfrm>
                <a:off x="6675120" y="5349240"/>
                <a:ext cx="4965192" cy="914400"/>
              </a:xfrm>
              <a:prstGeom prst="roundRect">
                <a:avLst>
                  <a:gd name="adj" fmla="val 9000"/>
                </a:avLst>
              </a:prstGeom>
              <a:solidFill>
                <a:srgbClr val="E8F5EC"/>
              </a:solidFill>
              <a:ln w="19050">
                <a:solidFill>
                  <a:srgbClr val="9FD3B2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777240" tIns="54864" rIns="182880" bIns="54864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2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ដូច្នេះ </a:t>
                </a:r>
                <a:r>
                  <a:rPr lang="km-KH" sz="2300" b="1" i="1" dirty="0">
                    <a:solidFill>
                      <a:srgbClr val="2E7D4F"/>
                    </a:solidFill>
                    <a:latin typeface="Cambria Math"/>
                    <a:cs typeface="Cambria Math"/>
                  </a:rPr>
                  <a:t>aₙ=3ⁿ+(−2)ⁿ</a:t>
                </a:r>
                <a:endParaRPr lang="en-US" sz="2200" dirty="0"/>
              </a:p>
            </p:txBody>
          </p:sp>
        </mc:Fallback>
      </mc:AlternateContent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577840"/>
            <a:ext cx="457200" cy="457200"/>
          </a:xfrm>
          <a:prstGeom prst="rect">
            <a:avLst/>
          </a:prstGeom>
        </p:spPr>
      </p:pic>
      <p:sp>
        <p:nvSpPr>
          <p:cNvPr id="12" name="Shape 12"/>
          <p:cNvSpPr txBox="1"/>
          <p:nvPr/>
        </p:nvSpPr>
        <p:spPr>
          <a:xfrm>
            <a:off x="548640" y="5852160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600" dirty="0">
                <a:solidFill>
                  <a:srgbClr val="5B6B7A"/>
                </a:solidFill>
                <a:latin typeface="Kh Battambang"/>
                <a:cs typeface="Kh Battambang"/>
              </a:rPr>
              <a:t>ពិនិត្យ៖ a₁ = 3 − 2 = 1 ✔ ,  a₂ = 9 + 4 = 13 ✔</a:t>
            </a:r>
            <a:endParaRPr lang="en-US" sz="16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m-KH" dirty="0"/>
              <a:t>៣. ទំនាក់ទំនងកំណើនបីតួជាប់គ្នា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hape 3"/>
              <p:cNvSpPr/>
              <p:nvPr/>
            </p:nvSpPr>
            <p:spPr>
              <a:xfrm>
                <a:off x="548640" y="1417320"/>
                <a:ext cx="11091672" cy="868680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2286000" tIns="73152" rIns="228600" bIns="73152" rtlCol="0" anchor="ctr">
                <a:noAutofit/>
              </a:bodyPr>
              <a:lstStyle/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ស្វ៊ីត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កំណត់ដោយ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=0 , 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=3 , 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=4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−3</m:t>
                    </m:r>
                    <m:sSub>
                      <m:sSubPr>
                        <m:ctrlP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។ កំណត់តួទី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។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Shape 3"/>
              <p:cNvSpPr/>
              <p:nvPr/>
            </p:nvSpPr>
            <p:spPr>
              <a:xfrm>
                <a:off x="548640" y="1417320"/>
                <a:ext cx="11091672" cy="868680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2286000" tIns="73152" rIns="228600" bIns="73152" rtlCol="0" anchor="ctr">
                <a:noAutofit/>
              </a:bodyPr>
              <a:lstStyle/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ស្វ៊ីត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(aₙ)</a:t>
                </a: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កំណត់ដោយ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a₁=0 , a₂=3 , aₙ₊₂=4aₙ₊₁−3aₙ</a:t>
                </a: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។ កំណត់តួទី </a:t>
                </a:r>
                <a:r>
                  <a:rPr lang="km-KH" sz="20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n</a:t>
                </a:r>
                <a:r>
                  <a:rPr lang="km-KH" sz="20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។</a:t>
                </a:r>
                <a:endParaRPr lang="en-US" sz="2000" dirty="0"/>
              </a:p>
            </p:txBody>
          </p:sp>
        </mc:Fallback>
      </mc:AlternateContent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600200"/>
            <a:ext cx="502920" cy="502920"/>
          </a:xfrm>
          <a:prstGeom prst="rect">
            <a:avLst/>
          </a:prstGeom>
        </p:spPr>
      </p:pic>
      <p:sp>
        <p:nvSpPr>
          <p:cNvPr id="5" name="Shape 5"/>
          <p:cNvSpPr/>
          <p:nvPr/>
        </p:nvSpPr>
        <p:spPr>
          <a:xfrm>
            <a:off x="1298448" y="1641348"/>
            <a:ext cx="1554480" cy="420624"/>
          </a:xfrm>
          <a:prstGeom prst="roundRect">
            <a:avLst>
              <a:gd name="adj" fmla="val 50000"/>
            </a:avLst>
          </a:prstGeom>
          <a:solidFill>
            <a:srgbClr val="0F5174"/>
          </a:solidFill>
          <a:ln>
            <a:noFill/>
          </a:ln>
        </p:spPr>
        <p:txBody>
          <a:bodyPr wrap="square" lIns="73152" tIns="18288" rIns="73152" bIns="18288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600" b="1" dirty="0">
                <a:solidFill>
                  <a:srgbClr val="FFFFFF"/>
                </a:solidFill>
                <a:latin typeface="Kh Battambang"/>
                <a:cs typeface="Kh Battambang"/>
              </a:rPr>
              <a:t>ប្រតិបត្តិ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hape 6"/>
              <p:cNvSpPr txBox="1"/>
              <p:nvPr/>
            </p:nvSpPr>
            <p:spPr>
              <a:xfrm>
                <a:off x="548640" y="2468880"/>
                <a:ext cx="7315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900" b="1" dirty="0">
                    <a:solidFill>
                      <a:srgbClr val="8A6200"/>
                    </a:solidFill>
                    <a:latin typeface="Kh Battambang"/>
                    <a:cs typeface="Kh Battambang"/>
                  </a:rPr>
                  <a:t>ដោះស្រាយដោយគន្លឹះរហ័ស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=���</m:t>
                    </m:r>
                    <m:sSup>
                      <m:sSup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+���</m:t>
                    </m:r>
                    <m:sSup>
                      <m:sSup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p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sz="1900" dirty="0"/>
              </a:p>
            </p:txBody>
          </p:sp>
        </mc:Choice>
        <mc:Fallback xmlns="">
          <p:sp>
            <p:nvSpPr>
              <p:cNvPr id="6" name="Shape 6"/>
              <p:cNvSpPr txBox="1"/>
              <p:nvPr/>
            </p:nvSpPr>
            <p:spPr>
              <a:xfrm>
                <a:off x="548640" y="2468880"/>
                <a:ext cx="7315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900" b="1" dirty="0">
                    <a:solidFill>
                      <a:srgbClr val="8A6200"/>
                    </a:solidFill>
                    <a:latin typeface="Kh Battambang"/>
                    <a:cs typeface="Kh Battambang"/>
                  </a:rPr>
                  <a:t>ដោះស្រាយដោយគន្លឹះរហ័ស </a:t>
                </a:r>
                <a:r>
                  <a:rPr lang="km-KH" sz="19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aₙ=Aαⁿ+Bβⁿ</a:t>
                </a:r>
                <a:endParaRPr lang="en-US" sz="19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Shape 7"/>
              <p:cNvSpPr txBox="1"/>
              <p:nvPr/>
            </p:nvSpPr>
            <p:spPr>
              <a:xfrm>
                <a:off x="822960" y="3063240"/>
                <a:ext cx="6858000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សមីការសម្គាល់៖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−4���+3=0</m:t>
                    </m:r>
                  </m:oMath>
                </a14:m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⇒ </a:t>
                </a:r>
                <a14:m>
                  <m:oMath xmlns:m="http://schemas.openxmlformats.org/officeDocument/2006/math"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=1 , ���=3</m:t>
                    </m:r>
                  </m:oMath>
                </a14:m>
                <a:endParaRPr lang="en-US" sz="1900" dirty="0"/>
              </a:p>
            </p:txBody>
          </p:sp>
        </mc:Choice>
        <mc:Fallback xmlns="">
          <p:sp>
            <p:nvSpPr>
              <p:cNvPr id="7" name="Shape 7"/>
              <p:cNvSpPr txBox="1"/>
              <p:nvPr/>
            </p:nvSpPr>
            <p:spPr>
              <a:xfrm>
                <a:off x="822960" y="3063240"/>
                <a:ext cx="6858000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សមីការសម្គាល់៖ </a:t>
                </a:r>
                <a:r>
                  <a:rPr lang="km-KH" sz="19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x²−4x+3=0</a:t>
                </a: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⇒ </a:t>
                </a:r>
                <a:r>
                  <a:rPr lang="km-KH" sz="19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x=1 , x=3</a:t>
                </a:r>
                <a:endParaRPr lang="en-US" sz="19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Shape 8"/>
              <p:cNvSpPr txBox="1"/>
              <p:nvPr/>
            </p:nvSpPr>
            <p:spPr>
              <a:xfrm>
                <a:off x="822960" y="3840480"/>
                <a:ext cx="6858000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9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=���·</m:t>
                      </m:r>
                      <m:sSup>
                        <m:sSupPr>
                          <m:ctrlP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9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+���·</m:t>
                      </m:r>
                      <m:sSup>
                        <m:sSupPr>
                          <m:ctrlP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9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=���+���·</m:t>
                      </m:r>
                      <m:sSup>
                        <m:sSupPr>
                          <m:ctrlP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US" sz="19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sz="1900" dirty="0"/>
              </a:p>
            </p:txBody>
          </p:sp>
        </mc:Choice>
        <mc:Fallback xmlns="">
          <p:sp>
            <p:nvSpPr>
              <p:cNvPr id="8" name="Shape 8"/>
              <p:cNvSpPr txBox="1"/>
              <p:nvPr/>
            </p:nvSpPr>
            <p:spPr>
              <a:xfrm>
                <a:off x="822960" y="3840480"/>
                <a:ext cx="6858000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9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aₙ=A·1ⁿ+B·3ⁿ=A+B·3ⁿ</a:t>
                </a:r>
                <a:endParaRPr lang="en-US" sz="19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Shape 9"/>
              <p:cNvSpPr txBox="1"/>
              <p:nvPr/>
            </p:nvSpPr>
            <p:spPr>
              <a:xfrm>
                <a:off x="822960" y="4617720"/>
                <a:ext cx="6858000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sz="1900" i="1" dirty="0">
                                <a:solidFill>
                                  <a:srgbClr val="1F293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sz="1900" i="1" dirty="0">
                                <a:solidFill>
                                  <a:srgbClr val="1F293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1900" i="1" dirty="0">
                                <a:solidFill>
                                  <a:srgbClr val="1F2937"/>
                                </a:solidFill>
                                <a:latin typeface="Cambria Math" panose="02040503050406030204" pitchFamily="18" charset="0"/>
                              </a:rPr>
                              <m:t>+3���=0</m:t>
                            </m:r>
                          </m:e>
                          <m:e>
                            <m:r>
                              <a:rPr lang="en-US" sz="1900" i="1" dirty="0">
                                <a:solidFill>
                                  <a:srgbClr val="1F293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en-US" sz="1900" i="1" dirty="0">
                                <a:solidFill>
                                  <a:srgbClr val="1F2937"/>
                                </a:solidFill>
                                <a:latin typeface="Cambria Math" panose="02040503050406030204" pitchFamily="18" charset="0"/>
                              </a:rPr>
                              <m:t>+9���=3</m:t>
                            </m:r>
                          </m:e>
                        </m:eqArr>
                      </m:e>
                    </m:d>
                  </m:oMath>
                </a14:m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 ⇒  </a:t>
                </a:r>
                <a14:m>
                  <m:oMath xmlns:m="http://schemas.openxmlformats.org/officeDocument/2006/math"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9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 , ���=−</m:t>
                    </m:r>
                    <m:f>
                      <m:fPr>
                        <m:ctrlP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sz="19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1900" dirty="0"/>
              </a:p>
            </p:txBody>
          </p:sp>
        </mc:Choice>
        <mc:Fallback xmlns="">
          <p:sp>
            <p:nvSpPr>
              <p:cNvPr id="9" name="Shape 9"/>
              <p:cNvSpPr txBox="1"/>
              <p:nvPr/>
            </p:nvSpPr>
            <p:spPr>
              <a:xfrm>
                <a:off x="822960" y="4617720"/>
                <a:ext cx="6858000" cy="7315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9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{ A+3B=0 ; A+9B=3</a:t>
                </a:r>
                <a:r>
                  <a:rPr lang="km-KH" sz="19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 ⇒  </a:t>
                </a:r>
                <a:r>
                  <a:rPr lang="km-KH" sz="19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B=1/2 , A=−3/2</a:t>
                </a:r>
                <a:endParaRPr lang="en-US" sz="19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Shape 10"/>
              <p:cNvSpPr/>
              <p:nvPr/>
            </p:nvSpPr>
            <p:spPr>
              <a:xfrm>
                <a:off x="822960" y="5440680"/>
                <a:ext cx="6583680" cy="914400"/>
              </a:xfrm>
              <a:prstGeom prst="roundRect">
                <a:avLst>
                  <a:gd name="adj" fmla="val 9000"/>
                </a:avLst>
              </a:prstGeom>
              <a:solidFill>
                <a:srgbClr val="E8F5EC"/>
              </a:solidFill>
              <a:ln w="19050">
                <a:solidFill>
                  <a:srgbClr val="9FD3B2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777240" tIns="54864" rIns="182880" bIns="54864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2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ចម្លើយ៖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sz="2400" b="1" i="1" dirty="0">
                        <a:solidFill>
                          <a:srgbClr val="2E7D4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1" i="1" dirty="0">
                        <a:solidFill>
                          <a:srgbClr val="2E7D4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sz="2400" b="1" i="1" dirty="0">
                            <a:solidFill>
                              <a:srgbClr val="2E7D4F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</m:sSup>
                    <m:r>
                      <a:rPr lang="en-US" sz="2400" b="1" i="1" dirty="0">
                        <a:solidFill>
                          <a:srgbClr val="2E7D4F"/>
                        </a:solidFill>
                        <a:latin typeface="Cambria Math" panose="02040503050406030204" pitchFamily="18" charset="0"/>
                      </a:rPr>
                      <m:t>−3)</m:t>
                    </m:r>
                  </m:oMath>
                </a14:m>
                <a:endParaRPr lang="en-US" sz="2200" dirty="0"/>
              </a:p>
            </p:txBody>
          </p:sp>
        </mc:Choice>
        <mc:Fallback xmlns="">
          <p:sp>
            <p:nvSpPr>
              <p:cNvPr id="10" name="Shape 10"/>
              <p:cNvSpPr/>
              <p:nvPr/>
            </p:nvSpPr>
            <p:spPr>
              <a:xfrm>
                <a:off x="822960" y="5440680"/>
                <a:ext cx="6583680" cy="914400"/>
              </a:xfrm>
              <a:prstGeom prst="roundRect">
                <a:avLst>
                  <a:gd name="adj" fmla="val 9000"/>
                </a:avLst>
              </a:prstGeom>
              <a:solidFill>
                <a:srgbClr val="E8F5EC"/>
              </a:solidFill>
              <a:ln w="19050">
                <a:solidFill>
                  <a:srgbClr val="9FD3B2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777240" tIns="54864" rIns="182880" bIns="54864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22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ចម្លើយ៖  </a:t>
                </a:r>
                <a:r>
                  <a:rPr lang="km-KH" sz="2400" b="1" i="1" dirty="0">
                    <a:solidFill>
                      <a:srgbClr val="2E7D4F"/>
                    </a:solidFill>
                    <a:latin typeface="Cambria Math"/>
                    <a:cs typeface="Cambria Math"/>
                  </a:rPr>
                  <a:t>aₙ=1/2(3ⁿ−3)</a:t>
                </a:r>
                <a:endParaRPr lang="en-US" sz="2200" dirty="0"/>
              </a:p>
            </p:txBody>
          </p:sp>
        </mc:Fallback>
      </mc:AlternateContent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5669280"/>
            <a:ext cx="457200" cy="457200"/>
          </a:xfrm>
          <a:prstGeom prst="rect">
            <a:avLst/>
          </a:prstGeom>
        </p:spPr>
      </p:pic>
      <p:sp>
        <p:nvSpPr>
          <p:cNvPr id="12" name="Shape 12"/>
          <p:cNvSpPr/>
          <p:nvPr/>
        </p:nvSpPr>
        <p:spPr>
          <a:xfrm>
            <a:off x="8001000" y="2514600"/>
            <a:ext cx="3639312" cy="3840480"/>
          </a:xfrm>
          <a:prstGeom prst="roundRect">
            <a:avLst>
              <a:gd name="adj" fmla="val 9000"/>
            </a:avLst>
          </a:prstGeom>
          <a:solidFill>
            <a:srgbClr val="EAF2F8"/>
          </a:solidFill>
          <a:ln w="12700">
            <a:solidFill>
              <a:srgbClr val="A9C7DE"/>
            </a:solidFill>
          </a:ln>
          <a:effectLst>
            <a:outerShdw blurRad="88900" dist="25400" dir="5400000" algn="t" rotWithShape="0">
              <a:srgbClr val="0F2A3D">
                <a:alpha val="20000"/>
              </a:srgbClr>
            </a:outerShdw>
          </a:effectLst>
        </p:spPr>
        <p:txBody>
          <a:bodyPr wrap="square" lIns="274320" tIns="182880" rIns="182880" bIns="137160" rtlCol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km-KH" sz="2000" b="1" dirty="0">
                <a:solidFill>
                  <a:srgbClr val="0F5174"/>
                </a:solidFill>
                <a:latin typeface="Kh Battambang"/>
                <a:cs typeface="Kh Battambang"/>
              </a:rPr>
              <a:t>ផ្ទៀងផ្ទាត់</a:t>
            </a:r>
            <a:endParaRPr lang="en-US" sz="2000" dirty="0"/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700" dirty="0">
                <a:solidFill>
                  <a:srgbClr val="1F2937"/>
                </a:solidFill>
                <a:latin typeface="Kh Battambang"/>
                <a:cs typeface="Kh Battambang"/>
              </a:rPr>
              <a:t>n = 1 ៖  (3 − 3)/2 = 0 ✔</a:t>
            </a:r>
            <a:endParaRPr lang="en-US" sz="1700" dirty="0"/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700" dirty="0">
                <a:solidFill>
                  <a:srgbClr val="1F2937"/>
                </a:solidFill>
                <a:latin typeface="Kh Battambang"/>
                <a:cs typeface="Kh Battambang"/>
              </a:rPr>
              <a:t>n = 2 ៖  (9 − 3)/2 = 3 ✔</a:t>
            </a:r>
            <a:endParaRPr lang="en-US" sz="1700" dirty="0"/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700" dirty="0">
                <a:solidFill>
                  <a:srgbClr val="1F2937"/>
                </a:solidFill>
                <a:latin typeface="Kh Battambang"/>
                <a:cs typeface="Kh Battambang"/>
              </a:rPr>
              <a:t>n = 3 ៖  4·3 − 3·0 = 12</a:t>
            </a:r>
            <a:endParaRPr lang="en-US" sz="1700" dirty="0"/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700" dirty="0">
                <a:solidFill>
                  <a:srgbClr val="1F2937"/>
                </a:solidFill>
                <a:latin typeface="Kh Battambang"/>
                <a:cs typeface="Kh Battambang"/>
              </a:rPr>
              <a:t>           (27 − 3)/2 = 12 ✔</a:t>
            </a:r>
            <a:endParaRPr lang="en-US" sz="1700" dirty="0"/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6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m-KH" dirty="0"/>
              <a:t>សេចក្តីសង្ខេប និងគន្លឹះសំខាន់ៗ</a:t>
            </a:r>
          </a:p>
        </p:txBody>
      </p:sp>
      <p:sp>
        <p:nvSpPr>
          <p:cNvPr id="3" name="Shape 3"/>
          <p:cNvSpPr txBox="1"/>
          <p:nvPr/>
        </p:nvSpPr>
        <p:spPr>
          <a:xfrm>
            <a:off x="1325880" y="1463040"/>
            <a:ext cx="35204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600" b="1" dirty="0">
                <a:solidFill>
                  <a:srgbClr val="5B6B7A"/>
                </a:solidFill>
                <a:latin typeface="Kh Battambang"/>
                <a:cs typeface="Kh Battambang"/>
              </a:rPr>
              <a:t>ទម្រង់</a:t>
            </a:r>
            <a:endParaRPr lang="en-US" sz="1600" dirty="0"/>
          </a:p>
        </p:txBody>
      </p:sp>
      <p:sp>
        <p:nvSpPr>
          <p:cNvPr id="4" name="Shape 4"/>
          <p:cNvSpPr txBox="1"/>
          <p:nvPr/>
        </p:nvSpPr>
        <p:spPr>
          <a:xfrm>
            <a:off x="4937760" y="1463040"/>
            <a:ext cx="28803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600" b="1" dirty="0">
                <a:solidFill>
                  <a:srgbClr val="5B6B7A"/>
                </a:solidFill>
                <a:latin typeface="Kh Battambang"/>
                <a:cs typeface="Kh Battambang"/>
              </a:rPr>
              <a:t>វិធីសាស្ត្រ</a:t>
            </a:r>
            <a:endParaRPr lang="en-US" sz="1600" dirty="0"/>
          </a:p>
        </p:txBody>
      </p:sp>
      <p:sp>
        <p:nvSpPr>
          <p:cNvPr id="5" name="Shape 5"/>
          <p:cNvSpPr txBox="1"/>
          <p:nvPr/>
        </p:nvSpPr>
        <p:spPr>
          <a:xfrm>
            <a:off x="7909560" y="1463040"/>
            <a:ext cx="373075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600" b="1" dirty="0">
                <a:solidFill>
                  <a:srgbClr val="5B6B7A"/>
                </a:solidFill>
                <a:latin typeface="Kh Battambang"/>
                <a:cs typeface="Kh Battambang"/>
              </a:rPr>
              <a:t>លទ្ធផល / រូបមន្តគន្លឹះ</a:t>
            </a:r>
            <a:endParaRPr lang="en-US" sz="1600" dirty="0"/>
          </a:p>
        </p:txBody>
      </p:sp>
      <p:sp>
        <p:nvSpPr>
          <p:cNvPr id="6" name="Shape 6"/>
          <p:cNvSpPr/>
          <p:nvPr/>
        </p:nvSpPr>
        <p:spPr>
          <a:xfrm>
            <a:off x="548640" y="1920240"/>
            <a:ext cx="11091672" cy="868680"/>
          </a:xfrm>
          <a:prstGeom prst="roundRect">
            <a:avLst>
              <a:gd name="adj" fmla="val 9000"/>
            </a:avLst>
          </a:prstGeom>
          <a:solidFill>
            <a:srgbClr val="EAF2F8"/>
          </a:solidFill>
          <a:ln w="12700">
            <a:solidFill>
              <a:srgbClr val="EAF2F8"/>
            </a:solidFill>
          </a:ln>
        </p:spPr>
        <p:txBody>
          <a:bodyPr wrap="square" lIns="182880" tIns="109728" rIns="182880" bIns="109728" rtlCol="0" anchor="t">
            <a:noAutofit/>
          </a:bodyPr>
          <a:lstStyle/>
          <a:p>
            <a:endParaRPr lang="en-US"/>
          </a:p>
        </p:txBody>
      </p:sp>
      <p:sp>
        <p:nvSpPr>
          <p:cNvPr id="7" name="Shape 7"/>
          <p:cNvSpPr/>
          <p:nvPr/>
        </p:nvSpPr>
        <p:spPr>
          <a:xfrm>
            <a:off x="685800" y="2075688"/>
            <a:ext cx="548640" cy="548640"/>
          </a:xfrm>
          <a:prstGeom prst="ellipse">
            <a:avLst/>
          </a:prstGeom>
          <a:solidFill>
            <a:srgbClr val="0F517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800" b="1" dirty="0">
                <a:solidFill>
                  <a:srgbClr val="FFFFFF"/>
                </a:solidFill>
                <a:latin typeface="Kh Muol"/>
                <a:cs typeface="Kh Muol"/>
              </a:rPr>
              <a:t>១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Shape 8"/>
              <p:cNvSpPr txBox="1"/>
              <p:nvPr/>
            </p:nvSpPr>
            <p:spPr>
              <a:xfrm>
                <a:off x="1325880" y="1965960"/>
                <a:ext cx="3520440" cy="777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8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8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=���</m:t>
                      </m:r>
                      <m:sSub>
                        <m:sSubPr>
                          <m:ctrlPr>
                            <a:rPr lang="en-US" sz="18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8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+���(���)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8" name="Shape 8"/>
              <p:cNvSpPr txBox="1"/>
              <p:nvPr/>
            </p:nvSpPr>
            <p:spPr>
              <a:xfrm>
                <a:off x="1325880" y="1965960"/>
                <a:ext cx="3520440" cy="777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aₙ₊₁=paₙ+f(n)</a:t>
                </a:r>
                <a:endParaRPr lang="en-US" sz="18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Shape 9"/>
              <p:cNvSpPr txBox="1"/>
              <p:nvPr/>
            </p:nvSpPr>
            <p:spPr>
              <a:xfrm>
                <a:off x="4937760" y="1965960"/>
                <a:ext cx="2880360" cy="777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រកស្វ៊ីតជំនួយ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9" name="Shape 9"/>
              <p:cNvSpPr txBox="1"/>
              <p:nvPr/>
            </p:nvSpPr>
            <p:spPr>
              <a:xfrm>
                <a:off x="4937760" y="1965960"/>
                <a:ext cx="2880360" cy="777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រកស្វ៊ីតជំនួយ </a:t>
                </a:r>
                <a:r>
                  <a:rPr lang="km-KH" sz="18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rₙ</a:t>
                </a:r>
                <a:endParaRPr lang="en-US" sz="18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Shape 10"/>
              <p:cNvSpPr txBox="1"/>
              <p:nvPr/>
            </p:nvSpPr>
            <p:spPr>
              <a:xfrm>
                <a:off x="7909560" y="1965960"/>
                <a:ext cx="3730752" cy="777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ជាស្វ៊ីតធរណីមាត្រ</a:t>
                </a:r>
                <a:endParaRPr lang="en-US" sz="1800" dirty="0"/>
              </a:p>
            </p:txBody>
          </p:sp>
        </mc:Choice>
        <mc:Fallback xmlns="">
          <p:sp>
            <p:nvSpPr>
              <p:cNvPr id="10" name="Shape 10"/>
              <p:cNvSpPr txBox="1"/>
              <p:nvPr/>
            </p:nvSpPr>
            <p:spPr>
              <a:xfrm>
                <a:off x="7909560" y="1965960"/>
                <a:ext cx="3730752" cy="777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Vₙ=aₙ−rₙ</a:t>
                </a: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ជាស្វ៊ីតធរណីមាត្រ</a:t>
                </a:r>
                <a:endParaRPr lang="en-US" sz="1800" dirty="0"/>
              </a:p>
            </p:txBody>
          </p:sp>
        </mc:Fallback>
      </mc:AlternateContent>
      <p:sp>
        <p:nvSpPr>
          <p:cNvPr id="11" name="Shape 11"/>
          <p:cNvSpPr/>
          <p:nvPr/>
        </p:nvSpPr>
        <p:spPr>
          <a:xfrm>
            <a:off x="548640" y="2926080"/>
            <a:ext cx="11091672" cy="868680"/>
          </a:xfrm>
          <a:prstGeom prst="roundRect">
            <a:avLst>
              <a:gd name="adj" fmla="val 9000"/>
            </a:avLst>
          </a:prstGeom>
          <a:solidFill>
            <a:srgbClr val="FCEDEE"/>
          </a:solidFill>
          <a:ln w="12700">
            <a:solidFill>
              <a:srgbClr val="FCEDEE"/>
            </a:solidFill>
          </a:ln>
        </p:spPr>
        <p:txBody>
          <a:bodyPr wrap="square" lIns="182880" tIns="109728" rIns="182880" bIns="109728" rtlCol="0" anchor="t">
            <a:noAutofit/>
          </a:bodyPr>
          <a:lstStyle/>
          <a:p>
            <a:endParaRPr lang="en-US"/>
          </a:p>
        </p:txBody>
      </p:sp>
      <p:sp>
        <p:nvSpPr>
          <p:cNvPr id="12" name="Shape 12"/>
          <p:cNvSpPr/>
          <p:nvPr/>
        </p:nvSpPr>
        <p:spPr>
          <a:xfrm>
            <a:off x="685800" y="3081528"/>
            <a:ext cx="548640" cy="548640"/>
          </a:xfrm>
          <a:prstGeom prst="ellipse">
            <a:avLst/>
          </a:prstGeom>
          <a:solidFill>
            <a:srgbClr val="C0272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800" b="1" dirty="0">
                <a:solidFill>
                  <a:srgbClr val="FFFFFF"/>
                </a:solidFill>
                <a:latin typeface="Kh Muol"/>
                <a:cs typeface="Kh Muol"/>
              </a:rPr>
              <a:t>២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Shape 13"/>
              <p:cNvSpPr txBox="1"/>
              <p:nvPr/>
            </p:nvSpPr>
            <p:spPr>
              <a:xfrm>
                <a:off x="1325880" y="2971800"/>
                <a:ext cx="3520440" cy="777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គេឲ្យ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13" name="Shape 13"/>
              <p:cNvSpPr txBox="1"/>
              <p:nvPr/>
            </p:nvSpPr>
            <p:spPr>
              <a:xfrm>
                <a:off x="1325880" y="2971800"/>
                <a:ext cx="3520440" cy="777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គេឲ្យ </a:t>
                </a:r>
                <a:r>
                  <a:rPr lang="km-KH" sz="18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Sₙ</a:t>
                </a:r>
                <a:endParaRPr lang="en-US" sz="18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Shape 14"/>
              <p:cNvSpPr txBox="1"/>
              <p:nvPr/>
            </p:nvSpPr>
            <p:spPr>
              <a:xfrm>
                <a:off x="4937760" y="2971800"/>
                <a:ext cx="2880360" cy="777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ប្រើផលសង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14" name="Shape 14"/>
              <p:cNvSpPr txBox="1"/>
              <p:nvPr/>
            </p:nvSpPr>
            <p:spPr>
              <a:xfrm>
                <a:off x="4937760" y="2971800"/>
                <a:ext cx="2880360" cy="777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ប្រើផលសង </a:t>
                </a:r>
                <a:r>
                  <a:rPr lang="km-KH" sz="18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Sₙ−Sₙ₋₁</a:t>
                </a:r>
                <a:endParaRPr lang="en-US" sz="18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Shape 15"/>
              <p:cNvSpPr txBox="1"/>
              <p:nvPr/>
            </p:nvSpPr>
            <p:spPr>
              <a:xfrm>
                <a:off x="7909560" y="2971800"/>
                <a:ext cx="3730752" cy="777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8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8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8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8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18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 (���≥2) , </m:t>
                      </m:r>
                      <m:sSub>
                        <m:sSubPr>
                          <m:ctrlPr>
                            <a:rPr lang="en-US" sz="18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5" name="Shape 15"/>
              <p:cNvSpPr txBox="1"/>
              <p:nvPr/>
            </p:nvSpPr>
            <p:spPr>
              <a:xfrm>
                <a:off x="7909560" y="2971800"/>
                <a:ext cx="3730752" cy="777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aₙ=Sₙ−Sₙ₋₁ (n≥2) , a₁=S₁</a:t>
                </a:r>
                <a:endParaRPr lang="en-US" sz="1800" dirty="0"/>
              </a:p>
            </p:txBody>
          </p:sp>
        </mc:Fallback>
      </mc:AlternateContent>
      <p:sp>
        <p:nvSpPr>
          <p:cNvPr id="16" name="Shape 16"/>
          <p:cNvSpPr/>
          <p:nvPr/>
        </p:nvSpPr>
        <p:spPr>
          <a:xfrm>
            <a:off x="548640" y="3931920"/>
            <a:ext cx="11091672" cy="868680"/>
          </a:xfrm>
          <a:prstGeom prst="roundRect">
            <a:avLst>
              <a:gd name="adj" fmla="val 9000"/>
            </a:avLst>
          </a:prstGeom>
          <a:solidFill>
            <a:srgbClr val="E8F5EC"/>
          </a:solidFill>
          <a:ln w="12700">
            <a:solidFill>
              <a:srgbClr val="E8F5EC"/>
            </a:solidFill>
          </a:ln>
        </p:spPr>
        <p:txBody>
          <a:bodyPr wrap="square" lIns="182880" tIns="109728" rIns="182880" bIns="109728" rtlCol="0" anchor="t">
            <a:noAutofit/>
          </a:bodyPr>
          <a:lstStyle/>
          <a:p>
            <a:endParaRPr lang="en-US"/>
          </a:p>
        </p:txBody>
      </p:sp>
      <p:sp>
        <p:nvSpPr>
          <p:cNvPr id="17" name="Shape 17"/>
          <p:cNvSpPr/>
          <p:nvPr/>
        </p:nvSpPr>
        <p:spPr>
          <a:xfrm>
            <a:off x="685800" y="4087368"/>
            <a:ext cx="548640" cy="54864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800" b="1" dirty="0">
                <a:solidFill>
                  <a:srgbClr val="FFFFFF"/>
                </a:solidFill>
                <a:latin typeface="Kh Muol"/>
                <a:cs typeface="Kh Muol"/>
              </a:rPr>
              <a:t>៣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Shape 18"/>
              <p:cNvSpPr txBox="1"/>
              <p:nvPr/>
            </p:nvSpPr>
            <p:spPr>
              <a:xfrm>
                <a:off x="1325880" y="3977640"/>
                <a:ext cx="3520440" cy="777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8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US" sz="18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+���</m:t>
                      </m:r>
                      <m:sSub>
                        <m:sSubPr>
                          <m:ctrlPr>
                            <a:rPr lang="en-US" sz="18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18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8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+���</m:t>
                      </m:r>
                      <m:sSub>
                        <m:sSubPr>
                          <m:ctrlPr>
                            <a:rPr lang="en-US" sz="18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8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8" name="Shape 18"/>
              <p:cNvSpPr txBox="1"/>
              <p:nvPr/>
            </p:nvSpPr>
            <p:spPr>
              <a:xfrm>
                <a:off x="1325880" y="3977640"/>
                <a:ext cx="3520440" cy="777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aₙ₊₂+paₙ₊₁+qaₙ=0</a:t>
                </a:r>
                <a:endParaRPr lang="en-US" sz="18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Shape 19"/>
              <p:cNvSpPr txBox="1"/>
              <p:nvPr/>
            </p:nvSpPr>
            <p:spPr>
              <a:xfrm>
                <a:off x="4937760" y="3977640"/>
                <a:ext cx="2880360" cy="777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សមីការសម្គាល់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+���</m:t>
                    </m:r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+���=0</m:t>
                    </m:r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19" name="Shape 19"/>
              <p:cNvSpPr txBox="1"/>
              <p:nvPr/>
            </p:nvSpPr>
            <p:spPr>
              <a:xfrm>
                <a:off x="4937760" y="3977640"/>
                <a:ext cx="2880360" cy="777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សមីការសម្គាល់ </a:t>
                </a:r>
                <a:r>
                  <a:rPr lang="km-KH" sz="18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x²+px+q=0</a:t>
                </a:r>
                <a:endParaRPr lang="en-US" sz="18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Shape 20"/>
              <p:cNvSpPr txBox="1"/>
              <p:nvPr/>
            </p:nvSpPr>
            <p:spPr>
              <a:xfrm>
                <a:off x="7909560" y="3977640"/>
                <a:ext cx="3730752" cy="777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18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8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=���</m:t>
                      </m:r>
                      <m:sSup>
                        <m:sSupPr>
                          <m:ctrlPr>
                            <a:rPr lang="en-US" sz="18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p>
                          <m:r>
                            <a:rPr lang="en-US" sz="18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sz="1800" i="1" dirty="0">
                          <a:solidFill>
                            <a:srgbClr val="1F2937"/>
                          </a:solidFill>
                          <a:latin typeface="Cambria Math" panose="02040503050406030204" pitchFamily="18" charset="0"/>
                        </a:rPr>
                        <m:t>+���</m:t>
                      </m:r>
                      <m:sSup>
                        <m:sSupPr>
                          <m:ctrlPr>
                            <a:rPr lang="en-US" sz="18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p>
                          <m:r>
                            <a:rPr lang="en-US" sz="1800" i="1" dirty="0">
                              <a:solidFill>
                                <a:srgbClr val="1F2937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20" name="Shape 20"/>
              <p:cNvSpPr txBox="1"/>
              <p:nvPr/>
            </p:nvSpPr>
            <p:spPr>
              <a:xfrm>
                <a:off x="7909560" y="3977640"/>
                <a:ext cx="3730752" cy="777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>
                <a:noAutofit/>
              </a:bodyPr>
              <a:lstStyle/>
              <a:p>
                <a:pPr algn="l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aₙ=Aαⁿ+Bβⁿ</a:t>
                </a:r>
                <a:endParaRPr lang="en-US" sz="18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Shape 21"/>
              <p:cNvSpPr/>
              <p:nvPr/>
            </p:nvSpPr>
            <p:spPr>
              <a:xfrm>
                <a:off x="548640" y="5029200"/>
                <a:ext cx="11091672" cy="1325880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9050">
                <a:solidFill>
                  <a:srgbClr val="EBB3B6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868680" tIns="109728" rIns="182880" bIns="91440" rtlCol="0" anchor="ctr">
                <a:noAutofit/>
              </a:bodyPr>
              <a:lstStyle/>
              <a:p>
                <a:pPr algn="l">
                  <a:lnSpc>
                    <a:spcPct val="115000"/>
                  </a:lnSpc>
                  <a:spcBef>
                    <a:spcPts val="0"/>
                  </a:spcBef>
                  <a:spcAft>
                    <a:spcPts val="400"/>
                  </a:spcAft>
                  <a:buNone/>
                </a:pPr>
                <a:r>
                  <a:rPr lang="km-KH" sz="1800" b="1" dirty="0">
                    <a:solidFill>
                      <a:srgbClr val="C0272D"/>
                    </a:solidFill>
                    <a:latin typeface="Kh Battambang"/>
                    <a:cs typeface="Kh Battambang"/>
                  </a:rPr>
                  <a:t>កំហុសដែលច្រើនជួបប្រទះ</a:t>
                </a:r>
                <a:endParaRPr lang="en-US" sz="1800" dirty="0"/>
              </a:p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7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• ភ្លេចផ្ទៀងផ្ទាត់ករណី </a:t>
                </a:r>
                <a14:m>
                  <m:oMath xmlns:m="http://schemas.openxmlformats.org/officeDocument/2006/math">
                    <m:r>
                      <a:rPr lang="en-US" sz="17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7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km-KH" sz="17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    • គណនា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7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7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7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m-KH" sz="17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ខុសលិបិក្រម     • ច្រឡំសញ្ញា </a:t>
                </a:r>
                <a14:m>
                  <m:oMath xmlns:m="http://schemas.openxmlformats.org/officeDocument/2006/math">
                    <m:r>
                      <a:rPr lang="en-US" sz="17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7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 , ���</m:t>
                    </m:r>
                  </m:oMath>
                </a14:m>
                <a:r>
                  <a:rPr lang="km-KH" sz="17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ក្នុងសមីការសម្គាល់</a:t>
                </a:r>
                <a:endParaRPr lang="en-US" sz="1700" dirty="0"/>
              </a:p>
            </p:txBody>
          </p:sp>
        </mc:Choice>
        <mc:Fallback xmlns="">
          <p:sp>
            <p:nvSpPr>
              <p:cNvPr id="21" name="Shape 21"/>
              <p:cNvSpPr/>
              <p:nvPr/>
            </p:nvSpPr>
            <p:spPr>
              <a:xfrm>
                <a:off x="548640" y="5029200"/>
                <a:ext cx="11091672" cy="1325880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9050">
                <a:solidFill>
                  <a:srgbClr val="EBB3B6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868680" tIns="109728" rIns="182880" bIns="91440" rtlCol="0" anchor="ctr">
                <a:noAutofit/>
              </a:bodyPr>
              <a:lstStyle/>
              <a:p>
                <a:pPr algn="l">
                  <a:lnSpc>
                    <a:spcPct val="115000"/>
                  </a:lnSpc>
                  <a:spcBef>
                    <a:spcPts val="0"/>
                  </a:spcBef>
                  <a:spcAft>
                    <a:spcPts val="400"/>
                  </a:spcAft>
                  <a:buNone/>
                </a:pPr>
                <a:r>
                  <a:rPr lang="km-KH" sz="1800" b="1" dirty="0">
                    <a:solidFill>
                      <a:srgbClr val="C0272D"/>
                    </a:solidFill>
                    <a:latin typeface="Kh Battambang"/>
                    <a:cs typeface="Kh Battambang"/>
                  </a:rPr>
                  <a:t>កំហុសដែលច្រើនជួបប្រទះ</a:t>
                </a:r>
                <a:endParaRPr lang="en-US" sz="1800" dirty="0"/>
              </a:p>
              <a:p>
                <a:pPr algn="l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7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• ភ្លេចផ្ទៀងផ្ទាត់ករណី </a:t>
                </a:r>
                <a:r>
                  <a:rPr lang="km-KH" sz="17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n=1</a:t>
                </a:r>
                <a:r>
                  <a:rPr lang="km-KH" sz="17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    • គណនា </a:t>
                </a:r>
                <a:r>
                  <a:rPr lang="km-KH" sz="17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b₁</a:t>
                </a:r>
                <a:r>
                  <a:rPr lang="km-KH" sz="17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ខុសលិបិក្រម     • ច្រឡំសញ្ញា </a:t>
                </a:r>
                <a:r>
                  <a:rPr lang="km-KH" sz="17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p , q</a:t>
                </a:r>
                <a:r>
                  <a:rPr lang="km-KH" sz="17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ក្នុងសមីការសម្គាល់</a:t>
                </a:r>
                <a:endParaRPr lang="en-US" sz="1700" dirty="0"/>
              </a:p>
            </p:txBody>
          </p:sp>
        </mc:Fallback>
      </mc:AlternateContent>
      <p:pic>
        <p:nvPicPr>
          <p:cNvPr id="22" name="Picture 2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5413248"/>
            <a:ext cx="548640" cy="54864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m-KH" dirty="0"/>
              <a:t>លំហាត់អនុវត្តន៍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hape 3"/>
              <p:cNvSpPr/>
              <p:nvPr/>
            </p:nvSpPr>
            <p:spPr>
              <a:xfrm>
                <a:off x="548640" y="1463040"/>
                <a:ext cx="5449824" cy="2148840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868680" tIns="137160" rIns="182880" bIns="91440" rtlCol="0" anchor="ctr">
                <a:noAutofit/>
              </a:bodyPr>
              <a:lstStyle/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ស្វ៊ីត </a:t>
                </a:r>
                <a14:m>
                  <m:oMath xmlns:m="http://schemas.openxmlformats.org/officeDocument/2006/math"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កំណត់ដោយ៖</a:t>
                </a:r>
                <a:endParaRPr lang="en-US" sz="1800" dirty="0"/>
              </a:p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ក.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=3 , 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=2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endParaRPr lang="en-US" sz="1800" dirty="0"/>
              </a:p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ខ.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=5 , 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=3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−2���</m:t>
                    </m:r>
                  </m:oMath>
                </a14:m>
                <a:endParaRPr lang="en-US" sz="1800" dirty="0"/>
              </a:p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កំណត់តួទី ៤ នៃស្វ៊ីតនេះ ។</a:t>
                </a:r>
                <a:endParaRPr lang="en-US" sz="1800" dirty="0"/>
              </a:p>
            </p:txBody>
          </p:sp>
        </mc:Choice>
        <mc:Fallback xmlns="">
          <p:sp>
            <p:nvSpPr>
              <p:cNvPr id="3" name="Shape 3"/>
              <p:cNvSpPr/>
              <p:nvPr/>
            </p:nvSpPr>
            <p:spPr>
              <a:xfrm>
                <a:off x="548640" y="1463040"/>
                <a:ext cx="5449824" cy="2148840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868680" tIns="137160" rIns="182880" bIns="91440" rtlCol="0" anchor="ctr">
                <a:noAutofit/>
              </a:bodyPr>
              <a:lstStyle/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ស្វ៊ីត </a:t>
                </a:r>
                <a:r>
                  <a:rPr lang="km-KH" sz="18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(aₙ)</a:t>
                </a: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កំណត់ដោយ៖</a:t>
                </a:r>
                <a:endParaRPr lang="en-US" sz="1800" dirty="0"/>
              </a:p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ក. </a:t>
                </a:r>
                <a:r>
                  <a:rPr lang="km-KH" sz="18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a₁=3 , aₙ₊₁=2aₙ−4</a:t>
                </a:r>
                <a:endParaRPr lang="en-US" sz="1800" dirty="0"/>
              </a:p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ខ. </a:t>
                </a:r>
                <a:r>
                  <a:rPr lang="km-KH" sz="18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a₁=5 , aₙ₊₁=3aₙ−2n</a:t>
                </a:r>
                <a:endParaRPr lang="en-US" sz="1800" dirty="0"/>
              </a:p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កំណត់តួទី ៤ នៃស្វ៊ីតនេះ ។</a:t>
                </a:r>
                <a:endParaRPr lang="en-US" sz="1800" dirty="0"/>
              </a:p>
            </p:txBody>
          </p:sp>
        </mc:Fallback>
      </mc:AlternateContent>
      <p:sp>
        <p:nvSpPr>
          <p:cNvPr id="4" name="Shape 4"/>
          <p:cNvSpPr/>
          <p:nvPr/>
        </p:nvSpPr>
        <p:spPr>
          <a:xfrm>
            <a:off x="749808" y="1664208"/>
            <a:ext cx="502920" cy="502920"/>
          </a:xfrm>
          <a:prstGeom prst="ellipse">
            <a:avLst/>
          </a:prstGeom>
          <a:solidFill>
            <a:srgbClr val="0F517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800" b="1" dirty="0">
                <a:solidFill>
                  <a:srgbClr val="FFFFFF"/>
                </a:solidFill>
                <a:latin typeface="Kh Battambang"/>
                <a:cs typeface="Kh Battambang"/>
              </a:rPr>
              <a:t>១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Shape 5"/>
              <p:cNvSpPr/>
              <p:nvPr/>
            </p:nvSpPr>
            <p:spPr>
              <a:xfrm>
                <a:off x="6190488" y="1463040"/>
                <a:ext cx="5449824" cy="2148840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868680" tIns="137160" rIns="182880" bIns="91440" rtlCol="0" anchor="ctr">
                <a:noAutofit/>
              </a:bodyPr>
              <a:lstStyle/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ស្វ៊ីត </a:t>
                </a:r>
                <a14:m>
                  <m:oMath xmlns:m="http://schemas.openxmlformats.org/officeDocument/2006/math"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កំណត់ដោយ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=1 , 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US" sz="1800" dirty="0"/>
              </a:p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។</a:t>
                </a:r>
                <a:endParaRPr lang="en-US" sz="1800" dirty="0"/>
              </a:p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កំណត់តួទី ៧ នៃស្វ៊ីតនេះ ។</a:t>
                </a:r>
                <a:endParaRPr lang="en-US" sz="1800" dirty="0"/>
              </a:p>
            </p:txBody>
          </p:sp>
        </mc:Choice>
        <mc:Fallback xmlns="">
          <p:sp>
            <p:nvSpPr>
              <p:cNvPr id="5" name="Shape 5"/>
              <p:cNvSpPr/>
              <p:nvPr/>
            </p:nvSpPr>
            <p:spPr>
              <a:xfrm>
                <a:off x="6190488" y="1463040"/>
                <a:ext cx="5449824" cy="2148840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868680" tIns="137160" rIns="182880" bIns="91440" rtlCol="0" anchor="ctr">
                <a:noAutofit/>
              </a:bodyPr>
              <a:lstStyle/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ស្វ៊ីត </a:t>
                </a:r>
                <a:r>
                  <a:rPr lang="km-KH" sz="18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(aₙ)</a:t>
                </a: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កំណត់ដោយ </a:t>
                </a:r>
                <a:r>
                  <a:rPr lang="km-KH" sz="18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a₁=1 , a₂=2</a:t>
                </a:r>
                <a:endParaRPr lang="en-US" sz="1800" dirty="0"/>
              </a:p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aₙ₊₂=aₙ₊₁+aₙ</a:t>
                </a: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។</a:t>
                </a:r>
                <a:endParaRPr lang="en-US" sz="1800" dirty="0"/>
              </a:p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កំណត់តួទី ៧ នៃស្វ៊ីតនេះ ។</a:t>
                </a:r>
                <a:endParaRPr lang="en-US" sz="1800" dirty="0"/>
              </a:p>
            </p:txBody>
          </p:sp>
        </mc:Fallback>
      </mc:AlternateContent>
      <p:sp>
        <p:nvSpPr>
          <p:cNvPr id="6" name="Shape 6"/>
          <p:cNvSpPr/>
          <p:nvPr/>
        </p:nvSpPr>
        <p:spPr>
          <a:xfrm>
            <a:off x="6391656" y="1664208"/>
            <a:ext cx="502920" cy="502920"/>
          </a:xfrm>
          <a:prstGeom prst="ellipse">
            <a:avLst/>
          </a:prstGeom>
          <a:solidFill>
            <a:srgbClr val="C0272D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800" b="1" dirty="0">
                <a:solidFill>
                  <a:srgbClr val="FFFFFF"/>
                </a:solidFill>
                <a:latin typeface="Kh Battambang"/>
                <a:cs typeface="Kh Battambang"/>
              </a:rPr>
              <a:t>២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Shape 7"/>
              <p:cNvSpPr/>
              <p:nvPr/>
            </p:nvSpPr>
            <p:spPr>
              <a:xfrm>
                <a:off x="548640" y="3794760"/>
                <a:ext cx="5449824" cy="2148840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868680" tIns="137160" rIns="182880" bIns="91440" rtlCol="0" anchor="ctr">
                <a:noAutofit/>
              </a:bodyPr>
              <a:lstStyle/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ស្វ៊ីត </a:t>
                </a:r>
                <a14:m>
                  <m:oMath xmlns:m="http://schemas.openxmlformats.org/officeDocument/2006/math"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កំណត់ដោយ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=1 , 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=���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+���</m:t>
                    </m:r>
                  </m:oMath>
                </a14:m>
                <a:endParaRPr lang="en-US" sz="1800" dirty="0"/>
              </a:p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គណនា </a:t>
                </a:r>
                <a14:m>
                  <m:oMath xmlns:m="http://schemas.openxmlformats.org/officeDocument/2006/math"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និង </a:t>
                </a:r>
                <a14:m>
                  <m:oMath xmlns:m="http://schemas.openxmlformats.org/officeDocument/2006/math"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បើ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និង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=86</m:t>
                    </m:r>
                  </m:oMath>
                </a14:m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។</a:t>
                </a:r>
                <a:endParaRPr lang="en-US" sz="1800" dirty="0"/>
              </a:p>
            </p:txBody>
          </p:sp>
        </mc:Choice>
        <mc:Fallback xmlns="">
          <p:sp>
            <p:nvSpPr>
              <p:cNvPr id="7" name="Shape 7"/>
              <p:cNvSpPr/>
              <p:nvPr/>
            </p:nvSpPr>
            <p:spPr>
              <a:xfrm>
                <a:off x="548640" y="3794760"/>
                <a:ext cx="5449824" cy="2148840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868680" tIns="137160" rIns="182880" bIns="91440" rtlCol="0" anchor="ctr">
                <a:noAutofit/>
              </a:bodyPr>
              <a:lstStyle/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ស្វ៊ីត </a:t>
                </a:r>
                <a:r>
                  <a:rPr lang="km-KH" sz="18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(aₙ)</a:t>
                </a: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កំណត់ដោយ </a:t>
                </a:r>
                <a:r>
                  <a:rPr lang="km-KH" sz="18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a₁=1 , aₙ₊₁=paₙ+q</a:t>
                </a:r>
                <a:endParaRPr lang="en-US" sz="1800" dirty="0"/>
              </a:p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គណនា </a:t>
                </a:r>
                <a:r>
                  <a:rPr lang="km-KH" sz="18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p</a:t>
                </a: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និង </a:t>
                </a:r>
                <a:r>
                  <a:rPr lang="km-KH" sz="18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q</a:t>
                </a: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បើ </a:t>
                </a:r>
                <a:r>
                  <a:rPr lang="km-KH" sz="18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a₃=6</a:t>
                </a: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និង </a:t>
                </a:r>
                <a:r>
                  <a:rPr lang="km-KH" sz="18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a₅=86</a:t>
                </a: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 ។</a:t>
                </a:r>
                <a:endParaRPr lang="en-US" sz="1800" dirty="0"/>
              </a:p>
            </p:txBody>
          </p:sp>
        </mc:Fallback>
      </mc:AlternateContent>
      <p:sp>
        <p:nvSpPr>
          <p:cNvPr id="8" name="Shape 8"/>
          <p:cNvSpPr/>
          <p:nvPr/>
        </p:nvSpPr>
        <p:spPr>
          <a:xfrm>
            <a:off x="749808" y="3995928"/>
            <a:ext cx="502920" cy="502920"/>
          </a:xfrm>
          <a:prstGeom prst="ellipse">
            <a:avLst/>
          </a:prstGeom>
          <a:solidFill>
            <a:srgbClr val="E0A100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800" b="1" dirty="0">
                <a:solidFill>
                  <a:srgbClr val="FFFFFF"/>
                </a:solidFill>
                <a:latin typeface="Kh Battambang"/>
                <a:cs typeface="Kh Battambang"/>
              </a:rPr>
              <a:t>៣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Shape 9"/>
              <p:cNvSpPr/>
              <p:nvPr/>
            </p:nvSpPr>
            <p:spPr>
              <a:xfrm>
                <a:off x="6190488" y="3794760"/>
                <a:ext cx="5449824" cy="2148840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868680" tIns="137160" rIns="182880" bIns="91440" rtlCol="0" anchor="ctr">
                <a:noAutofit/>
              </a:bodyPr>
              <a:lstStyle/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កំណត់តួទូទៅនៃស្វ៊ីត ៖</a:t>
                </a:r>
                <a:endParaRPr lang="en-US" sz="1800" dirty="0"/>
              </a:p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ក.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=1 , 3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=2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endParaRPr lang="en-US" sz="1800" dirty="0"/>
              </a:p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ខ.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=1 , 3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=3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endParaRPr lang="en-US" sz="1800" dirty="0"/>
              </a:p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គ.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=1 , 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800" i="1" dirty="0">
                            <a:solidFill>
                              <a:srgbClr val="1F293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800" i="1" dirty="0">
                        <a:solidFill>
                          <a:srgbClr val="1F2937"/>
                        </a:solidFill>
                        <a:latin typeface="Cambria Math" panose="02040503050406030204" pitchFamily="18" charset="0"/>
                      </a:rPr>
                      <m:t>+���</m:t>
                    </m:r>
                  </m:oMath>
                </a14:m>
                <a:endParaRPr lang="en-US" sz="1800" dirty="0"/>
              </a:p>
            </p:txBody>
          </p:sp>
        </mc:Choice>
        <mc:Fallback xmlns="">
          <p:sp>
            <p:nvSpPr>
              <p:cNvPr id="9" name="Shape 9"/>
              <p:cNvSpPr/>
              <p:nvPr/>
            </p:nvSpPr>
            <p:spPr>
              <a:xfrm>
                <a:off x="6190488" y="3794760"/>
                <a:ext cx="5449824" cy="2148840"/>
              </a:xfrm>
              <a:prstGeom prst="roundRect">
                <a:avLst>
                  <a:gd name="adj" fmla="val 9000"/>
                </a:avLst>
              </a:prstGeom>
              <a:solidFill>
                <a:srgbClr val="FFFFFF"/>
              </a:solidFill>
              <a:ln w="12700">
                <a:solidFill>
                  <a:srgbClr val="D5E1EA"/>
                </a:solidFill>
              </a:ln>
              <a:effectLst>
                <a:outerShdw blurRad="88900" dist="25400" dir="5400000" algn="t" rotWithShape="0">
                  <a:srgbClr val="0F2A3D">
                    <a:alpha val="20000"/>
                  </a:srgbClr>
                </a:outerShdw>
              </a:effectLst>
            </p:spPr>
            <p:txBody>
              <a:bodyPr wrap="square" lIns="868680" tIns="137160" rIns="182880" bIns="91440" rtlCol="0" anchor="ctr">
                <a:noAutofit/>
              </a:bodyPr>
              <a:lstStyle/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កំណត់តួទូទៅនៃស្វ៊ីត ៖</a:t>
                </a:r>
                <a:endParaRPr lang="en-US" sz="1800" dirty="0"/>
              </a:p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ក. </a:t>
                </a:r>
                <a:r>
                  <a:rPr lang="km-KH" sz="18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a₁=1 , 3aₙ₊₁=2aₙ+3</a:t>
                </a:r>
                <a:endParaRPr lang="en-US" sz="1800" dirty="0"/>
              </a:p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ខ. </a:t>
                </a:r>
                <a:r>
                  <a:rPr lang="km-KH" sz="18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a₁=1 , 3aₙ₊₁=3aₙ+4</a:t>
                </a:r>
                <a:endParaRPr lang="en-US" sz="1800" dirty="0"/>
              </a:p>
              <a:p>
                <a:pPr algn="l">
                  <a:lnSpc>
                    <a:spcPct val="12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m-KH" sz="1800" dirty="0">
                    <a:solidFill>
                      <a:srgbClr val="1F2937"/>
                    </a:solidFill>
                    <a:latin typeface="Kh Battambang"/>
                    <a:cs typeface="Kh Battambang"/>
                  </a:rPr>
                  <a:t>គ. </a:t>
                </a:r>
                <a:r>
                  <a:rPr lang="km-KH" sz="1800" i="1" dirty="0">
                    <a:solidFill>
                      <a:srgbClr val="1F2937"/>
                    </a:solidFill>
                    <a:latin typeface="Cambria Math"/>
                    <a:cs typeface="Cambria Math"/>
                  </a:rPr>
                  <a:t>a₁=1 , aₙ₊₁=aₙ+n</a:t>
                </a:r>
                <a:endParaRPr lang="en-US" sz="1800" dirty="0"/>
              </a:p>
            </p:txBody>
          </p:sp>
        </mc:Fallback>
      </mc:AlternateContent>
      <p:sp>
        <p:nvSpPr>
          <p:cNvPr id="10" name="Shape 10"/>
          <p:cNvSpPr/>
          <p:nvPr/>
        </p:nvSpPr>
        <p:spPr>
          <a:xfrm>
            <a:off x="6391656" y="3995928"/>
            <a:ext cx="502920" cy="502920"/>
          </a:xfrm>
          <a:prstGeom prst="ellipse">
            <a:avLst/>
          </a:prstGeom>
          <a:solidFill>
            <a:srgbClr val="2E7D4F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800" b="1" dirty="0">
                <a:solidFill>
                  <a:srgbClr val="FFFFFF"/>
                </a:solidFill>
                <a:latin typeface="Kh Battambang"/>
                <a:cs typeface="Kh Battambang"/>
              </a:rPr>
              <a:t>៤</a:t>
            </a:r>
            <a:endParaRPr lang="en-US" sz="1800" dirty="0"/>
          </a:p>
        </p:txBody>
      </p:sp>
      <p:sp>
        <p:nvSpPr>
          <p:cNvPr id="11" name="Shape 11"/>
          <p:cNvSpPr txBox="1"/>
          <p:nvPr/>
        </p:nvSpPr>
        <p:spPr>
          <a:xfrm>
            <a:off x="548640" y="6172200"/>
            <a:ext cx="11091672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600" dirty="0">
                <a:solidFill>
                  <a:srgbClr val="5B6B7A"/>
                </a:solidFill>
                <a:latin typeface="Kh Battambang"/>
                <a:cs typeface="Kh Battambang"/>
              </a:rPr>
              <a:t>📖 លំហាត់ ៥ ដល់ ៩ សូមមើលក្នុងសៀវភៅសិក្សា ទំព័រ ៤៣</a:t>
            </a:r>
            <a:endParaRPr lang="en-US" sz="16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6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2509114" cy="6858000"/>
          </a:xfrm>
          <a:prstGeom prst="rect">
            <a:avLst/>
          </a:prstGeom>
          <a:solidFill>
            <a:srgbClr val="0F5174"/>
          </a:solidFill>
          <a:ln>
            <a:noFill/>
          </a:ln>
        </p:spPr>
        <p:txBody>
          <a:bodyPr wrap="square" lIns="109728" tIns="54864" rIns="109728" bIns="54864" rtlCol="0" anchor="t">
            <a:noAutofit/>
          </a:bodyPr>
          <a:lstStyle/>
          <a:p>
            <a:endParaRPr lang="en-US"/>
          </a:p>
        </p:txBody>
      </p:sp>
      <p:pic>
        <p:nvPicPr>
          <p:cNvPr id="3" name="Picture 3" descr="E-School Cambodi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74" y="1057046"/>
            <a:ext cx="2003450" cy="200345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biLevel thresh="25000"/>
          </a:blip>
          <a:stretch>
            <a:fillRect/>
          </a:stretch>
        </p:blipFill>
        <p:spPr>
          <a:xfrm>
            <a:off x="349301" y="4570171"/>
            <a:ext cx="1810512" cy="168250"/>
          </a:xfrm>
          <a:prstGeom prst="rect">
            <a:avLst/>
          </a:prstGeom>
        </p:spPr>
      </p:pic>
      <p:sp>
        <p:nvSpPr>
          <p:cNvPr id="5" name="Shape 5"/>
          <p:cNvSpPr txBox="1"/>
          <p:nvPr/>
        </p:nvSpPr>
        <p:spPr>
          <a:xfrm>
            <a:off x="3108960" y="1280160"/>
            <a:ext cx="8595360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5400" dirty="0">
                <a:solidFill>
                  <a:srgbClr val="C0272D"/>
                </a:solidFill>
                <a:latin typeface="Kh Muol"/>
                <a:cs typeface="Kh Muol"/>
              </a:rPr>
              <a:t>សូមអរគុណ!</a:t>
            </a:r>
            <a:endParaRPr lang="en-US" sz="5400" dirty="0"/>
          </a:p>
        </p:txBody>
      </p:sp>
      <p:sp>
        <p:nvSpPr>
          <p:cNvPr id="6" name="Shape 6"/>
          <p:cNvSpPr txBox="1"/>
          <p:nvPr/>
        </p:nvSpPr>
        <p:spPr>
          <a:xfrm>
            <a:off x="3108960" y="2651760"/>
            <a:ext cx="85953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900" dirty="0">
                <a:solidFill>
                  <a:srgbClr val="0F5174"/>
                </a:solidFill>
                <a:latin typeface="Kh Battambang"/>
                <a:cs typeface="Kh Battambang"/>
              </a:rPr>
              <a:t>ជំពូក១ ៖ ស្វ៊ីតនិងអនុមានរួមគណិតវិទ្យា  •  មេរៀនទី៥ ៖ ទំនាក់ទំនងតួនៃស្វ៊ីត</a:t>
            </a:r>
            <a:endParaRPr lang="en-US" sz="1900" dirty="0"/>
          </a:p>
        </p:txBody>
      </p:sp>
      <p:sp>
        <p:nvSpPr>
          <p:cNvPr id="7" name="Shape 7"/>
          <p:cNvSpPr/>
          <p:nvPr/>
        </p:nvSpPr>
        <p:spPr>
          <a:xfrm>
            <a:off x="4206240" y="3657600"/>
            <a:ext cx="6400800" cy="1371600"/>
          </a:xfrm>
          <a:prstGeom prst="roundRect">
            <a:avLst>
              <a:gd name="adj" fmla="val 9000"/>
            </a:avLst>
          </a:prstGeom>
          <a:solidFill>
            <a:srgbClr val="EAF2F8"/>
          </a:solidFill>
          <a:ln w="12700">
            <a:solidFill>
              <a:srgbClr val="A9C7DE"/>
            </a:solidFill>
          </a:ln>
          <a:effectLst>
            <a:outerShdw blurRad="88900" dist="25400" dir="5400000" algn="t" rotWithShape="0">
              <a:srgbClr val="0F2A3D">
                <a:alpha val="20000"/>
              </a:srgbClr>
            </a:outerShdw>
          </a:effectLst>
        </p:spPr>
        <p:txBody>
          <a:bodyPr wrap="square" lIns="1188720" tIns="182880" rIns="182880" bIns="137160" rtlCol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2000" b="1" dirty="0">
                <a:solidFill>
                  <a:srgbClr val="0F5174"/>
                </a:solidFill>
                <a:latin typeface="Kh Battambang"/>
                <a:cs typeface="Kh Battambang"/>
              </a:rPr>
              <a:t>កិច្ចការផ្ទះ</a:t>
            </a:r>
            <a:endParaRPr lang="en-US" sz="2000" dirty="0"/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m-KH" sz="1900" dirty="0">
                <a:solidFill>
                  <a:srgbClr val="1F2937"/>
                </a:solidFill>
                <a:latin typeface="Kh Battambang"/>
                <a:cs typeface="Kh Battambang"/>
              </a:rPr>
              <a:t>ធ្វើលំហាត់ ១ ដល់ ៩ ទំព័រ ៤២–៤៣</a:t>
            </a:r>
            <a:endParaRPr lang="en-US" sz="1900" dirty="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4023360"/>
            <a:ext cx="640080" cy="640080"/>
          </a:xfrm>
          <a:prstGeom prst="rect">
            <a:avLst/>
          </a:prstGeom>
        </p:spPr>
      </p:pic>
    </p:spTree>
  </p:cSld>
  <p:clrMapOvr>
    <a:masterClrMapping/>
  </p:clrMapOvr>
  <p:transition spd="slow">
    <p:split orient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839</TotalTime>
  <Words>2582</Words>
  <Application>Microsoft Office PowerPoint</Application>
  <PresentationFormat>Widescreen</PresentationFormat>
  <Paragraphs>319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8" baseType="lpstr">
      <vt:lpstr>!Khmer OS Siemreap</vt:lpstr>
      <vt:lpstr>AKbalthom KhmerBasic</vt:lpstr>
      <vt:lpstr>Arial</vt:lpstr>
      <vt:lpstr>Calibri</vt:lpstr>
      <vt:lpstr>Calibri Light</vt:lpstr>
      <vt:lpstr>Cambria Math</vt:lpstr>
      <vt:lpstr>Kh Ang Moul 1</vt:lpstr>
      <vt:lpstr>Kh Battambang</vt:lpstr>
      <vt:lpstr>Kh Muol</vt:lpstr>
      <vt:lpstr>Wingdings</vt:lpstr>
      <vt:lpstr>Office Theme</vt:lpstr>
      <vt:lpstr>Custom Design</vt:lpstr>
      <vt:lpstr>PowerPoint Presentation</vt:lpstr>
      <vt:lpstr>PowerPoint Presentation</vt:lpstr>
      <vt:lpstr>វត្ថុបំណងនៃមេរៀន</vt:lpstr>
      <vt:lpstr>រំលឹកស្វ៊ីតនព្វន្ត និងធរណីមាត្រ</vt:lpstr>
      <vt:lpstr>PowerPoint Presentation</vt:lpstr>
      <vt:lpstr>១. កំណត់តួទី n ដោយប្រើស្វ៊ីតជំនួយ</vt:lpstr>
      <vt:lpstr>១. កំណត់តួទី n ដោយប្រើស្វ៊ីតជំនួយ</vt:lpstr>
      <vt:lpstr>PowerPoint Presentation</vt:lpstr>
      <vt:lpstr>១. កំណត់តួទី n ដោយប្រើស្វ៊ីតជំនួយ</vt:lpstr>
      <vt:lpstr>១. កំណត់តួទី n ដោយប្រើស្វ៊ីតជំនួយ</vt:lpstr>
      <vt:lpstr>គន្លឹះរហ័សសម្រាប់ទម្រង់ពិសេស</vt:lpstr>
      <vt:lpstr>១. កំណត់តួទី n ដោយប្រើស្វ៊ីតជំនួយ</vt:lpstr>
      <vt:lpstr>១. កំណត់តួទី n ដោយប្រើស្វ៊ីតជំនួយ</vt:lpstr>
      <vt:lpstr>១. កំណត់តួទី n ដោយប្រើស្វ៊ីតជំនួយ</vt:lpstr>
      <vt:lpstr>PowerPoint Presentation</vt:lpstr>
      <vt:lpstr>២. ទំនាក់ទំនងរវាងតួ និងផលបូក</vt:lpstr>
      <vt:lpstr>២. ទំនាក់ទំនងរវាងតួ និងផលបូក</vt:lpstr>
      <vt:lpstr>២. ទំនាក់ទំនងរវាងតួ និងផលបូក</vt:lpstr>
      <vt:lpstr>PowerPoint Presentation</vt:lpstr>
      <vt:lpstr>៣. ទំនាក់ទំនងកំណើនបីតួជាប់គ្នា</vt:lpstr>
      <vt:lpstr>៣. ទំនាក់ទំនងកំណើនបីតួជាប់គ្នា</vt:lpstr>
      <vt:lpstr>៣. ទំនាក់ទំនងកំណើនបីតួជាប់គ្នា</vt:lpstr>
      <vt:lpstr>៣. ទំនាក់ទំនងកំណើនបីតួជាប់គ្នា</vt:lpstr>
      <vt:lpstr>សេចក្តីសង្ខេប និងគន្លឹះសំខាន់ៗ</vt:lpstr>
      <vt:lpstr>លំហាត់អនុវត្តន៍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TOLA PAN</cp:lastModifiedBy>
  <cp:revision>86</cp:revision>
  <dcterms:created xsi:type="dcterms:W3CDTF">2024-10-22T17:25:06Z</dcterms:created>
  <dcterms:modified xsi:type="dcterms:W3CDTF">2026-10-30T01:35:13Z</dcterms:modified>
</cp:coreProperties>
</file>